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d82c23e8-e76a-5411-0db4-59b40869fb1b}">
          <p14:sldIdLst>
            <p14:sldId id="256"/>
            <p14:sldId id="257"/>
          </p14:sldIdLst>
        </p14:section>
        <p14:section name="Ereignisse" id="{1febd897-ce55-f97b-4e5d-3ed364575887}">
          <p14:sldIdLst>
            <p14:sldId id="258"/>
            <p14:sldId id="259"/>
            <p14:sldId id="260"/>
            <p14:sldId id="261"/>
            <p14:sldId id="262"/>
          </p14:sldIdLst>
        </p14:section>
        <p14:section name="Bilanz" id="{55a5b686-fdcd-8dd8-9fb9-bc573b6350b0}">
          <p14:sldIdLst>
            <p14:sldId id="263"/>
          </p14:sldIdLst>
        </p14:section>
        <p14:section name="Anhang" id="{1ccace4d-503b-b46c-f667-e499f5236c14}">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6"/>
          <c:y val="0.07"/>
          <c:w val="0.84"/>
          <c:h val="0.8"/>
        </c:manualLayout>
      </c:layout>
      <c:lineChart>
        <c:varyColors val="0"/>
        <c:ser>
          <c:idx val="0"/>
          <c:order val="0"/>
          <c:tx>
            <c:strRef>
              <c:f>Sheet1!$B$1</c:f>
              <c:strCache>
                <c:ptCount val="1"/>
                <c:pt idx="0">
                  <c:v>Arbeitslosenquote (%)</c:v>
                </c:pt>
              </c:strCache>
            </c:strRef>
          </c:tx>
          <c:spPr>
            <a:solidFill>
              <a:srgbClr val="0B1E3B"/>
            </a:solidFill>
            <a:ln w="25400" cap="flat">
              <a:solidFill>
                <a:srgbClr val="0B1E3B"/>
              </a:solidFill>
              <a:prstDash val="solid"/>
              <a:round/>
            </a:ln>
            <a:effectLst/>
          </c:spPr>
          <c:marker>
            <c:symbol val="none"/>
          </c:marker>
          <c:dPt>
            <c:idx val="37"/>
            <c:marker>
              <c:symbol val="circle"/>
              <c:size val="8"/>
              <c:spPr>
                <a:solidFill>
                  <a:srgbClr val="0B1E3B"/>
                </a:solidFill>
                <a:ln w="19050">
                  <a:solidFill>
                    <a:srgbClr val="FFFFFF"/>
                  </a:solidFill>
                </a:ln>
              </c:spPr>
            </c:marker>
            <c:bubble3D val="0"/>
          </c:dPt>
          <c:dPt>
            <c:idx val="39"/>
            <c:marker>
              <c:symbol val="circle"/>
              <c:size val="8"/>
              <c:spPr>
                <a:solidFill>
                  <a:srgbClr val="E81B23"/>
                </a:solidFill>
                <a:ln w="19050">
                  <a:solidFill>
                    <a:srgbClr val="FFFFFF"/>
                  </a:solidFill>
                </a:ln>
              </c:spPr>
            </c:marker>
            <c:bubble3D val="0"/>
          </c:dPt>
          <c:dPt>
            <c:idx val="47"/>
            <c:marker>
              <c:symbol val="circle"/>
              <c:size val="8"/>
              <c:spPr>
                <a:solidFill>
                  <a:srgbClr val="0B1E3B"/>
                </a:solidFill>
                <a:ln w="19050">
                  <a:solidFill>
                    <a:srgbClr val="FFFFFF"/>
                  </a:solidFill>
                </a:ln>
              </c:spPr>
            </c:marker>
            <c:bubble3D val="0"/>
          </c:dPt>
          <c:dLbls>
            <c:dLbl>
              <c:idx val="37"/>
              <c:layout/>
              <c:tx>
                <c:rich>
                  <a:bodyPr wrap="none"/>
                  <a:lstStyle/>
                  <a:p>
                    <a:pPr>
                      <a:defRPr sz="1100" b="1"/>
                    </a:pPr>
                    <a:r>
                      <a:rPr lang="de-DE" sz="1100" b="1">
                        <a:solidFill>
                          <a:srgbClr val="0B1E3B"/>
                        </a:solidFill>
                        <a:latin typeface="Arial"/>
                      </a:rPr>
                      <a:t>3,5 % · 50-Jahres-Tief</a:t>
                    </a:r>
                  </a:p>
                </c:rich>
              </c:tx>
              <c:spPr>
                <a:noFill/>
                <a:ln>
                  <a:noFill/>
                </a:ln>
              </c:spPr>
              <c:dLblPos val="b"/>
              <c:showLegendKey val="0"/>
              <c:showVal val="1"/>
              <c:showCatName val="0"/>
              <c:showSerName val="0"/>
              <c:showPercent val="0"/>
              <c:showBubbleSize val="0"/>
            </c:dLbl>
            <c:dLbl>
              <c:idx val="39"/>
              <c:layout/>
              <c:tx>
                <c:rich>
                  <a:bodyPr wrap="none"/>
                  <a:lstStyle/>
                  <a:p>
                    <a:pPr>
                      <a:defRPr sz="1100" b="1"/>
                    </a:pPr>
                    <a:r>
                      <a:rPr lang="de-DE" sz="1100" b="1">
                        <a:solidFill>
                          <a:srgbClr val="0B1E3B"/>
                        </a:solidFill>
                        <a:latin typeface="Arial"/>
                      </a:rPr>
                      <a:t>14,8 % · höchster Wert seit 1948</a:t>
                    </a:r>
                  </a:p>
                </c:rich>
              </c:tx>
              <c:spPr>
                <a:noFill/>
                <a:ln>
                  <a:noFill/>
                </a:ln>
              </c:spPr>
              <c:dLblPos val="l"/>
              <c:showLegendKey val="0"/>
              <c:showVal val="1"/>
              <c:showCatName val="0"/>
              <c:showSerName val="0"/>
              <c:showPercent val="0"/>
              <c:showBubbleSize val="0"/>
            </c:dLbl>
            <c:dLbl>
              <c:idx val="47"/>
              <c:layout/>
              <c:tx>
                <c:rich>
                  <a:bodyPr wrap="none"/>
                  <a:lstStyle/>
                  <a:p>
                    <a:pPr>
                      <a:defRPr sz="1100" b="0"/>
                    </a:pPr>
                    <a:r>
                      <a:rPr lang="de-DE" sz="1100" b="0">
                        <a:solidFill>
                          <a:srgbClr val="0B1E3B"/>
                        </a:solidFill>
                        <a:latin typeface="Arial"/>
                      </a:rPr>
                      <a:t>6,7 %</a:t>
                    </a:r>
                  </a:p>
                </c:rich>
              </c:tx>
              <c:spPr>
                <a:noFill/>
                <a:ln>
                  <a:noFill/>
                </a:ln>
              </c:spPr>
              <c:dLblPos val="r"/>
              <c:showLegendKey val="0"/>
              <c:showVal val="1"/>
              <c:showCatName val="0"/>
              <c:showSerName val="0"/>
              <c:showPercent val="0"/>
              <c:showBubbleSize val="0"/>
            </c:dLbl>
            <c:spPr>
              <a:noFill/>
              <a:ln>
                <a:noFill/>
              </a:ln>
            </c:spPr>
            <c:showLegendKey val="0"/>
            <c:showVal val="0"/>
            <c:showCatName val="0"/>
            <c:showSerName val="0"/>
            <c:showPercent val="0"/>
            <c:showBubbleSize val="0"/>
          </c:dLbls>
          <c:cat>
            <c:multiLvlStrRef>
              <c:f>Sheet1!$A$2:$A$49</c:f>
              <c:multiLvlStrCache>
                <c:ptCount val="48"/>
                <c:lvl>
                  <c:pt idx="0">
                    <c:v>2017</c:v>
                  </c:pt>
                  <c:pt idx="1">
                    <c:v/>
                  </c:pt>
                  <c:pt idx="2">
                    <c:v/>
                  </c:pt>
                  <c:pt idx="3">
                    <c:v/>
                  </c:pt>
                  <c:pt idx="4">
                    <c:v/>
                  </c:pt>
                  <c:pt idx="5">
                    <c:v/>
                  </c:pt>
                  <c:pt idx="6">
                    <c:v/>
                  </c:pt>
                  <c:pt idx="7">
                    <c:v/>
                  </c:pt>
                  <c:pt idx="8">
                    <c:v/>
                  </c:pt>
                  <c:pt idx="9">
                    <c:v/>
                  </c:pt>
                  <c:pt idx="10">
                    <c:v/>
                  </c:pt>
                  <c:pt idx="11">
                    <c:v/>
                  </c:pt>
                  <c:pt idx="12">
                    <c:v>2018</c:v>
                  </c:pt>
                  <c:pt idx="13">
                    <c:v/>
                  </c:pt>
                  <c:pt idx="14">
                    <c:v/>
                  </c:pt>
                  <c:pt idx="15">
                    <c:v/>
                  </c:pt>
                  <c:pt idx="16">
                    <c:v/>
                  </c:pt>
                  <c:pt idx="17">
                    <c:v/>
                  </c:pt>
                  <c:pt idx="18">
                    <c:v/>
                  </c:pt>
                  <c:pt idx="19">
                    <c:v/>
                  </c:pt>
                  <c:pt idx="20">
                    <c:v/>
                  </c:pt>
                  <c:pt idx="21">
                    <c:v/>
                  </c:pt>
                  <c:pt idx="22">
                    <c:v/>
                  </c:pt>
                  <c:pt idx="23">
                    <c:v/>
                  </c:pt>
                  <c:pt idx="24">
                    <c:v>2019</c:v>
                  </c:pt>
                  <c:pt idx="25">
                    <c:v/>
                  </c:pt>
                  <c:pt idx="26">
                    <c:v/>
                  </c:pt>
                  <c:pt idx="27">
                    <c:v/>
                  </c:pt>
                  <c:pt idx="28">
                    <c:v/>
                  </c:pt>
                  <c:pt idx="29">
                    <c:v/>
                  </c:pt>
                  <c:pt idx="30">
                    <c:v/>
                  </c:pt>
                  <c:pt idx="31">
                    <c:v/>
                  </c:pt>
                  <c:pt idx="32">
                    <c:v/>
                  </c:pt>
                  <c:pt idx="33">
                    <c:v/>
                  </c:pt>
                  <c:pt idx="34">
                    <c:v/>
                  </c:pt>
                  <c:pt idx="35">
                    <c:v/>
                  </c:pt>
                  <c:pt idx="36">
                    <c:v>2020</c:v>
                  </c:pt>
                  <c:pt idx="37">
                    <c:v/>
                  </c:pt>
                  <c:pt idx="38">
                    <c:v/>
                  </c:pt>
                  <c:pt idx="39">
                    <c:v/>
                  </c:pt>
                  <c:pt idx="40">
                    <c:v/>
                  </c:pt>
                  <c:pt idx="41">
                    <c:v/>
                  </c:pt>
                  <c:pt idx="42">
                    <c:v/>
                  </c:pt>
                  <c:pt idx="43">
                    <c:v/>
                  </c:pt>
                  <c:pt idx="44">
                    <c:v/>
                  </c:pt>
                  <c:pt idx="45">
                    <c:v/>
                  </c:pt>
                  <c:pt idx="46">
                    <c:v/>
                  </c:pt>
                  <c:pt idx="47">
                    <c:v/>
                  </c:pt>
                </c:lvl>
              </c:multiLvlStrCache>
            </c:multiLvlStrRef>
          </c:cat>
          <c:val>
            <c:numRef>
              <c:f>Sheet1!$B$2:$B$49</c:f>
              <c:numCache>
                <c:formatCode>General</c:formatCode>
                <c:ptCount val="48"/>
                <c:pt idx="0">
                  <c:v>4.7</c:v>
                </c:pt>
                <c:pt idx="1">
                  <c:v>4.6</c:v>
                </c:pt>
                <c:pt idx="2">
                  <c:v>4.4</c:v>
                </c:pt>
                <c:pt idx="3">
                  <c:v>4.4</c:v>
                </c:pt>
                <c:pt idx="4">
                  <c:v>4.4</c:v>
                </c:pt>
                <c:pt idx="5">
                  <c:v>4.3</c:v>
                </c:pt>
                <c:pt idx="6">
                  <c:v>4.3</c:v>
                </c:pt>
                <c:pt idx="7">
                  <c:v>4.4</c:v>
                </c:pt>
                <c:pt idx="8">
                  <c:v>4.3</c:v>
                </c:pt>
                <c:pt idx="9">
                  <c:v>4.2</c:v>
                </c:pt>
                <c:pt idx="10">
                  <c:v>4.2</c:v>
                </c:pt>
                <c:pt idx="11">
                  <c:v>4.1</c:v>
                </c:pt>
                <c:pt idx="12">
                  <c:v>4</c:v>
                </c:pt>
                <c:pt idx="13">
                  <c:v>4.1</c:v>
                </c:pt>
                <c:pt idx="14">
                  <c:v>4</c:v>
                </c:pt>
                <c:pt idx="15">
                  <c:v>4</c:v>
                </c:pt>
                <c:pt idx="16">
                  <c:v>3.8</c:v>
                </c:pt>
                <c:pt idx="17">
                  <c:v>4</c:v>
                </c:pt>
                <c:pt idx="18">
                  <c:v>3.8</c:v>
                </c:pt>
                <c:pt idx="19">
                  <c:v>3.8</c:v>
                </c:pt>
                <c:pt idx="20">
                  <c:v>3.7</c:v>
                </c:pt>
                <c:pt idx="21">
                  <c:v>3.8</c:v>
                </c:pt>
                <c:pt idx="22">
                  <c:v>3.8</c:v>
                </c:pt>
                <c:pt idx="23">
                  <c:v>3.9</c:v>
                </c:pt>
                <c:pt idx="24">
                  <c:v>4</c:v>
                </c:pt>
                <c:pt idx="25">
                  <c:v>3.8</c:v>
                </c:pt>
                <c:pt idx="26">
                  <c:v>3.8</c:v>
                </c:pt>
                <c:pt idx="27">
                  <c:v>3.7</c:v>
                </c:pt>
                <c:pt idx="28">
                  <c:v>3.6</c:v>
                </c:pt>
                <c:pt idx="29">
                  <c:v>3.6</c:v>
                </c:pt>
                <c:pt idx="30">
                  <c:v>3.7</c:v>
                </c:pt>
                <c:pt idx="31">
                  <c:v>3.6</c:v>
                </c:pt>
                <c:pt idx="32">
                  <c:v>3.5</c:v>
                </c:pt>
                <c:pt idx="33">
                  <c:v>3.6</c:v>
                </c:pt>
                <c:pt idx="34">
                  <c:v>3.6</c:v>
                </c:pt>
                <c:pt idx="35">
                  <c:v>3.6</c:v>
                </c:pt>
                <c:pt idx="36">
                  <c:v>3.5</c:v>
                </c:pt>
                <c:pt idx="37">
                  <c:v>3.5</c:v>
                </c:pt>
                <c:pt idx="38">
                  <c:v>4.4</c:v>
                </c:pt>
                <c:pt idx="39">
                  <c:v>14.8</c:v>
                </c:pt>
                <c:pt idx="40">
                  <c:v>13.2</c:v>
                </c:pt>
                <c:pt idx="41">
                  <c:v>11</c:v>
                </c:pt>
                <c:pt idx="42">
                  <c:v>10.2</c:v>
                </c:pt>
                <c:pt idx="43">
                  <c:v>8.4</c:v>
                </c:pt>
                <c:pt idx="44">
                  <c:v>7.8</c:v>
                </c:pt>
                <c:pt idx="45">
                  <c:v>6.8</c:v>
                </c:pt>
                <c:pt idx="46">
                  <c:v>6.7</c:v>
                </c:pt>
                <c:pt idx="47">
                  <c:v>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C3CBD8"/>
            </a:solidFill>
            <a:prstDash val="solid"/>
            <a:round/>
          </a:ln>
        </c:spPr>
        <c:txPr>
          <a:bodyPr/>
          <a:lstStyle/>
          <a:p>
            <a:pPr>
              <a:defRPr sz="1000" b="0" i="0" u="none" strike="noStrike">
                <a:solidFill>
                  <a:srgbClr val="6B7488"/>
                </a:solidFill>
                <a:latin typeface="+mn-lt"/>
              </a:defRPr>
            </a:pPr>
            <a:endParaRPr lang="en-US"/>
          </a:p>
        </c:txPr>
        <c:crossAx val="2094734552"/>
        <c:crosses val="autoZero"/>
        <c:auto val="1"/>
        <c:lblAlgn val="ctr"/>
        <c:noMultiLvlLbl val="1"/>
        <c:tickLblSkip val="12"/>
      </c:catAx>
      <c:valAx>
        <c:axId val="2094734552"/>
        <c:scaling>
          <c:orientation val="minMax"/>
          <c:max val="20"/>
          <c:min val="0"/>
        </c:scaling>
        <c:delete val="0"/>
        <c:axPos val="l"/>
        <c:majorGridlines>
          <c:spPr>
            <a:ln w="9525" cap="flat">
              <a:solidFill>
                <a:srgbClr val="E3E7EE"/>
              </a:solidFill>
              <a:prstDash val="solid"/>
              <a:round/>
            </a:ln>
          </c:spPr>
        </c:majorGridlines>
        <c:numFmt formatCode="0" sourceLinked="0"/>
        <c:majorTickMark val="none"/>
        <c:minorTickMark val="none"/>
        <c:tickLblPos val="nextTo"/>
        <c:spPr>
          <a:ln w="12700" cap="flat">
            <a:noFill/>
            <a:prstDash val="solid"/>
            <a:round/>
          </a:ln>
        </c:spPr>
        <c:txPr>
          <a:bodyPr/>
          <a:lstStyle/>
          <a:p>
            <a:pPr>
              <a:defRPr sz="1000" b="0" i="0" u="none" strike="noStrike">
                <a:solidFill>
                  <a:srgbClr val="6B7488"/>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Herzlich willkommen! Mein Thema ist die erste Amtszeit von Donald Trump – die vier Jahre von Januar 2017 bis Januar 2021, in denen er der 45. Präsident der USA war.
Ich stelle zuerst kurz die Person vor. Danach geht es um die Ereignisse, die diese vier Jahre am stärksten geprägt haben, und zum Schluss ziehe ich eine Bilanz.
Kleiner Tipp: Der Zeitstrahl unten auf jeder Folie zeigt immer, wo wir uns gerade in der Amtszeit befinden.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Donald Trump wurde am 14. Juni 1946 in New York geboren. Nach seinem Wirtschaftsstudium übernahm er 1971 die Immobilienfirma seines Vaters und machte daraus die Trump Organization – mit Hochhäusern wie dem Trump Tower, mit Hotels, Casinos und Golfplätzen. Dabei gab es auch Pleiten: Mehrere seiner Firmen, vor allem Casinos, mussten Insolvenz anmelden. Landesweit berühmt wurde er durchs Fernsehen: Von 2004 bis 2015 moderierte er die Show „The Apprentice“, sein Satz „You’re fired!“ wurde zum Markenzeichen.
2015 kündigte er seine Kandidatur an – für die Republikaner und mit dem Slogan „Make America Great Again“. In den Vorwahlen setzte er sich gegen 16 Konkurrenten durch, im November 2016 schlug er Hillary Clinton.
Rechts sehen wir das Ergebnis: 304 zu 227 Wahlleute. Entscheidend waren Pennsylvania, Michigan und Wisconsin – auf der Karte dunkel umrandet. Dort gewann Trump mit zusammen nur rund 78.000 Stimmen Vorsprung. Landesweit hatte Clinton sogar fast 2,9 Millionen Stimmen mehr – das ermöglicht das amerikanische Wahlleute-System.
Am 20. Januar 2017 wurde Trump vereidigt: als erster Präsident ohne vorheriges politisches Amt und ohne Militärdienst – und mit 70 Jahren als damals ältester Präsident bei Amtsantritt.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Beginnen wir mit der Wirtschaft. Trumps Kurs lässt sich in vier Worten zusammenfassen: Steuern runter, Zölle rauf.
Links: Im Dezember 2017 unterschrieb Trump den „Tax Cuts and Jobs Act“, die größte Steuerreform seit 1986. Kernstück: Die Steuer auf Unternehmensgewinne sank von 35 auf 21 Prozent. Auch Privatleute wurden entlastet, der Spitzensteuersatz fiel von 39,6 auf 37 Prozent. Befürworter sagten, so würden Firmen wieder mehr in den USA investieren und Jobs schaffen. Kritiker hielten dagegen, dass vor allem Unternehmen und Wohlhabende profitieren – und dass die Reform laut Schätzung des Kongresses in zehn Jahren rund 1,5 Billionen Dollar zusätzliche Schulden verursacht.
Rechts: Gleichzeitig brach Trump mit der Freihandelspolitik seiner Vorgänger. Ab 2018 verhängte er Strafzölle – auf Stahl und Aluminium, was übrigens auch die EU und Deutschland traf, und vor allem auf Waren aus China. Am Ende waren chinesische Importe im Wert von rund 370 Milliarden Dollar betroffen. Sein Ziel: das Handelsdefizit senken und China zu faireren Regeln zwingen. China schlug zurück, unter anderem mit Zöllen auf Sojabohnen. Das traf amerikanische Farmer so hart, dass die Regierung ihnen rund 28 Milliarden Dollar Hilfe zahlte. Im Januar 2020 folgte eine Art Waffenstillstand: Im „Phase One“-Abkommen versprach China, zusätzlich US-Waren für 200 Milliarden Dollar zu kaufen. Außerdem ersetzte Trump das Freihandelsabkommen NAFTA mit Kanada und Mexiko durch das neue USMCA.
Bis Anfang 2020 lief die Wirtschaft gut: Im Februar 2020 lag die Arbeitslosigkeit bei nur 3,5 Prozent, so niedrig wie seit 50 Jahren nicht. Wie schnell sich das änderte, sehen wir gleich bei Corona.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zu dem Bereich, der wohl am längsten nachwirkt: der Justiz. Der Supreme Court ist das oberste Gericht der USA. Seine neun Richter werden vom Präsidenten vorgeschlagen, vom Senat bestätigt – und bleiben dann auf Lebenszeit. Das Gericht entscheidet über die großen Streitfragen des Landes, etwa Abtreibung, Waffenrecht oder Wahlrecht.
Trump konnte in nur einer Amtszeit drei Sitze besetzen. Die Grafik zeigt, wie sich das Gericht verändert hat. Oben die Lage bei seinem Amtsantritt: Ein Sitz war frei, denn der konservative Richter Antonin Scalia war 2016 gestorben, und der republikanisch geführte Senat hatte sich geweigert, über Obamas Kandidaten auch nur abzustimmen. Diesen Sitz besetzte Trump 2017 mit Neil Gorsuch.
2018 ging Anthony Kennedy in den Ruhestand – ein Konservativer, der aber oft mit den Liberalen stimmte, also das Zünglein an der Waage. Sein Nachfolger Brett Kavanaugh wurde nach Vorwürfen sexueller Übergriffe, die er bestritt, mit 50 zu 48 Stimmen äußerst knapp bestätigt. Und im September 2020 starb die liberale Richterin Ruth Bader Ginsburg. Ihre Nachfolgerin Amy Coney Barrett wurde nur acht Tage vor der Präsidentschaftswahl bestätigt.
Das Ergebnis sehen wir unten: Aus einem knapp ausbalancierten Gericht wurde eine klare konservative Mehrheit von 6 zu 3. Da die drei Neuen bei ihrer Ernennung im Schnitt nur 50 Jahre alt waren, kann diese Mehrheit noch Jahrzehnte halten. Insgesamt ernannte Trump 234 Bundesrichter – alle auf Lebenszeit.
(Optionaler Ausblick: Wie groß dieser Einfluss ist, zeigte sich 2022, als dieses Gericht das landesweite Recht auf Abtreibung – das Urteil Roe v. Wade – aufhob.)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„America First“ – Amerika zuerst. Mit diesem Satz trat Trump sein Amt an, und er wurde zur Leitlinie seiner Politik – an der Grenze und in der Welt.
Obere Reihe, die Grenze: Migration war sein wichtigstes Wahlkampfthema. Eine Woche nach Amtsantritt verhängte er einen Einreisestopp für Bürger aus sieben überwiegend muslimischen Ländern. Gerichte stoppten die erste Fassung, eine überarbeitete Version bestätigte der Supreme Court 2018. Für die versprochene Mauer zu Mexiko verlangte Trump 5,7 Milliarden Dollar vom Kongress. Die Demokraten lehnten ab – es folgte der längste Regierungsstillstand der US-Geschichte: 35 Tage, rund 800.000 Staatsbedienstete ohne Lohn. Gebaut wurden bis 2021 rund 725 Kilometer Mauer, meist als Ersatz für alte Zäune. Am umstrittensten war 2018 die „Null-Toleranz“-Politik: Wer illegal einreiste, wurde angeklagt – und Kinder wurden von ihren Eltern getrennt. Nach landesweiten Protesten stoppte Trump die Praxis; laut einer späteren Regierungskommission waren mindestens rund 3.900 Kinder betroffen.
Untere Reihe, die Welt: Trump kündigte den Ausstieg aus dem Pariser Klimaabkommen an und verließ das Atomabkommen mit dem Iran. Von den NATO-Partnern – auch von Deutschland – forderte er immer wieder deutlich höhere Verteidigungsausgaben. Gleichzeitig suchte er ungewöhnliche Deals: 2018 traf er sich in Singapur als erster amtierender US-Präsident mit Nordkoreas Machthaber Kim Jong-un – eine echte atomare Abrüstung kam aber nie zustande. Im Nahen Osten verlegte er die US-Botschaft nach Jerusalem und vermittelte 2020 die Abraham-Abkommen: Israel nahm offizielle Beziehungen zu den Vereinigten Arabischen Emiraten und Bahrain auf, später erklärten sich auch Marokko und der Sudan dazu bereit. Diese Abkommen gelten selbst bei vielen Kritikern als Erfolg.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Dann kam 2020 – und mit Corona die größte Krise der Amtszeit. Die Grafik zeigt die Arbeitslosenquote: Drei Jahre lang sinkt sie, im Februar 2020 liegt sie bei 3,5 Prozent, dem niedrigsten Wert seit 50 Jahren. Dann kommt das Virus, und innerhalb von zwei Monaten springt die Quote auf 14,8 Prozent – der höchste Wert seit Beginn der Statistik 1948. Allein im April 2020 gingen über 20 Millionen Jobs verloren.
Die Regierung reagierte mit gewaltigen Summen: Ende März unterschrieb Trump den CARES Act, mit 2,2 Billionen Dollar das größte Hilfspaket der US-Geschichte. Die meisten Erwachsenen bekamen einen Scheck über 1.200 Dollar. Ein klarer Erfolg war die „Operation Warp Speed“: Die Regierung investierte Milliarden in die Entwicklung und Produktion von Impfstoffen. Schon am 11. Dezember 2020 wurde der erste Impfstoff zugelassen – weniger als ein Jahr nach Ausbruch der Pandemie. Er stammte übrigens vom Mainzer Unternehmen BioNTech und seinem Partner Pfizer.
Trumps Krisenmanagement wurde aber auch scharf kritisiert. Öffentlich spielte er die Gefahr lange herunter. Dem Journalisten Bob Woodward sagte er im März 2020 selbst: „I wanted to always play it down“ – „Ich wollte es immer herunterspielen“. Er begründete das damit, keine Panik auslösen zu wollen. Masken und Schutzmaßnahmen wurden zum politischen Streitthema, im Oktober erkrankte Trump selbst und kam ins Krankenhaus. Bis zum Ende seiner Amtszeit starben in den USA rund 400.000 Menschen an Corona.
[Hinweis: Für April 2020 meldete die Statistikbehörde zunächst 14,7 %, nach späterer Überarbeitung 14,8 %.]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zum dramatischen Ende der Amtszeit, das eigentlich schon Ende 2019 beginnt.
Im Dezember 2019 erhob das Repräsentantenhaus Anklage gegen Trump – ein sogenanntes Impeachment. Der Vorwurf: Er habe den ukrainischen Präsidenten Selenskyj gedrängt, gegen seinen Rivalen Joe Biden zu ermitteln, und dafür Militärhilfe von rund 390 Millionen Dollar zurückgehalten. Trump sprach von einem „perfekten Telefonat“. Der Senat mit republikanischer Mehrheit sprach ihn im Februar 2020 frei.
Im November 2020 verlor Trump die Wahl gegen Joe Biden – mit 232 zu 306 Wahlleuten und rund sieben Millionen Stimmen Rückstand. Er erkannte die Niederlage nicht an und sprach von Wahlbetrug. Über 60 Klagen von ihm und seinen Verbündeten scheiterten, auch vor Richtern, die er selbst ernannt hatte. Sogar sein Justizminister William Barr erklärte, man habe keinen Betrug gefunden, der das Ergebnis hätte ändern können.
Am 6. Januar 2021 sollte der Kongress Bidens Sieg offiziell bestätigen. Trump sprach vorher vor Tausenden Anhängern. Oben stehen zwei Sätze aus dieser Rede: Er rief dazu auf, „friedlich und patriotisch“ die Stimme zu erheben – sagte aber auch „We fight like hell“, also „Wir kämpfen mit aller Macht“. Danach drangen Anhänger gewaltsam ins Kapitol ein. Abgeordnete mussten fliehen, es gab Tote und rund 140 verletzte Polizisten. Noch in der Nacht bestätigte der Kongress das Ergebnis.
Eine Woche später wurde Trump als erster Präsident zum zweiten Mal angeklagt, wegen „Anstiftung zum Aufruhr“. Diesmal stimmten auch zehn Republikaner zu. Im Senat votierten 57 Senatoren für eine Verurteilung, darunter sieben Republikaner – nötig gewesen wären 67. Am 20. Januar 2021 endete die Amtszeit. Trump blieb der Amtseinführung seines Nachfolgers fern – das hatte es seit über 150 Jahren nicht gegeben.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bleibt also von diesen vier Jahren? Drei Punkte.
Erstens: Das langlebigste Erbe ist der Supreme Court. Mit drei Richtern auf Lebenszeit hat Trump die Rechtsprechung der USA für Jahrzehnte geprägt.
Zweitens: Kaum ein Präsident hat das Land so gespalten. Im Schnitt waren nur 41 Prozent der Amerikaner mit seiner Arbeit zufrieden – der niedrigste Durchschnitt, den das Gallup-Institut je gemessen hat. Trotzdem bekam er 2020 über 74 Millionen Stimmen, mehr als jeder amtierende Präsident vor ihm. Für seine Anhänger war er der Außenseiter, der endlich gegen das Establishment kämpft – für seine Gegner eine Gefahr für die Demokratie.
Drittens: Mit „America First“ hat Trump die Rolle der USA in der Welt verändert – weg von internationalen Abkommen, hin zu Zöllen und Deals.
Zum Schluss eine Frage an euch: Welche Entscheidung dieser vier Jahre wirkt eurer Meinung nach am längsten nach? Vielen Dank für eure Aufmerksamkeit!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ist ausgeblendet und erscheint nicht in der Bildschirmpräsentation. Sie dient als Quellennachweis.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_DUNKEL">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548640" y="6144768"/>
            <a:ext cx="10149840" cy="0"/>
          </a:xfrm>
          <a:prstGeom prst="line">
            <a:avLst/>
          </a:prstGeom>
          <a:noFill/>
          <a:ln w="12700">
            <a:solidFill>
              <a:srgbClr val="33496E"/>
            </a:solidFill>
            <a:prstDash val="solid"/>
          </a:ln>
        </p:spPr>
      </p:sp>
      <p:sp>
        <p:nvSpPr>
          <p:cNvPr id="3" name="Shape 1"/>
          <p:cNvSpPr/>
          <p:nvPr/>
        </p:nvSpPr>
        <p:spPr>
          <a:xfrm>
            <a:off x="548640" y="6080760"/>
            <a:ext cx="0" cy="128016"/>
          </a:xfrm>
          <a:prstGeom prst="line">
            <a:avLst/>
          </a:prstGeom>
          <a:noFill/>
          <a:ln w="12700">
            <a:solidFill>
              <a:srgbClr val="33496E"/>
            </a:solidFill>
            <a:prstDash val="solid"/>
          </a:ln>
        </p:spPr>
      </p:sp>
      <p:sp>
        <p:nvSpPr>
          <p:cNvPr id="4" name="Text 2"/>
          <p:cNvSpPr/>
          <p:nvPr/>
        </p:nvSpPr>
        <p:spPr>
          <a:xfrm>
            <a:off x="612648"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2017</a:t>
            </a:r>
            <a:endParaRPr lang="en-US" sz="1000" dirty="0"/>
          </a:p>
        </p:txBody>
      </p:sp>
      <p:sp>
        <p:nvSpPr>
          <p:cNvPr id="5" name="Shape 3"/>
          <p:cNvSpPr/>
          <p:nvPr/>
        </p:nvSpPr>
        <p:spPr>
          <a:xfrm>
            <a:off x="3031677" y="6080760"/>
            <a:ext cx="0" cy="128016"/>
          </a:xfrm>
          <a:prstGeom prst="line">
            <a:avLst/>
          </a:prstGeom>
          <a:noFill/>
          <a:ln w="12700">
            <a:solidFill>
              <a:srgbClr val="33496E"/>
            </a:solidFill>
            <a:prstDash val="solid"/>
          </a:ln>
        </p:spPr>
      </p:sp>
      <p:sp>
        <p:nvSpPr>
          <p:cNvPr id="6" name="Text 4"/>
          <p:cNvSpPr/>
          <p:nvPr/>
        </p:nvSpPr>
        <p:spPr>
          <a:xfrm>
            <a:off x="3095685"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2018</a:t>
            </a:r>
            <a:endParaRPr lang="en-US" sz="1000" dirty="0"/>
          </a:p>
        </p:txBody>
      </p:sp>
      <p:sp>
        <p:nvSpPr>
          <p:cNvPr id="7" name="Shape 5"/>
          <p:cNvSpPr/>
          <p:nvPr/>
        </p:nvSpPr>
        <p:spPr>
          <a:xfrm>
            <a:off x="5514715" y="6080760"/>
            <a:ext cx="0" cy="128016"/>
          </a:xfrm>
          <a:prstGeom prst="line">
            <a:avLst/>
          </a:prstGeom>
          <a:noFill/>
          <a:ln w="12700">
            <a:solidFill>
              <a:srgbClr val="33496E"/>
            </a:solidFill>
            <a:prstDash val="solid"/>
          </a:ln>
        </p:spPr>
      </p:sp>
      <p:sp>
        <p:nvSpPr>
          <p:cNvPr id="8" name="Text 6"/>
          <p:cNvSpPr/>
          <p:nvPr/>
        </p:nvSpPr>
        <p:spPr>
          <a:xfrm>
            <a:off x="5578723"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2019</a:t>
            </a:r>
            <a:endParaRPr lang="en-US" sz="1000" dirty="0"/>
          </a:p>
        </p:txBody>
      </p:sp>
      <p:sp>
        <p:nvSpPr>
          <p:cNvPr id="9" name="Shape 7"/>
          <p:cNvSpPr/>
          <p:nvPr/>
        </p:nvSpPr>
        <p:spPr>
          <a:xfrm>
            <a:off x="7997752" y="6080760"/>
            <a:ext cx="0" cy="128016"/>
          </a:xfrm>
          <a:prstGeom prst="line">
            <a:avLst/>
          </a:prstGeom>
          <a:noFill/>
          <a:ln w="12700">
            <a:solidFill>
              <a:srgbClr val="33496E"/>
            </a:solidFill>
            <a:prstDash val="solid"/>
          </a:ln>
        </p:spPr>
      </p:sp>
      <p:sp>
        <p:nvSpPr>
          <p:cNvPr id="10" name="Text 8"/>
          <p:cNvSpPr/>
          <p:nvPr/>
        </p:nvSpPr>
        <p:spPr>
          <a:xfrm>
            <a:off x="8061760"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2020</a:t>
            </a:r>
            <a:endParaRPr lang="en-US" sz="1000" dirty="0"/>
          </a:p>
        </p:txBody>
      </p:sp>
      <p:sp>
        <p:nvSpPr>
          <p:cNvPr id="11" name="Shape 9"/>
          <p:cNvSpPr/>
          <p:nvPr/>
        </p:nvSpPr>
        <p:spPr>
          <a:xfrm>
            <a:off x="10487592" y="6080760"/>
            <a:ext cx="0" cy="128016"/>
          </a:xfrm>
          <a:prstGeom prst="line">
            <a:avLst/>
          </a:prstGeom>
          <a:noFill/>
          <a:ln w="12700">
            <a:solidFill>
              <a:srgbClr val="33496E"/>
            </a:solidFill>
            <a:prstDash val="solid"/>
          </a:ln>
        </p:spPr>
      </p:sp>
      <p:sp>
        <p:nvSpPr>
          <p:cNvPr id="12" name="Text 10"/>
          <p:cNvSpPr/>
          <p:nvPr/>
        </p:nvSpPr>
        <p:spPr>
          <a:xfrm>
            <a:off x="10551600"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2021</a:t>
            </a:r>
            <a:endParaRPr lang="en-US" sz="1000" dirty="0"/>
          </a:p>
        </p:txBody>
      </p:sp>
      <p:sp>
        <p:nvSpPr>
          <p:cNvPr id="13" name="Text 11"/>
          <p:cNvSpPr/>
          <p:nvPr>
            <p:ph idx="111" type="body" hasCustomPrompt="1"/>
          </p:nvPr>
        </p:nvSpPr>
        <p:spPr>
          <a:xfrm>
            <a:off x="548640" y="1600200"/>
            <a:ext cx="6035040" cy="274320"/>
          </a:xfrm>
          <a:prstGeom prst="rect">
            <a:avLst/>
          </a:prstGeom>
          <a:noFill/>
          <a:ln/>
        </p:spPr>
        <p:txBody>
          <a:bodyPr wrap="square" rtlCol="0"/>
          <a:lstStyle>
            <a:lvl1pPr algn="l" indent="0" marL="0">
              <a:buNone/>
              <a:defRPr lang="en-US" sz="1300" b="1" spc="250" kern="0" dirty="0">
                <a:solidFill>
                  <a:schemeClr val="accent6"/>
                </a:solidFill>
                <a:latin typeface="Arial" pitchFamily="34" charset="0"/>
                <a:ea typeface="Arial" pitchFamily="34" charset="-122"/>
                <a:cs typeface="Arial" pitchFamily="34" charset="-120"/>
              </a:defRPr>
            </a:lvl1pPr>
          </a:lstStyle>
          <a:p>
            <a:pPr algn="l" indent="0" marL="0">
              <a:buNone/>
            </a:pPr>
            <a:endParaRPr lang="en-US" sz="1300" dirty="0"/>
          </a:p>
        </p:txBody>
      </p:sp>
      <p:sp>
        <p:nvSpPr>
          <p:cNvPr id="14" name="Text 11"/>
          <p:cNvSpPr/>
          <p:nvPr>
            <p:ph idx="112" type="title" hasCustomPrompt="1"/>
          </p:nvPr>
        </p:nvSpPr>
        <p:spPr>
          <a:xfrm>
            <a:off x="548640" y="2011680"/>
            <a:ext cx="6400800" cy="10515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15" name="Text 11"/>
          <p:cNvSpPr/>
          <p:nvPr>
            <p:ph idx="113" type="body" hasCustomPrompt="1"/>
          </p:nvPr>
        </p:nvSpPr>
        <p:spPr>
          <a:xfrm>
            <a:off x="548640" y="3154680"/>
            <a:ext cx="6217920" cy="548640"/>
          </a:xfrm>
          <a:prstGeom prst="rect">
            <a:avLst/>
          </a:prstGeom>
          <a:noFill/>
          <a:ln/>
        </p:spPr>
        <p:txBody>
          <a:bodyPr wrap="square" rtlCol="0"/>
          <a:lstStyle>
            <a:lvl1pPr algn="l" indent="0" marL="0">
              <a:buNone/>
              <a:defRPr lang="en-US" sz="3000" dirty="0">
                <a:solidFill>
                  <a:schemeClr val="accent3"/>
                </a:solidFill>
                <a:latin typeface="Cambria" pitchFamily="34" charset="0"/>
                <a:ea typeface="Cambria" pitchFamily="34" charset="-122"/>
                <a:cs typeface="Cambria" pitchFamily="34" charset="-120"/>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_HELL">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548640" y="6144768"/>
            <a:ext cx="10149840" cy="0"/>
          </a:xfrm>
          <a:prstGeom prst="line">
            <a:avLst/>
          </a:prstGeom>
          <a:noFill/>
          <a:ln w="12700">
            <a:solidFill>
              <a:srgbClr val="C3CBD8"/>
            </a:solidFill>
            <a:prstDash val="solid"/>
          </a:ln>
        </p:spPr>
      </p:sp>
      <p:sp>
        <p:nvSpPr>
          <p:cNvPr id="3" name="Shape 1"/>
          <p:cNvSpPr/>
          <p:nvPr/>
        </p:nvSpPr>
        <p:spPr>
          <a:xfrm>
            <a:off x="548640" y="6080760"/>
            <a:ext cx="0" cy="128016"/>
          </a:xfrm>
          <a:prstGeom prst="line">
            <a:avLst/>
          </a:prstGeom>
          <a:noFill/>
          <a:ln w="12700">
            <a:solidFill>
              <a:srgbClr val="C3CBD8"/>
            </a:solidFill>
            <a:prstDash val="solid"/>
          </a:ln>
        </p:spPr>
      </p:sp>
      <p:sp>
        <p:nvSpPr>
          <p:cNvPr id="4" name="Text 2"/>
          <p:cNvSpPr/>
          <p:nvPr/>
        </p:nvSpPr>
        <p:spPr>
          <a:xfrm>
            <a:off x="612648" y="6217920"/>
            <a:ext cx="548640" cy="182880"/>
          </a:xfrm>
          <a:prstGeom prst="rect">
            <a:avLst/>
          </a:prstGeom>
          <a:noFill/>
          <a:ln/>
        </p:spPr>
        <p:txBody>
          <a:bodyPr wrap="square" lIns="0" tIns="0" rIns="0" bIns="0" rtlCol="0" anchor="t"/>
          <a:lstStyle/>
          <a:p>
            <a:pPr indent="0" marL="0">
              <a:buNone/>
            </a:pPr>
            <a:r>
              <a:rPr lang="en-US" sz="1000" dirty="0">
                <a:solidFill>
                  <a:srgbClr val="6B7488"/>
                </a:solidFill>
              </a:rPr>
              <a:t>2017</a:t>
            </a:r>
            <a:endParaRPr lang="en-US" sz="1000" dirty="0"/>
          </a:p>
        </p:txBody>
      </p:sp>
      <p:sp>
        <p:nvSpPr>
          <p:cNvPr id="5" name="Shape 3"/>
          <p:cNvSpPr/>
          <p:nvPr/>
        </p:nvSpPr>
        <p:spPr>
          <a:xfrm>
            <a:off x="3031677" y="6080760"/>
            <a:ext cx="0" cy="128016"/>
          </a:xfrm>
          <a:prstGeom prst="line">
            <a:avLst/>
          </a:prstGeom>
          <a:noFill/>
          <a:ln w="12700">
            <a:solidFill>
              <a:srgbClr val="C3CBD8"/>
            </a:solidFill>
            <a:prstDash val="solid"/>
          </a:ln>
        </p:spPr>
      </p:sp>
      <p:sp>
        <p:nvSpPr>
          <p:cNvPr id="6" name="Text 4"/>
          <p:cNvSpPr/>
          <p:nvPr/>
        </p:nvSpPr>
        <p:spPr>
          <a:xfrm>
            <a:off x="3095685" y="6217920"/>
            <a:ext cx="548640" cy="182880"/>
          </a:xfrm>
          <a:prstGeom prst="rect">
            <a:avLst/>
          </a:prstGeom>
          <a:noFill/>
          <a:ln/>
        </p:spPr>
        <p:txBody>
          <a:bodyPr wrap="square" lIns="0" tIns="0" rIns="0" bIns="0" rtlCol="0" anchor="t"/>
          <a:lstStyle/>
          <a:p>
            <a:pPr indent="0" marL="0">
              <a:buNone/>
            </a:pPr>
            <a:r>
              <a:rPr lang="en-US" sz="1000" dirty="0">
                <a:solidFill>
                  <a:srgbClr val="6B7488"/>
                </a:solidFill>
              </a:rPr>
              <a:t>2018</a:t>
            </a:r>
            <a:endParaRPr lang="en-US" sz="1000" dirty="0"/>
          </a:p>
        </p:txBody>
      </p:sp>
      <p:sp>
        <p:nvSpPr>
          <p:cNvPr id="7" name="Shape 5"/>
          <p:cNvSpPr/>
          <p:nvPr/>
        </p:nvSpPr>
        <p:spPr>
          <a:xfrm>
            <a:off x="5514715" y="6080760"/>
            <a:ext cx="0" cy="128016"/>
          </a:xfrm>
          <a:prstGeom prst="line">
            <a:avLst/>
          </a:prstGeom>
          <a:noFill/>
          <a:ln w="12700">
            <a:solidFill>
              <a:srgbClr val="C3CBD8"/>
            </a:solidFill>
            <a:prstDash val="solid"/>
          </a:ln>
        </p:spPr>
      </p:sp>
      <p:sp>
        <p:nvSpPr>
          <p:cNvPr id="8" name="Text 6"/>
          <p:cNvSpPr/>
          <p:nvPr/>
        </p:nvSpPr>
        <p:spPr>
          <a:xfrm>
            <a:off x="5578723" y="6217920"/>
            <a:ext cx="548640" cy="182880"/>
          </a:xfrm>
          <a:prstGeom prst="rect">
            <a:avLst/>
          </a:prstGeom>
          <a:noFill/>
          <a:ln/>
        </p:spPr>
        <p:txBody>
          <a:bodyPr wrap="square" lIns="0" tIns="0" rIns="0" bIns="0" rtlCol="0" anchor="t"/>
          <a:lstStyle/>
          <a:p>
            <a:pPr indent="0" marL="0">
              <a:buNone/>
            </a:pPr>
            <a:r>
              <a:rPr lang="en-US" sz="1000" dirty="0">
                <a:solidFill>
                  <a:srgbClr val="6B7488"/>
                </a:solidFill>
              </a:rPr>
              <a:t>2019</a:t>
            </a:r>
            <a:endParaRPr lang="en-US" sz="1000" dirty="0"/>
          </a:p>
        </p:txBody>
      </p:sp>
      <p:sp>
        <p:nvSpPr>
          <p:cNvPr id="9" name="Shape 7"/>
          <p:cNvSpPr/>
          <p:nvPr/>
        </p:nvSpPr>
        <p:spPr>
          <a:xfrm>
            <a:off x="7997752" y="6080760"/>
            <a:ext cx="0" cy="128016"/>
          </a:xfrm>
          <a:prstGeom prst="line">
            <a:avLst/>
          </a:prstGeom>
          <a:noFill/>
          <a:ln w="12700">
            <a:solidFill>
              <a:srgbClr val="C3CBD8"/>
            </a:solidFill>
            <a:prstDash val="solid"/>
          </a:ln>
        </p:spPr>
      </p:sp>
      <p:sp>
        <p:nvSpPr>
          <p:cNvPr id="10" name="Text 8"/>
          <p:cNvSpPr/>
          <p:nvPr/>
        </p:nvSpPr>
        <p:spPr>
          <a:xfrm>
            <a:off x="8061760" y="6217920"/>
            <a:ext cx="548640" cy="182880"/>
          </a:xfrm>
          <a:prstGeom prst="rect">
            <a:avLst/>
          </a:prstGeom>
          <a:noFill/>
          <a:ln/>
        </p:spPr>
        <p:txBody>
          <a:bodyPr wrap="square" lIns="0" tIns="0" rIns="0" bIns="0" rtlCol="0" anchor="t"/>
          <a:lstStyle/>
          <a:p>
            <a:pPr indent="0" marL="0">
              <a:buNone/>
            </a:pPr>
            <a:r>
              <a:rPr lang="en-US" sz="1000" dirty="0">
                <a:solidFill>
                  <a:srgbClr val="6B7488"/>
                </a:solidFill>
              </a:rPr>
              <a:t>2020</a:t>
            </a:r>
            <a:endParaRPr lang="en-US" sz="1000" dirty="0"/>
          </a:p>
        </p:txBody>
      </p:sp>
      <p:sp>
        <p:nvSpPr>
          <p:cNvPr id="11" name="Shape 9"/>
          <p:cNvSpPr/>
          <p:nvPr/>
        </p:nvSpPr>
        <p:spPr>
          <a:xfrm>
            <a:off x="10487592" y="6080760"/>
            <a:ext cx="0" cy="128016"/>
          </a:xfrm>
          <a:prstGeom prst="line">
            <a:avLst/>
          </a:prstGeom>
          <a:noFill/>
          <a:ln w="12700">
            <a:solidFill>
              <a:srgbClr val="C3CBD8"/>
            </a:solidFill>
            <a:prstDash val="solid"/>
          </a:ln>
        </p:spPr>
      </p:sp>
      <p:sp>
        <p:nvSpPr>
          <p:cNvPr id="12" name="Text 10"/>
          <p:cNvSpPr/>
          <p:nvPr/>
        </p:nvSpPr>
        <p:spPr>
          <a:xfrm>
            <a:off x="10551600" y="6217920"/>
            <a:ext cx="548640" cy="182880"/>
          </a:xfrm>
          <a:prstGeom prst="rect">
            <a:avLst/>
          </a:prstGeom>
          <a:noFill/>
          <a:ln/>
        </p:spPr>
        <p:txBody>
          <a:bodyPr wrap="square" lIns="0" tIns="0" rIns="0" bIns="0" rtlCol="0" anchor="t"/>
          <a:lstStyle/>
          <a:p>
            <a:pPr indent="0" marL="0">
              <a:buNone/>
            </a:pPr>
            <a:r>
              <a:rPr lang="en-US" sz="1000" dirty="0">
                <a:solidFill>
                  <a:srgbClr val="6B7488"/>
                </a:solidFill>
              </a:rPr>
              <a:t>2021</a:t>
            </a:r>
            <a:endParaRPr lang="en-US" sz="1000" dirty="0"/>
          </a:p>
        </p:txBody>
      </p:sp>
      <p:sp>
        <p:nvSpPr>
          <p:cNvPr id="13" name="Text 11"/>
          <p:cNvSpPr/>
          <p:nvPr>
            <p:ph idx="111" type="body" hasCustomPrompt="1"/>
          </p:nvPr>
        </p:nvSpPr>
        <p:spPr>
          <a:xfrm>
            <a:off x="548640" y="457200"/>
            <a:ext cx="9144000" cy="274320"/>
          </a:xfrm>
          <a:prstGeom prst="rect">
            <a:avLst/>
          </a:prstGeom>
          <a:noFill/>
          <a:ln/>
        </p:spPr>
        <p:txBody>
          <a:bodyPr wrap="square" rtlCol="0"/>
          <a:lstStyle>
            <a:lvl1pPr algn="l" indent="0" marL="0">
              <a:buNone/>
              <a:defRPr lang="en-US" sz="1200" b="1" spc="200" kern="0" dirty="0">
                <a:solidFill>
                  <a:schemeClr val="accent1"/>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14" name="Text 11"/>
          <p:cNvSpPr/>
          <p:nvPr>
            <p:ph idx="112" type="title" hasCustomPrompt="1"/>
          </p:nvPr>
        </p:nvSpPr>
        <p:spPr>
          <a:xfrm>
            <a:off x="548640" y="731520"/>
            <a:ext cx="11094415" cy="73152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_DUNKEL">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548640" y="6144768"/>
            <a:ext cx="10149840" cy="0"/>
          </a:xfrm>
          <a:prstGeom prst="line">
            <a:avLst/>
          </a:prstGeom>
          <a:noFill/>
          <a:ln w="12700">
            <a:solidFill>
              <a:srgbClr val="33496E"/>
            </a:solidFill>
            <a:prstDash val="solid"/>
          </a:ln>
        </p:spPr>
      </p:sp>
      <p:sp>
        <p:nvSpPr>
          <p:cNvPr id="3" name="Shape 1"/>
          <p:cNvSpPr/>
          <p:nvPr/>
        </p:nvSpPr>
        <p:spPr>
          <a:xfrm>
            <a:off x="548640" y="6080760"/>
            <a:ext cx="0" cy="128016"/>
          </a:xfrm>
          <a:prstGeom prst="line">
            <a:avLst/>
          </a:prstGeom>
          <a:noFill/>
          <a:ln w="12700">
            <a:solidFill>
              <a:srgbClr val="33496E"/>
            </a:solidFill>
            <a:prstDash val="solid"/>
          </a:ln>
        </p:spPr>
      </p:sp>
      <p:sp>
        <p:nvSpPr>
          <p:cNvPr id="4" name="Text 2"/>
          <p:cNvSpPr/>
          <p:nvPr/>
        </p:nvSpPr>
        <p:spPr>
          <a:xfrm>
            <a:off x="612648"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2017</a:t>
            </a:r>
            <a:endParaRPr lang="en-US" sz="1000" dirty="0"/>
          </a:p>
        </p:txBody>
      </p:sp>
      <p:sp>
        <p:nvSpPr>
          <p:cNvPr id="5" name="Shape 3"/>
          <p:cNvSpPr/>
          <p:nvPr/>
        </p:nvSpPr>
        <p:spPr>
          <a:xfrm>
            <a:off x="3031677" y="6080760"/>
            <a:ext cx="0" cy="128016"/>
          </a:xfrm>
          <a:prstGeom prst="line">
            <a:avLst/>
          </a:prstGeom>
          <a:noFill/>
          <a:ln w="12700">
            <a:solidFill>
              <a:srgbClr val="33496E"/>
            </a:solidFill>
            <a:prstDash val="solid"/>
          </a:ln>
        </p:spPr>
      </p:sp>
      <p:sp>
        <p:nvSpPr>
          <p:cNvPr id="6" name="Text 4"/>
          <p:cNvSpPr/>
          <p:nvPr/>
        </p:nvSpPr>
        <p:spPr>
          <a:xfrm>
            <a:off x="3095685"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2018</a:t>
            </a:r>
            <a:endParaRPr lang="en-US" sz="1000" dirty="0"/>
          </a:p>
        </p:txBody>
      </p:sp>
      <p:sp>
        <p:nvSpPr>
          <p:cNvPr id="7" name="Shape 5"/>
          <p:cNvSpPr/>
          <p:nvPr/>
        </p:nvSpPr>
        <p:spPr>
          <a:xfrm>
            <a:off x="5514715" y="6080760"/>
            <a:ext cx="0" cy="128016"/>
          </a:xfrm>
          <a:prstGeom prst="line">
            <a:avLst/>
          </a:prstGeom>
          <a:noFill/>
          <a:ln w="12700">
            <a:solidFill>
              <a:srgbClr val="33496E"/>
            </a:solidFill>
            <a:prstDash val="solid"/>
          </a:ln>
        </p:spPr>
      </p:sp>
      <p:sp>
        <p:nvSpPr>
          <p:cNvPr id="8" name="Text 6"/>
          <p:cNvSpPr/>
          <p:nvPr/>
        </p:nvSpPr>
        <p:spPr>
          <a:xfrm>
            <a:off x="5578723"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2019</a:t>
            </a:r>
            <a:endParaRPr lang="en-US" sz="1000" dirty="0"/>
          </a:p>
        </p:txBody>
      </p:sp>
      <p:sp>
        <p:nvSpPr>
          <p:cNvPr id="9" name="Shape 7"/>
          <p:cNvSpPr/>
          <p:nvPr/>
        </p:nvSpPr>
        <p:spPr>
          <a:xfrm>
            <a:off x="7997752" y="6080760"/>
            <a:ext cx="0" cy="128016"/>
          </a:xfrm>
          <a:prstGeom prst="line">
            <a:avLst/>
          </a:prstGeom>
          <a:noFill/>
          <a:ln w="12700">
            <a:solidFill>
              <a:srgbClr val="33496E"/>
            </a:solidFill>
            <a:prstDash val="solid"/>
          </a:ln>
        </p:spPr>
      </p:sp>
      <p:sp>
        <p:nvSpPr>
          <p:cNvPr id="10" name="Text 8"/>
          <p:cNvSpPr/>
          <p:nvPr/>
        </p:nvSpPr>
        <p:spPr>
          <a:xfrm>
            <a:off x="8061760"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2020</a:t>
            </a:r>
            <a:endParaRPr lang="en-US" sz="1000" dirty="0"/>
          </a:p>
        </p:txBody>
      </p:sp>
      <p:sp>
        <p:nvSpPr>
          <p:cNvPr id="11" name="Shape 9"/>
          <p:cNvSpPr/>
          <p:nvPr/>
        </p:nvSpPr>
        <p:spPr>
          <a:xfrm>
            <a:off x="10487592" y="6080760"/>
            <a:ext cx="0" cy="128016"/>
          </a:xfrm>
          <a:prstGeom prst="line">
            <a:avLst/>
          </a:prstGeom>
          <a:noFill/>
          <a:ln w="12700">
            <a:solidFill>
              <a:srgbClr val="33496E"/>
            </a:solidFill>
            <a:prstDash val="solid"/>
          </a:ln>
        </p:spPr>
      </p:sp>
      <p:sp>
        <p:nvSpPr>
          <p:cNvPr id="12" name="Text 10"/>
          <p:cNvSpPr/>
          <p:nvPr/>
        </p:nvSpPr>
        <p:spPr>
          <a:xfrm>
            <a:off x="10551600" y="6217920"/>
            <a:ext cx="548640" cy="182880"/>
          </a:xfrm>
          <a:prstGeom prst="rect">
            <a:avLst/>
          </a:prstGeom>
          <a:noFill/>
          <a:ln/>
        </p:spPr>
        <p:txBody>
          <a:bodyPr wrap="square" lIns="0" tIns="0" rIns="0" bIns="0" rtlCol="0" anchor="t"/>
          <a:lstStyle/>
          <a:p>
            <a:pPr indent="0" marL="0">
              <a:buNone/>
            </a:pPr>
            <a:r>
              <a:rPr lang="en-US" sz="1000" dirty="0">
                <a:solidFill>
                  <a:srgbClr val="8FA0BA"/>
                </a:solidFill>
              </a:rPr>
              <a:t>2021</a:t>
            </a:r>
            <a:endParaRPr lang="en-US" sz="1000" dirty="0"/>
          </a:p>
        </p:txBody>
      </p:sp>
      <p:sp>
        <p:nvSpPr>
          <p:cNvPr id="13" name="Text 11"/>
          <p:cNvSpPr/>
          <p:nvPr>
            <p:ph idx="111" type="body" hasCustomPrompt="1"/>
          </p:nvPr>
        </p:nvSpPr>
        <p:spPr>
          <a:xfrm>
            <a:off x="548640" y="457200"/>
            <a:ext cx="9144000" cy="274320"/>
          </a:xfrm>
          <a:prstGeom prst="rect">
            <a:avLst/>
          </a:prstGeom>
          <a:noFill/>
          <a:ln/>
        </p:spPr>
        <p:txBody>
          <a:bodyPr wrap="square" rtlCol="0"/>
          <a:lstStyle>
            <a:lvl1pPr algn="l" indent="0" marL="0">
              <a:buNone/>
              <a:defRPr lang="en-US" sz="1200" b="1" spc="200" kern="0" dirty="0">
                <a:solidFill>
                  <a:schemeClr val="accent6"/>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14" name="Text 11"/>
          <p:cNvSpPr/>
          <p:nvPr>
            <p:ph idx="112" type="title" hasCustomPrompt="1"/>
          </p:nvPr>
        </p:nvSpPr>
        <p:spPr>
          <a:xfrm>
            <a:off x="548640" y="731520"/>
            <a:ext cx="11094415" cy="73152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0BA"/>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NHANG_HELL">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9144000" cy="274320"/>
          </a:xfrm>
          <a:prstGeom prst="rect">
            <a:avLst/>
          </a:prstGeom>
          <a:noFill/>
          <a:ln/>
        </p:spPr>
        <p:txBody>
          <a:bodyPr wrap="square" rtlCol="0"/>
          <a:lstStyle>
            <a:lvl1pPr algn="l" indent="0" marL="0">
              <a:buNone/>
              <a:defRPr lang="en-US" sz="1200" b="1" spc="200" kern="0" dirty="0">
                <a:solidFill>
                  <a:schemeClr val="accent1"/>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1"/>
          <p:cNvSpPr/>
          <p:nvPr>
            <p:ph idx="111" type="body" hasCustomPrompt="1"/>
          </p:nvPr>
        </p:nvSpPr>
        <p:spPr>
          <a:xfrm>
            <a:off x="548640" y="1600200"/>
            <a:ext cx="6035040" cy="274320"/>
          </a:xfrm>
          <a:prstGeom prst="rect">
            <a:avLst/>
          </a:prstGeom>
          <a:noFill/>
          <a:ln/>
        </p:spPr>
        <p:txBody>
          <a:bodyPr wrap="square" lIns="0" tIns="0" rIns="0" bIns="0" rtlCol="0" anchor="t"/>
          <a:lstStyle/>
          <a:p>
            <a:pPr algn="l" indent="0" marL="0">
              <a:buNone/>
            </a:pPr>
            <a:r>
              <a:rPr lang="en-US" sz="1300" b="1" spc="250" kern="0" dirty="0">
                <a:solidFill>
                  <a:schemeClr val="accent6"/>
                </a:solidFill>
                <a:latin typeface="Arial" pitchFamily="34" charset="0"/>
                <a:ea typeface="Arial" pitchFamily="34" charset="-122"/>
                <a:cs typeface="Arial" pitchFamily="34" charset="-120"/>
              </a:rPr>
              <a:t>VIER JAHRE, DIE DIE USA PRÄGTEN</a:t>
            </a:r>
            <a:endParaRPr lang="en-US" sz="1300" dirty="0"/>
          </a:p>
        </p:txBody>
      </p:sp>
      <p:sp>
        <p:nvSpPr>
          <p:cNvPr id="3" name="Text 11"/>
          <p:cNvSpPr/>
          <p:nvPr>
            <p:ph idx="112" type="title" hasCustomPrompt="1"/>
          </p:nvPr>
        </p:nvSpPr>
        <p:spPr>
          <a:xfrm>
            <a:off x="548640" y="2011680"/>
            <a:ext cx="6400800" cy="1051560"/>
          </a:xfrm>
          <a:prstGeom prst="rect">
            <a:avLst/>
          </a:prstGeom>
          <a:noFill/>
          <a:ln/>
        </p:spPr>
        <p:txBody>
          <a:bodyPr wrap="square" lIns="0" tIns="0" rIns="0" bIns="0" rtlCol="0" anchor="t"/>
          <a:lstStyle/>
          <a:p>
            <a:pPr algn="l" indent="0" marL="0">
              <a:buNone/>
            </a:pPr>
            <a:r>
              <a:rPr lang="en-US" sz="5400" b="1" dirty="0">
                <a:solidFill>
                  <a:schemeClr val="bg1"/>
                </a:solidFill>
                <a:latin typeface="Cambria" pitchFamily="34" charset="0"/>
                <a:ea typeface="Cambria" pitchFamily="34" charset="-122"/>
                <a:cs typeface="Cambria" pitchFamily="34" charset="-120"/>
              </a:rPr>
              <a:t>Donald J. Trump</a:t>
            </a:r>
            <a:endParaRPr lang="en-US" sz="5400" dirty="0"/>
          </a:p>
        </p:txBody>
      </p:sp>
      <p:sp>
        <p:nvSpPr>
          <p:cNvPr id="4" name="Text 11"/>
          <p:cNvSpPr/>
          <p:nvPr>
            <p:ph idx="113" type="body" hasCustomPrompt="1"/>
          </p:nvPr>
        </p:nvSpPr>
        <p:spPr>
          <a:xfrm>
            <a:off x="548640" y="3154680"/>
            <a:ext cx="6217920" cy="548640"/>
          </a:xfrm>
          <a:prstGeom prst="rect">
            <a:avLst/>
          </a:prstGeom>
          <a:noFill/>
          <a:ln/>
        </p:spPr>
        <p:txBody>
          <a:bodyPr wrap="square" lIns="0" tIns="0" rIns="0" bIns="0" rtlCol="0" anchor="t"/>
          <a:lstStyle/>
          <a:p>
            <a:pPr algn="l" indent="0" marL="0">
              <a:buNone/>
            </a:pPr>
            <a:r>
              <a:rPr lang="en-US" sz="3000" dirty="0">
                <a:solidFill>
                  <a:schemeClr val="accent3"/>
                </a:solidFill>
                <a:latin typeface="Cambria" pitchFamily="34" charset="0"/>
                <a:ea typeface="Cambria" pitchFamily="34" charset="-122"/>
                <a:cs typeface="Cambria" pitchFamily="34" charset="-120"/>
              </a:rPr>
              <a:t>Die erste Amtszeit  </a:t>
            </a:r>
            <a:pPr algn="l" indent="0" marL="0">
              <a:buNone/>
            </a:pPr>
            <a:r>
              <a:rPr lang="en-US" sz="3000" b="1" dirty="0">
                <a:solidFill>
                  <a:schemeClr val="accent6"/>
                </a:solidFill>
                <a:latin typeface="Cambria" pitchFamily="34" charset="0"/>
                <a:ea typeface="Cambria" pitchFamily="34" charset="-122"/>
                <a:cs typeface="Cambria" pitchFamily="34" charset="-120"/>
              </a:rPr>
              <a:t>2017 – 2021</a:t>
            </a:r>
            <a:endParaRPr lang="en-US" sz="3000" dirty="0"/>
          </a:p>
        </p:txBody>
      </p:sp>
      <p:sp>
        <p:nvSpPr>
          <p:cNvPr id="5" name="Text 3"/>
          <p:cNvSpPr txBox="1"/>
          <p:nvPr/>
        </p:nvSpPr>
        <p:spPr>
          <a:xfrm>
            <a:off x="548640" y="4069080"/>
            <a:ext cx="6217920" cy="320040"/>
          </a:xfrm>
          <a:prstGeom prst="rect">
            <a:avLst/>
          </a:prstGeom>
          <a:noFill/>
          <a:ln/>
        </p:spPr>
        <p:txBody>
          <a:bodyPr wrap="square" lIns="0" tIns="0" rIns="0" bIns="0" rtlCol="0" anchor="t"/>
          <a:lstStyle/>
          <a:p>
            <a:pPr indent="0" marL="0">
              <a:buNone/>
            </a:pPr>
            <a:r>
              <a:rPr lang="de-DE" altLang="en-US" sz="1600" dirty="0">
                <a:solidFill>
                  <a:schemeClr val="accent3"/>
                </a:solidFill>
              </a:rPr>
              <a:t>Person  ·  Die prägenden Ereignisse  ·  Bilanz</a:t>
            </a:r>
            <a:endParaRPr lang="de-DE" sz="1600" dirty="0"/>
          </a:p>
        </p:txBody>
      </p:sp>
      <p:sp>
        <p:nvSpPr>
          <p:cNvPr id="6" name="!!n45"/>
          <p:cNvSpPr txBox="1"/>
          <p:nvPr/>
        </p:nvSpPr>
        <p:spPr>
          <a:xfrm>
            <a:off x="6172200" y="320040"/>
            <a:ext cx="5486400" cy="4846320"/>
          </a:xfrm>
          <a:prstGeom prst="rect">
            <a:avLst/>
          </a:prstGeom>
          <a:noFill/>
          <a:ln/>
        </p:spPr>
        <p:txBody>
          <a:bodyPr wrap="square" lIns="0" tIns="0" rIns="0" bIns="0" rtlCol="0" anchor="ctr"/>
          <a:lstStyle/>
          <a:p>
            <a:pPr algn="r" indent="0" marL="0">
              <a:buNone/>
            </a:pPr>
            <a:r>
              <a:rPr lang="de-DE" altLang="en-US" sz="33000" b="1" dirty="0">
                <a:solidFill>
                  <a:schemeClr val="accent1"/>
                </a:solidFill>
              </a:rPr>
              <a:t>45</a:t>
            </a:r>
            <a:endParaRPr lang="de-DE" sz="33000" dirty="0"/>
          </a:p>
        </p:txBody>
      </p:sp>
      <p:sp>
        <p:nvSpPr>
          <p:cNvPr id="7" name="Text 5"/>
          <p:cNvSpPr txBox="1"/>
          <p:nvPr/>
        </p:nvSpPr>
        <p:spPr>
          <a:xfrm>
            <a:off x="7498080" y="4572000"/>
            <a:ext cx="4069080" cy="274320"/>
          </a:xfrm>
          <a:prstGeom prst="rect">
            <a:avLst/>
          </a:prstGeom>
          <a:noFill/>
          <a:ln/>
        </p:spPr>
        <p:txBody>
          <a:bodyPr wrap="square" lIns="0" tIns="0" rIns="0" bIns="0" rtlCol="0" anchor="t"/>
          <a:lstStyle/>
          <a:p>
            <a:pPr algn="r" indent="0" marL="0">
              <a:buNone/>
            </a:pPr>
            <a:r>
              <a:rPr lang="de-DE" altLang="en-US" sz="1400" dirty="0">
                <a:solidFill>
                  <a:schemeClr val="accent3"/>
                </a:solidFill>
              </a:rPr>
              <a:t>45. Präsident der Vereinigten Staaten</a:t>
            </a:r>
            <a:endParaRPr lang="de-DE" sz="1400" dirty="0"/>
          </a:p>
        </p:txBody>
      </p:sp>
      <p:sp>
        <p:nvSpPr>
          <p:cNvPr id="8" name="!!tl-span"/>
          <p:cNvSpPr/>
          <p:nvPr/>
        </p:nvSpPr>
        <p:spPr>
          <a:xfrm>
            <a:off x="677894" y="6117336"/>
            <a:ext cx="18288" cy="54864"/>
          </a:xfrm>
          <a:prstGeom prst="rect">
            <a:avLst/>
          </a:prstGeom>
          <a:solidFill>
            <a:schemeClr val="accent6"/>
          </a:solidFill>
          <a:ln/>
        </p:spPr>
      </p:sp>
      <p:sp>
        <p:nvSpPr>
          <p:cNvPr id="9" name="!!tl-d1"/>
          <p:cNvSpPr/>
          <p:nvPr/>
        </p:nvSpPr>
        <p:spPr>
          <a:xfrm>
            <a:off x="595598" y="6062472"/>
            <a:ext cx="164592" cy="164592"/>
          </a:xfrm>
          <a:prstGeom prst="ellipse">
            <a:avLst/>
          </a:prstGeom>
          <a:solidFill>
            <a:schemeClr val="accent6"/>
          </a:solidFill>
          <a:ln w="19050">
            <a:solidFill>
              <a:schemeClr val="tx1"/>
            </a:solidFill>
            <a:prstDash val="solid"/>
          </a:ln>
        </p:spPr>
      </p:sp>
      <p:sp>
        <p:nvSpPr>
          <p:cNvPr id="10" name="!!tl-label"/>
          <p:cNvSpPr txBox="1"/>
          <p:nvPr/>
        </p:nvSpPr>
        <p:spPr>
          <a:xfrm>
            <a:off x="659606" y="5815584"/>
            <a:ext cx="1371600" cy="201168"/>
          </a:xfrm>
          <a:prstGeom prst="rect">
            <a:avLst/>
          </a:prstGeom>
          <a:noFill/>
          <a:ln/>
        </p:spPr>
        <p:txBody>
          <a:bodyPr wrap="square" lIns="0" tIns="0" rIns="0" bIns="0" rtlCol="0" anchor="t"/>
          <a:lstStyle/>
          <a:p>
            <a:pPr indent="0" marL="0">
              <a:buNone/>
            </a:pPr>
            <a:r>
              <a:rPr lang="de-DE" altLang="en-US" sz="1000" dirty="0">
                <a:solidFill>
                  <a:srgbClr val="8FA0BA"/>
                </a:solidFill>
              </a:rPr>
              <a:t>Amtsantritt</a:t>
            </a:r>
            <a:endParaRPr lang="de-DE"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01 · DIE PERSON</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Vom Immobilien-Tycoon ins Weiße Haus</a:t>
            </a:r>
            <a:endParaRPr lang="en-US" sz="3600" dirty="0"/>
          </a:p>
        </p:txBody>
      </p:sp>
      <p:sp>
        <p:nvSpPr>
          <p:cNvPr id="4" name="Shape 2"/>
          <p:cNvSpPr/>
          <p:nvPr/>
        </p:nvSpPr>
        <p:spPr>
          <a:xfrm>
            <a:off x="548640" y="1737360"/>
            <a:ext cx="5257800" cy="1097280"/>
          </a:xfrm>
          <a:prstGeom prst="roundRect">
            <a:avLst>
              <a:gd name="adj" fmla="val 10000"/>
            </a:avLst>
          </a:prstGeom>
          <a:solidFill>
            <a:schemeClr val="accent1"/>
          </a:solidFill>
          <a:ln/>
        </p:spPr>
      </p:sp>
      <p:sp>
        <p:nvSpPr>
          <p:cNvPr id="5" name="!!n45"/>
          <p:cNvSpPr txBox="1"/>
          <p:nvPr/>
        </p:nvSpPr>
        <p:spPr>
          <a:xfrm>
            <a:off x="777240" y="1783080"/>
            <a:ext cx="1234440" cy="1005840"/>
          </a:xfrm>
          <a:prstGeom prst="rect">
            <a:avLst/>
          </a:prstGeom>
          <a:noFill/>
          <a:ln/>
        </p:spPr>
        <p:txBody>
          <a:bodyPr wrap="square" lIns="0" tIns="0" rIns="0" bIns="0" rtlCol="0" anchor="ctr"/>
          <a:lstStyle/>
          <a:p>
            <a:pPr indent="0" marL="0">
              <a:buNone/>
            </a:pPr>
            <a:r>
              <a:rPr lang="de-DE" altLang="en-US" sz="6000" b="1" dirty="0">
                <a:solidFill>
                  <a:schemeClr val="bg1"/>
                </a:solidFill>
              </a:rPr>
              <a:t>45</a:t>
            </a:r>
            <a:endParaRPr lang="de-DE" sz="6000" dirty="0"/>
          </a:p>
        </p:txBody>
      </p:sp>
      <p:sp>
        <p:nvSpPr>
          <p:cNvPr id="6" name="Text 4"/>
          <p:cNvSpPr txBox="1"/>
          <p:nvPr/>
        </p:nvSpPr>
        <p:spPr>
          <a:xfrm>
            <a:off x="2103120" y="1920240"/>
            <a:ext cx="3520440" cy="292608"/>
          </a:xfrm>
          <a:prstGeom prst="rect">
            <a:avLst/>
          </a:prstGeom>
          <a:noFill/>
          <a:ln/>
        </p:spPr>
        <p:txBody>
          <a:bodyPr wrap="square" lIns="0" tIns="0" rIns="0" bIns="0" rtlCol="0" anchor="t"/>
          <a:lstStyle/>
          <a:p>
            <a:pPr indent="0" marL="0">
              <a:buNone/>
            </a:pPr>
            <a:r>
              <a:rPr lang="de-DE" altLang="en-US" sz="1800" b="1" dirty="0">
                <a:solidFill>
                  <a:schemeClr val="bg1"/>
                </a:solidFill>
              </a:rPr>
              <a:t>45. Präsident der USA</a:t>
            </a:r>
            <a:endParaRPr lang="de-DE" sz="1800" dirty="0"/>
          </a:p>
        </p:txBody>
      </p:sp>
      <p:sp>
        <p:nvSpPr>
          <p:cNvPr id="7" name="Text 5"/>
          <p:cNvSpPr txBox="1"/>
          <p:nvPr/>
        </p:nvSpPr>
        <p:spPr>
          <a:xfrm>
            <a:off x="2103120" y="2249424"/>
            <a:ext cx="3566160" cy="228600"/>
          </a:xfrm>
          <a:prstGeom prst="rect">
            <a:avLst/>
          </a:prstGeom>
          <a:noFill/>
          <a:ln/>
        </p:spPr>
        <p:txBody>
          <a:bodyPr wrap="square" lIns="0" tIns="0" rIns="0" bIns="0" rtlCol="0" anchor="t"/>
          <a:lstStyle/>
          <a:p>
            <a:pPr indent="0" marL="0">
              <a:buNone/>
            </a:pPr>
            <a:r>
              <a:rPr lang="de-DE" altLang="en-US" sz="1400" dirty="0">
                <a:solidFill>
                  <a:schemeClr val="bg1"/>
                </a:solidFill>
              </a:rPr>
              <a:t>Amtszeit: 20.01.2017 – 20.01.2021</a:t>
            </a:r>
            <a:endParaRPr lang="de-DE" sz="1400" dirty="0"/>
          </a:p>
        </p:txBody>
      </p:sp>
      <p:sp>
        <p:nvSpPr>
          <p:cNvPr id="8" name="Text 6"/>
          <p:cNvSpPr txBox="1"/>
          <p:nvPr/>
        </p:nvSpPr>
        <p:spPr>
          <a:xfrm>
            <a:off x="2103120" y="2496312"/>
            <a:ext cx="3566160" cy="228600"/>
          </a:xfrm>
          <a:prstGeom prst="rect">
            <a:avLst/>
          </a:prstGeom>
          <a:noFill/>
          <a:ln/>
        </p:spPr>
        <p:txBody>
          <a:bodyPr wrap="square" lIns="0" tIns="0" rIns="0" bIns="0" rtlCol="0" anchor="t"/>
          <a:lstStyle/>
          <a:p>
            <a:pPr indent="0" marL="0">
              <a:buNone/>
            </a:pPr>
            <a:r>
              <a:rPr lang="de-DE" altLang="en-US" sz="1400" dirty="0">
                <a:solidFill>
                  <a:schemeClr val="bg1"/>
                </a:solidFill>
              </a:rPr>
              <a:t>Vizepräsident: Mike Pence</a:t>
            </a:r>
            <a:endParaRPr lang="de-DE" sz="1400" dirty="0"/>
          </a:p>
        </p:txBody>
      </p:sp>
      <p:sp>
        <p:nvSpPr>
          <p:cNvPr id="9" name="Text 7"/>
          <p:cNvSpPr txBox="1"/>
          <p:nvPr/>
        </p:nvSpPr>
        <p:spPr>
          <a:xfrm>
            <a:off x="548640" y="3054096"/>
            <a:ext cx="1554480" cy="228600"/>
          </a:xfrm>
          <a:prstGeom prst="rect">
            <a:avLst/>
          </a:prstGeom>
          <a:noFill/>
          <a:ln/>
        </p:spPr>
        <p:txBody>
          <a:bodyPr wrap="square" lIns="0" tIns="0" rIns="0" bIns="0" rtlCol="0" anchor="t"/>
          <a:lstStyle/>
          <a:p>
            <a:pPr indent="0" marL="0">
              <a:buNone/>
            </a:pPr>
            <a:r>
              <a:rPr lang="de-DE" altLang="en-US" sz="1100" b="1" spc="150" kern="0" dirty="0">
                <a:solidFill>
                  <a:schemeClr val="accent1"/>
                </a:solidFill>
              </a:rPr>
              <a:t>GEBOREN</a:t>
            </a:r>
            <a:endParaRPr lang="de-DE" sz="1100" dirty="0"/>
          </a:p>
        </p:txBody>
      </p:sp>
      <p:sp>
        <p:nvSpPr>
          <p:cNvPr id="10" name="Text 8"/>
          <p:cNvSpPr txBox="1"/>
          <p:nvPr/>
        </p:nvSpPr>
        <p:spPr>
          <a:xfrm>
            <a:off x="2194560" y="3017520"/>
            <a:ext cx="3611880" cy="457200"/>
          </a:xfrm>
          <a:prstGeom prst="rect">
            <a:avLst/>
          </a:prstGeom>
          <a:noFill/>
          <a:ln/>
        </p:spPr>
        <p:txBody>
          <a:bodyPr wrap="square" lIns="0" tIns="0" rIns="0" bIns="0" rtlCol="0" anchor="t"/>
          <a:lstStyle/>
          <a:p>
            <a:pPr indent="0" marL="0">
              <a:buNone/>
            </a:pPr>
            <a:r>
              <a:rPr lang="de-DE" altLang="en-US" sz="1400" dirty="0">
                <a:solidFill>
                  <a:schemeClr val="tx1"/>
                </a:solidFill>
              </a:rPr>
              <a:t>14. Juni 1946 in New York City</a:t>
            </a:r>
            <a:endParaRPr lang="de-DE" sz="1400" dirty="0"/>
          </a:p>
        </p:txBody>
      </p:sp>
      <p:sp>
        <p:nvSpPr>
          <p:cNvPr id="11" name="Shape 9"/>
          <p:cNvSpPr/>
          <p:nvPr/>
        </p:nvSpPr>
        <p:spPr>
          <a:xfrm>
            <a:off x="548640" y="3502152"/>
            <a:ext cx="5257800" cy="0"/>
          </a:xfrm>
          <a:prstGeom prst="line">
            <a:avLst/>
          </a:prstGeom>
          <a:noFill/>
          <a:ln w="9525">
            <a:solidFill>
              <a:srgbClr val="C3CBD8"/>
            </a:solidFill>
            <a:prstDash val="solid"/>
          </a:ln>
        </p:spPr>
      </p:sp>
      <p:sp>
        <p:nvSpPr>
          <p:cNvPr id="12" name="Text 10"/>
          <p:cNvSpPr txBox="1"/>
          <p:nvPr/>
        </p:nvSpPr>
        <p:spPr>
          <a:xfrm>
            <a:off x="548640" y="3593592"/>
            <a:ext cx="1554480" cy="228600"/>
          </a:xfrm>
          <a:prstGeom prst="rect">
            <a:avLst/>
          </a:prstGeom>
          <a:noFill/>
          <a:ln/>
        </p:spPr>
        <p:txBody>
          <a:bodyPr wrap="square" lIns="0" tIns="0" rIns="0" bIns="0" rtlCol="0" anchor="t"/>
          <a:lstStyle/>
          <a:p>
            <a:pPr indent="0" marL="0">
              <a:buNone/>
            </a:pPr>
            <a:r>
              <a:rPr lang="de-DE" altLang="en-US" sz="1100" b="1" spc="150" kern="0" dirty="0">
                <a:solidFill>
                  <a:schemeClr val="accent1"/>
                </a:solidFill>
              </a:rPr>
              <a:t>KARRIERE</a:t>
            </a:r>
            <a:endParaRPr lang="de-DE" sz="1100" dirty="0"/>
          </a:p>
        </p:txBody>
      </p:sp>
      <p:sp>
        <p:nvSpPr>
          <p:cNvPr id="13" name="Text 11"/>
          <p:cNvSpPr txBox="1"/>
          <p:nvPr/>
        </p:nvSpPr>
        <p:spPr>
          <a:xfrm>
            <a:off x="2194560" y="3557016"/>
            <a:ext cx="3611880" cy="457200"/>
          </a:xfrm>
          <a:prstGeom prst="rect">
            <a:avLst/>
          </a:prstGeom>
          <a:noFill/>
          <a:ln/>
        </p:spPr>
        <p:txBody>
          <a:bodyPr wrap="square" lIns="0" tIns="0" rIns="0" bIns="0" rtlCol="0" anchor="t"/>
          <a:lstStyle/>
          <a:p>
            <a:pPr indent="0" marL="0">
              <a:buNone/>
            </a:pPr>
            <a:r>
              <a:rPr lang="de-DE" altLang="en-US" sz="1400" dirty="0">
                <a:solidFill>
                  <a:schemeClr val="tx1"/>
                </a:solidFill>
              </a:rPr>
              <a:t>Immobilien-Unternehmer, ab 1971 Chef der Trump Organization</a:t>
            </a:r>
            <a:endParaRPr lang="de-DE" sz="1400" dirty="0"/>
          </a:p>
        </p:txBody>
      </p:sp>
      <p:sp>
        <p:nvSpPr>
          <p:cNvPr id="14" name="Shape 12"/>
          <p:cNvSpPr/>
          <p:nvPr/>
        </p:nvSpPr>
        <p:spPr>
          <a:xfrm>
            <a:off x="548640" y="4041648"/>
            <a:ext cx="5257800" cy="0"/>
          </a:xfrm>
          <a:prstGeom prst="line">
            <a:avLst/>
          </a:prstGeom>
          <a:noFill/>
          <a:ln w="9525">
            <a:solidFill>
              <a:srgbClr val="C3CBD8"/>
            </a:solidFill>
            <a:prstDash val="solid"/>
          </a:ln>
        </p:spPr>
      </p:sp>
      <p:sp>
        <p:nvSpPr>
          <p:cNvPr id="15" name="Text 13"/>
          <p:cNvSpPr txBox="1"/>
          <p:nvPr/>
        </p:nvSpPr>
        <p:spPr>
          <a:xfrm>
            <a:off x="548640" y="4133088"/>
            <a:ext cx="1554480" cy="228600"/>
          </a:xfrm>
          <a:prstGeom prst="rect">
            <a:avLst/>
          </a:prstGeom>
          <a:noFill/>
          <a:ln/>
        </p:spPr>
        <p:txBody>
          <a:bodyPr wrap="square" lIns="0" tIns="0" rIns="0" bIns="0" rtlCol="0" anchor="t"/>
          <a:lstStyle/>
          <a:p>
            <a:pPr indent="0" marL="0">
              <a:buNone/>
            </a:pPr>
            <a:r>
              <a:rPr lang="de-DE" altLang="en-US" sz="1100" b="1" spc="150" kern="0" dirty="0">
                <a:solidFill>
                  <a:schemeClr val="accent1"/>
                </a:solidFill>
              </a:rPr>
              <a:t>TV-STAR</a:t>
            </a:r>
            <a:endParaRPr lang="de-DE" sz="1100" dirty="0"/>
          </a:p>
        </p:txBody>
      </p:sp>
      <p:sp>
        <p:nvSpPr>
          <p:cNvPr id="16" name="Text 14"/>
          <p:cNvSpPr txBox="1"/>
          <p:nvPr/>
        </p:nvSpPr>
        <p:spPr>
          <a:xfrm>
            <a:off x="2194560" y="4096512"/>
            <a:ext cx="3611880" cy="457200"/>
          </a:xfrm>
          <a:prstGeom prst="rect">
            <a:avLst/>
          </a:prstGeom>
          <a:noFill/>
          <a:ln/>
        </p:spPr>
        <p:txBody>
          <a:bodyPr wrap="square" lIns="0" tIns="0" rIns="0" bIns="0" rtlCol="0" anchor="t"/>
          <a:lstStyle/>
          <a:p>
            <a:pPr indent="0" marL="0">
              <a:buNone/>
            </a:pPr>
            <a:r>
              <a:rPr lang="de-DE" altLang="en-US" sz="1400" dirty="0">
                <a:solidFill>
                  <a:schemeClr val="tx1"/>
                </a:solidFill>
              </a:rPr>
              <a:t>Show „The Apprentice“ (2004–2015)</a:t>
            </a:r>
            <a:endParaRPr lang="de-DE" sz="1400" dirty="0"/>
          </a:p>
        </p:txBody>
      </p:sp>
      <p:sp>
        <p:nvSpPr>
          <p:cNvPr id="17" name="Shape 15"/>
          <p:cNvSpPr/>
          <p:nvPr/>
        </p:nvSpPr>
        <p:spPr>
          <a:xfrm>
            <a:off x="548640" y="4581144"/>
            <a:ext cx="5257800" cy="0"/>
          </a:xfrm>
          <a:prstGeom prst="line">
            <a:avLst/>
          </a:prstGeom>
          <a:noFill/>
          <a:ln w="9525">
            <a:solidFill>
              <a:srgbClr val="C3CBD8"/>
            </a:solidFill>
            <a:prstDash val="solid"/>
          </a:ln>
        </p:spPr>
      </p:sp>
      <p:sp>
        <p:nvSpPr>
          <p:cNvPr id="18" name="Text 16"/>
          <p:cNvSpPr txBox="1"/>
          <p:nvPr/>
        </p:nvSpPr>
        <p:spPr>
          <a:xfrm>
            <a:off x="548640" y="4672584"/>
            <a:ext cx="1554480" cy="228600"/>
          </a:xfrm>
          <a:prstGeom prst="rect">
            <a:avLst/>
          </a:prstGeom>
          <a:noFill/>
          <a:ln/>
        </p:spPr>
        <p:txBody>
          <a:bodyPr wrap="square" lIns="0" tIns="0" rIns="0" bIns="0" rtlCol="0" anchor="t"/>
          <a:lstStyle/>
          <a:p>
            <a:pPr indent="0" marL="0">
              <a:buNone/>
            </a:pPr>
            <a:r>
              <a:rPr lang="de-DE" altLang="en-US" sz="1100" b="1" spc="150" kern="0" dirty="0">
                <a:solidFill>
                  <a:schemeClr val="accent1"/>
                </a:solidFill>
              </a:rPr>
              <a:t>WAHLKAMPF</a:t>
            </a:r>
            <a:endParaRPr lang="de-DE" sz="1100" dirty="0"/>
          </a:p>
        </p:txBody>
      </p:sp>
      <p:sp>
        <p:nvSpPr>
          <p:cNvPr id="19" name="Text 17"/>
          <p:cNvSpPr txBox="1"/>
          <p:nvPr/>
        </p:nvSpPr>
        <p:spPr>
          <a:xfrm>
            <a:off x="2194560" y="4636008"/>
            <a:ext cx="3611880" cy="457200"/>
          </a:xfrm>
          <a:prstGeom prst="rect">
            <a:avLst/>
          </a:prstGeom>
          <a:noFill/>
          <a:ln/>
        </p:spPr>
        <p:txBody>
          <a:bodyPr wrap="square" lIns="0" tIns="0" rIns="0" bIns="0" rtlCol="0" anchor="t"/>
          <a:lstStyle/>
          <a:p>
            <a:pPr indent="0" marL="0">
              <a:buNone/>
            </a:pPr>
            <a:r>
              <a:rPr lang="de-DE" altLang="en-US" sz="1400" dirty="0">
                <a:solidFill>
                  <a:schemeClr val="tx1"/>
                </a:solidFill>
              </a:rPr>
              <a:t>Republikaner · „Make America Great Again“</a:t>
            </a:r>
            <a:endParaRPr lang="de-DE" sz="1400" dirty="0"/>
          </a:p>
        </p:txBody>
      </p:sp>
      <p:sp>
        <p:nvSpPr>
          <p:cNvPr id="20" name="Shape 18"/>
          <p:cNvSpPr/>
          <p:nvPr/>
        </p:nvSpPr>
        <p:spPr>
          <a:xfrm>
            <a:off x="548640" y="5120640"/>
            <a:ext cx="5257800" cy="0"/>
          </a:xfrm>
          <a:prstGeom prst="line">
            <a:avLst/>
          </a:prstGeom>
          <a:noFill/>
          <a:ln w="9525">
            <a:solidFill>
              <a:srgbClr val="C3CBD8"/>
            </a:solidFill>
            <a:prstDash val="solid"/>
          </a:ln>
        </p:spPr>
      </p:sp>
      <p:sp>
        <p:nvSpPr>
          <p:cNvPr id="21" name="Text 19"/>
          <p:cNvSpPr txBox="1"/>
          <p:nvPr/>
        </p:nvSpPr>
        <p:spPr>
          <a:xfrm>
            <a:off x="548640" y="5212080"/>
            <a:ext cx="1554480" cy="228600"/>
          </a:xfrm>
          <a:prstGeom prst="rect">
            <a:avLst/>
          </a:prstGeom>
          <a:noFill/>
          <a:ln/>
        </p:spPr>
        <p:txBody>
          <a:bodyPr wrap="square" lIns="0" tIns="0" rIns="0" bIns="0" rtlCol="0" anchor="t"/>
          <a:lstStyle/>
          <a:p>
            <a:pPr indent="0" marL="0">
              <a:buNone/>
            </a:pPr>
            <a:r>
              <a:rPr lang="de-DE" altLang="en-US" sz="1100" b="1" spc="150" kern="0" dirty="0">
                <a:solidFill>
                  <a:schemeClr val="accent1"/>
                </a:solidFill>
              </a:rPr>
              <a:t>NOVUM</a:t>
            </a:r>
            <a:endParaRPr lang="de-DE" sz="1100" dirty="0"/>
          </a:p>
        </p:txBody>
      </p:sp>
      <p:sp>
        <p:nvSpPr>
          <p:cNvPr id="22" name="Text 20"/>
          <p:cNvSpPr txBox="1"/>
          <p:nvPr/>
        </p:nvSpPr>
        <p:spPr>
          <a:xfrm>
            <a:off x="2194560" y="5175504"/>
            <a:ext cx="3611880" cy="457200"/>
          </a:xfrm>
          <a:prstGeom prst="rect">
            <a:avLst/>
          </a:prstGeom>
          <a:noFill/>
          <a:ln/>
        </p:spPr>
        <p:txBody>
          <a:bodyPr wrap="square" lIns="0" tIns="0" rIns="0" bIns="0" rtlCol="0" anchor="t"/>
          <a:lstStyle/>
          <a:p>
            <a:pPr indent="0" marL="0">
              <a:buNone/>
            </a:pPr>
            <a:r>
              <a:rPr lang="de-DE" altLang="en-US" sz="1400" dirty="0">
                <a:solidFill>
                  <a:schemeClr val="tx1"/>
                </a:solidFill>
              </a:rPr>
              <a:t>erster Präsident ohne politisches Amt oder Militärdienst</a:t>
            </a:r>
            <a:endParaRPr lang="de-DE" sz="1400" dirty="0"/>
          </a:p>
        </p:txBody>
      </p:sp>
      <p:sp>
        <p:nvSpPr>
          <p:cNvPr id="23" name="Shape 21"/>
          <p:cNvSpPr/>
          <p:nvPr/>
        </p:nvSpPr>
        <p:spPr>
          <a:xfrm>
            <a:off x="6172200" y="1737360"/>
            <a:ext cx="5470855" cy="3977640"/>
          </a:xfrm>
          <a:prstGeom prst="roundRect">
            <a:avLst>
              <a:gd name="adj" fmla="val 2759"/>
            </a:avLst>
          </a:prstGeom>
          <a:solidFill>
            <a:schemeClr val="bg2"/>
          </a:solidFill>
          <a:ln/>
        </p:spPr>
      </p:sp>
      <p:sp>
        <p:nvSpPr>
          <p:cNvPr id="24" name="Text 22"/>
          <p:cNvSpPr txBox="1"/>
          <p:nvPr/>
        </p:nvSpPr>
        <p:spPr>
          <a:xfrm>
            <a:off x="6446520" y="1938528"/>
            <a:ext cx="3200400" cy="228600"/>
          </a:xfrm>
          <a:prstGeom prst="rect">
            <a:avLst/>
          </a:prstGeom>
          <a:noFill/>
          <a:ln/>
        </p:spPr>
        <p:txBody>
          <a:bodyPr wrap="square" lIns="0" tIns="0" rIns="0" bIns="0" rtlCol="0" anchor="t"/>
          <a:lstStyle/>
          <a:p>
            <a:pPr indent="0" marL="0">
              <a:buNone/>
            </a:pPr>
            <a:r>
              <a:rPr lang="de-DE" altLang="en-US" sz="1100" b="1" spc="150" kern="0" dirty="0">
                <a:solidFill>
                  <a:schemeClr val="accent1"/>
                </a:solidFill>
              </a:rPr>
              <a:t>WAHL 2016 · WAHLLEUTE</a:t>
            </a:r>
            <a:endParaRPr lang="de-DE" sz="1100" dirty="0"/>
          </a:p>
        </p:txBody>
      </p:sp>
      <p:sp>
        <p:nvSpPr>
          <p:cNvPr id="25" name="Text 23"/>
          <p:cNvSpPr txBox="1"/>
          <p:nvPr/>
        </p:nvSpPr>
        <p:spPr>
          <a:xfrm>
            <a:off x="6446520" y="2194560"/>
            <a:ext cx="2560320" cy="594360"/>
          </a:xfrm>
          <a:prstGeom prst="rect">
            <a:avLst/>
          </a:prstGeom>
          <a:noFill/>
          <a:ln/>
        </p:spPr>
        <p:txBody>
          <a:bodyPr wrap="square" lIns="0" tIns="0" rIns="0" bIns="0" rtlCol="0" anchor="t"/>
          <a:lstStyle/>
          <a:p>
            <a:pPr indent="0" marL="0">
              <a:buNone/>
            </a:pPr>
            <a:r>
              <a:rPr lang="de-DE" altLang="en-US" sz="3600" b="1" dirty="0">
                <a:solidFill>
                  <a:schemeClr val="tx1"/>
                </a:solidFill>
              </a:rPr>
              <a:t>304 : 227</a:t>
            </a:r>
            <a:endParaRPr lang="de-DE" sz="1400" dirty="0"/>
          </a:p>
        </p:txBody>
      </p:sp>
      <p:sp>
        <p:nvSpPr>
          <p:cNvPr id="26" name="Text 24"/>
          <p:cNvSpPr txBox="1"/>
          <p:nvPr/>
        </p:nvSpPr>
        <p:spPr>
          <a:xfrm>
            <a:off x="8961120" y="2212848"/>
            <a:ext cx="2407615" cy="566928"/>
          </a:xfrm>
          <a:prstGeom prst="rect">
            <a:avLst/>
          </a:prstGeom>
          <a:noFill/>
          <a:ln/>
        </p:spPr>
        <p:txBody>
          <a:bodyPr wrap="square" lIns="0" tIns="0" rIns="0" bIns="0" rtlCol="0" anchor="t"/>
          <a:lstStyle/>
          <a:p>
            <a:pPr indent="0" marL="0">
              <a:buNone/>
            </a:pPr>
            <a:r>
              <a:rPr lang="de-DE" altLang="en-US" sz="1400" dirty="0">
                <a:solidFill>
                  <a:schemeClr val="tx2"/>
                </a:solidFill>
              </a:rPr>
              <a:t>für Trump – obwohl Clinton landesweit 2,9 Mio. Stimmen mehr bekam</a:t>
            </a:r>
            <a:endParaRPr lang="de-DE" sz="1400" dirty="0"/>
          </a:p>
        </p:txBody>
      </p:sp>
      <p:sp>
        <p:nvSpPr>
          <p:cNvPr id="27" name="Staat AK"/>
          <p:cNvSpPr/>
          <p:nvPr/>
        </p:nvSpPr>
        <p:spPr>
          <a:xfrm>
            <a:off x="6446520" y="297180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AK</a:t>
            </a:r>
            <a:endParaRPr lang="en-US" sz="800" dirty="0"/>
          </a:p>
        </p:txBody>
      </p:sp>
      <p:sp>
        <p:nvSpPr>
          <p:cNvPr id="28" name="Staat ME"/>
          <p:cNvSpPr/>
          <p:nvPr/>
        </p:nvSpPr>
        <p:spPr>
          <a:xfrm>
            <a:off x="9555480" y="2971800"/>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ME</a:t>
            </a:r>
            <a:endParaRPr lang="en-US" sz="800" dirty="0"/>
          </a:p>
        </p:txBody>
      </p:sp>
      <p:sp>
        <p:nvSpPr>
          <p:cNvPr id="29" name="Staat WI"/>
          <p:cNvSpPr/>
          <p:nvPr/>
        </p:nvSpPr>
        <p:spPr>
          <a:xfrm>
            <a:off x="8001000" y="3282696"/>
            <a:ext cx="274320" cy="274320"/>
          </a:xfrm>
          <a:prstGeom prst="roundRect">
            <a:avLst>
              <a:gd name="adj" fmla="val 13333"/>
            </a:avLst>
          </a:prstGeom>
          <a:solidFill>
            <a:schemeClr val="accent1"/>
          </a:solidFill>
          <a:ln w="28575">
            <a:solidFill>
              <a:schemeClr val="tx1"/>
            </a:solidFill>
          </a:ln>
        </p:spPr>
        <p:txBody>
          <a:bodyPr wrap="square" lIns="0" tIns="0" rIns="0" bIns="0" rtlCol="0" anchor="ctr"/>
          <a:lstStyle/>
          <a:p>
            <a:pPr algn="ctr" indent="0" marL="0">
              <a:buNone/>
            </a:pPr>
            <a:r>
              <a:rPr lang="en-US" altLang="en-US" sz="800" b="1" dirty="0">
                <a:solidFill>
                  <a:schemeClr val="bg1"/>
                </a:solidFill>
              </a:rPr>
              <a:t>WI</a:t>
            </a:r>
            <a:endParaRPr lang="en-US" sz="800" dirty="0"/>
          </a:p>
        </p:txBody>
      </p:sp>
      <p:sp>
        <p:nvSpPr>
          <p:cNvPr id="30" name="Staat VT"/>
          <p:cNvSpPr/>
          <p:nvPr/>
        </p:nvSpPr>
        <p:spPr>
          <a:xfrm>
            <a:off x="9244584" y="3282696"/>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VT</a:t>
            </a:r>
            <a:endParaRPr lang="en-US" sz="800" dirty="0"/>
          </a:p>
        </p:txBody>
      </p:sp>
      <p:sp>
        <p:nvSpPr>
          <p:cNvPr id="31" name="Staat NH"/>
          <p:cNvSpPr/>
          <p:nvPr/>
        </p:nvSpPr>
        <p:spPr>
          <a:xfrm>
            <a:off x="9555480" y="3282696"/>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NH</a:t>
            </a:r>
            <a:endParaRPr lang="en-US" sz="800" dirty="0"/>
          </a:p>
        </p:txBody>
      </p:sp>
      <p:sp>
        <p:nvSpPr>
          <p:cNvPr id="32" name="Staat WA"/>
          <p:cNvSpPr/>
          <p:nvPr/>
        </p:nvSpPr>
        <p:spPr>
          <a:xfrm>
            <a:off x="6446520" y="359359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WA</a:t>
            </a:r>
            <a:endParaRPr lang="en-US" sz="800" dirty="0"/>
          </a:p>
        </p:txBody>
      </p:sp>
      <p:sp>
        <p:nvSpPr>
          <p:cNvPr id="33" name="Staat ID"/>
          <p:cNvSpPr/>
          <p:nvPr/>
        </p:nvSpPr>
        <p:spPr>
          <a:xfrm>
            <a:off x="6757416" y="3593592"/>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ID</a:t>
            </a:r>
            <a:endParaRPr lang="en-US" sz="800" dirty="0"/>
          </a:p>
        </p:txBody>
      </p:sp>
      <p:sp>
        <p:nvSpPr>
          <p:cNvPr id="34" name="Staat MT"/>
          <p:cNvSpPr/>
          <p:nvPr/>
        </p:nvSpPr>
        <p:spPr>
          <a:xfrm>
            <a:off x="7068312" y="3593592"/>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MT</a:t>
            </a:r>
            <a:endParaRPr lang="en-US" sz="800" dirty="0"/>
          </a:p>
        </p:txBody>
      </p:sp>
      <p:sp>
        <p:nvSpPr>
          <p:cNvPr id="35" name="Staat ND"/>
          <p:cNvSpPr/>
          <p:nvPr/>
        </p:nvSpPr>
        <p:spPr>
          <a:xfrm>
            <a:off x="7379208" y="3593592"/>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ND</a:t>
            </a:r>
            <a:endParaRPr lang="en-US" sz="800" dirty="0"/>
          </a:p>
        </p:txBody>
      </p:sp>
      <p:sp>
        <p:nvSpPr>
          <p:cNvPr id="36" name="Staat MN"/>
          <p:cNvSpPr/>
          <p:nvPr/>
        </p:nvSpPr>
        <p:spPr>
          <a:xfrm>
            <a:off x="7690104" y="359359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MN</a:t>
            </a:r>
            <a:endParaRPr lang="en-US" sz="800" dirty="0"/>
          </a:p>
        </p:txBody>
      </p:sp>
      <p:sp>
        <p:nvSpPr>
          <p:cNvPr id="37" name="Staat IL"/>
          <p:cNvSpPr/>
          <p:nvPr/>
        </p:nvSpPr>
        <p:spPr>
          <a:xfrm>
            <a:off x="8001000" y="359359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IL</a:t>
            </a:r>
            <a:endParaRPr lang="en-US" sz="800" dirty="0"/>
          </a:p>
        </p:txBody>
      </p:sp>
      <p:sp>
        <p:nvSpPr>
          <p:cNvPr id="38" name="Staat MI"/>
          <p:cNvSpPr/>
          <p:nvPr/>
        </p:nvSpPr>
        <p:spPr>
          <a:xfrm>
            <a:off x="8311896" y="3593592"/>
            <a:ext cx="274320" cy="274320"/>
          </a:xfrm>
          <a:prstGeom prst="roundRect">
            <a:avLst>
              <a:gd name="adj" fmla="val 13333"/>
            </a:avLst>
          </a:prstGeom>
          <a:solidFill>
            <a:schemeClr val="accent1"/>
          </a:solidFill>
          <a:ln w="28575">
            <a:solidFill>
              <a:schemeClr val="tx1"/>
            </a:solidFill>
          </a:ln>
        </p:spPr>
        <p:txBody>
          <a:bodyPr wrap="square" lIns="0" tIns="0" rIns="0" bIns="0" rtlCol="0" anchor="ctr"/>
          <a:lstStyle/>
          <a:p>
            <a:pPr algn="ctr" indent="0" marL="0">
              <a:buNone/>
            </a:pPr>
            <a:r>
              <a:rPr lang="en-US" altLang="en-US" sz="800" b="1" dirty="0">
                <a:solidFill>
                  <a:schemeClr val="bg1"/>
                </a:solidFill>
              </a:rPr>
              <a:t>MI</a:t>
            </a:r>
            <a:endParaRPr lang="en-US" sz="800" dirty="0"/>
          </a:p>
        </p:txBody>
      </p:sp>
      <p:sp>
        <p:nvSpPr>
          <p:cNvPr id="39" name="Staat NY"/>
          <p:cNvSpPr/>
          <p:nvPr/>
        </p:nvSpPr>
        <p:spPr>
          <a:xfrm>
            <a:off x="8933688" y="359359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NY</a:t>
            </a:r>
            <a:endParaRPr lang="en-US" sz="800" dirty="0"/>
          </a:p>
        </p:txBody>
      </p:sp>
      <p:sp>
        <p:nvSpPr>
          <p:cNvPr id="40" name="Staat MA"/>
          <p:cNvSpPr/>
          <p:nvPr/>
        </p:nvSpPr>
        <p:spPr>
          <a:xfrm>
            <a:off x="9244584" y="359359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MA</a:t>
            </a:r>
            <a:endParaRPr lang="en-US" sz="800" dirty="0"/>
          </a:p>
        </p:txBody>
      </p:sp>
      <p:sp>
        <p:nvSpPr>
          <p:cNvPr id="41" name="Staat OR"/>
          <p:cNvSpPr/>
          <p:nvPr/>
        </p:nvSpPr>
        <p:spPr>
          <a:xfrm>
            <a:off x="6446520" y="3904488"/>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OR</a:t>
            </a:r>
            <a:endParaRPr lang="en-US" sz="800" dirty="0"/>
          </a:p>
        </p:txBody>
      </p:sp>
      <p:sp>
        <p:nvSpPr>
          <p:cNvPr id="42" name="Staat NV"/>
          <p:cNvSpPr/>
          <p:nvPr/>
        </p:nvSpPr>
        <p:spPr>
          <a:xfrm>
            <a:off x="6757416" y="3904488"/>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NV</a:t>
            </a:r>
            <a:endParaRPr lang="en-US" sz="800" dirty="0"/>
          </a:p>
        </p:txBody>
      </p:sp>
      <p:sp>
        <p:nvSpPr>
          <p:cNvPr id="43" name="Staat WY"/>
          <p:cNvSpPr/>
          <p:nvPr/>
        </p:nvSpPr>
        <p:spPr>
          <a:xfrm>
            <a:off x="7068312" y="3904488"/>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WY</a:t>
            </a:r>
            <a:endParaRPr lang="en-US" sz="800" dirty="0"/>
          </a:p>
        </p:txBody>
      </p:sp>
      <p:sp>
        <p:nvSpPr>
          <p:cNvPr id="44" name="Staat SD"/>
          <p:cNvSpPr/>
          <p:nvPr/>
        </p:nvSpPr>
        <p:spPr>
          <a:xfrm>
            <a:off x="7379208" y="3904488"/>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SD</a:t>
            </a:r>
            <a:endParaRPr lang="en-US" sz="800" dirty="0"/>
          </a:p>
        </p:txBody>
      </p:sp>
      <p:sp>
        <p:nvSpPr>
          <p:cNvPr id="45" name="Staat IA"/>
          <p:cNvSpPr/>
          <p:nvPr/>
        </p:nvSpPr>
        <p:spPr>
          <a:xfrm>
            <a:off x="7690104" y="3904488"/>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IA</a:t>
            </a:r>
            <a:endParaRPr lang="en-US" sz="800" dirty="0"/>
          </a:p>
        </p:txBody>
      </p:sp>
      <p:sp>
        <p:nvSpPr>
          <p:cNvPr id="46" name="Staat IN"/>
          <p:cNvSpPr/>
          <p:nvPr/>
        </p:nvSpPr>
        <p:spPr>
          <a:xfrm>
            <a:off x="8001000" y="3904488"/>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IN</a:t>
            </a:r>
            <a:endParaRPr lang="en-US" sz="800" dirty="0"/>
          </a:p>
        </p:txBody>
      </p:sp>
      <p:sp>
        <p:nvSpPr>
          <p:cNvPr id="47" name="Staat OH"/>
          <p:cNvSpPr/>
          <p:nvPr/>
        </p:nvSpPr>
        <p:spPr>
          <a:xfrm>
            <a:off x="8311896" y="3904488"/>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OH</a:t>
            </a:r>
            <a:endParaRPr lang="en-US" sz="800" dirty="0"/>
          </a:p>
        </p:txBody>
      </p:sp>
      <p:sp>
        <p:nvSpPr>
          <p:cNvPr id="48" name="Staat PA"/>
          <p:cNvSpPr/>
          <p:nvPr/>
        </p:nvSpPr>
        <p:spPr>
          <a:xfrm>
            <a:off x="8622792" y="3904488"/>
            <a:ext cx="274320" cy="274320"/>
          </a:xfrm>
          <a:prstGeom prst="roundRect">
            <a:avLst>
              <a:gd name="adj" fmla="val 13333"/>
            </a:avLst>
          </a:prstGeom>
          <a:solidFill>
            <a:schemeClr val="accent1"/>
          </a:solidFill>
          <a:ln w="28575">
            <a:solidFill>
              <a:schemeClr val="tx1"/>
            </a:solidFill>
          </a:ln>
        </p:spPr>
        <p:txBody>
          <a:bodyPr wrap="square" lIns="0" tIns="0" rIns="0" bIns="0" rtlCol="0" anchor="ctr"/>
          <a:lstStyle/>
          <a:p>
            <a:pPr algn="ctr" indent="0" marL="0">
              <a:buNone/>
            </a:pPr>
            <a:r>
              <a:rPr lang="en-US" altLang="en-US" sz="800" b="1" dirty="0">
                <a:solidFill>
                  <a:schemeClr val="bg1"/>
                </a:solidFill>
              </a:rPr>
              <a:t>PA</a:t>
            </a:r>
            <a:endParaRPr lang="en-US" sz="800" dirty="0"/>
          </a:p>
        </p:txBody>
      </p:sp>
      <p:sp>
        <p:nvSpPr>
          <p:cNvPr id="49" name="Staat NJ"/>
          <p:cNvSpPr/>
          <p:nvPr/>
        </p:nvSpPr>
        <p:spPr>
          <a:xfrm>
            <a:off x="8933688" y="3904488"/>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NJ</a:t>
            </a:r>
            <a:endParaRPr lang="en-US" sz="800" dirty="0"/>
          </a:p>
        </p:txBody>
      </p:sp>
      <p:sp>
        <p:nvSpPr>
          <p:cNvPr id="50" name="Staat CT"/>
          <p:cNvSpPr/>
          <p:nvPr/>
        </p:nvSpPr>
        <p:spPr>
          <a:xfrm>
            <a:off x="9244584" y="3904488"/>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CT</a:t>
            </a:r>
            <a:endParaRPr lang="en-US" sz="800" dirty="0"/>
          </a:p>
        </p:txBody>
      </p:sp>
      <p:sp>
        <p:nvSpPr>
          <p:cNvPr id="51" name="Staat RI"/>
          <p:cNvSpPr/>
          <p:nvPr/>
        </p:nvSpPr>
        <p:spPr>
          <a:xfrm>
            <a:off x="9555480" y="3904488"/>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RI</a:t>
            </a:r>
            <a:endParaRPr lang="en-US" sz="800" dirty="0"/>
          </a:p>
        </p:txBody>
      </p:sp>
      <p:sp>
        <p:nvSpPr>
          <p:cNvPr id="52" name="Staat CA"/>
          <p:cNvSpPr/>
          <p:nvPr/>
        </p:nvSpPr>
        <p:spPr>
          <a:xfrm>
            <a:off x="6446520" y="4215384"/>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CA</a:t>
            </a:r>
            <a:endParaRPr lang="en-US" sz="800" dirty="0"/>
          </a:p>
        </p:txBody>
      </p:sp>
      <p:sp>
        <p:nvSpPr>
          <p:cNvPr id="53" name="Staat UT"/>
          <p:cNvSpPr/>
          <p:nvPr/>
        </p:nvSpPr>
        <p:spPr>
          <a:xfrm>
            <a:off x="6757416" y="4215384"/>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UT</a:t>
            </a:r>
            <a:endParaRPr lang="en-US" sz="800" dirty="0"/>
          </a:p>
        </p:txBody>
      </p:sp>
      <p:sp>
        <p:nvSpPr>
          <p:cNvPr id="54" name="Staat CO"/>
          <p:cNvSpPr/>
          <p:nvPr/>
        </p:nvSpPr>
        <p:spPr>
          <a:xfrm>
            <a:off x="7068312" y="4215384"/>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CO</a:t>
            </a:r>
            <a:endParaRPr lang="en-US" sz="800" dirty="0"/>
          </a:p>
        </p:txBody>
      </p:sp>
      <p:sp>
        <p:nvSpPr>
          <p:cNvPr id="55" name="Staat NE"/>
          <p:cNvSpPr/>
          <p:nvPr/>
        </p:nvSpPr>
        <p:spPr>
          <a:xfrm>
            <a:off x="7379208" y="4215384"/>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NE</a:t>
            </a:r>
            <a:endParaRPr lang="en-US" sz="800" dirty="0"/>
          </a:p>
        </p:txBody>
      </p:sp>
      <p:sp>
        <p:nvSpPr>
          <p:cNvPr id="56" name="Staat MO"/>
          <p:cNvSpPr/>
          <p:nvPr/>
        </p:nvSpPr>
        <p:spPr>
          <a:xfrm>
            <a:off x="7690104" y="4215384"/>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MO</a:t>
            </a:r>
            <a:endParaRPr lang="en-US" sz="800" dirty="0"/>
          </a:p>
        </p:txBody>
      </p:sp>
      <p:sp>
        <p:nvSpPr>
          <p:cNvPr id="57" name="Staat KY"/>
          <p:cNvSpPr/>
          <p:nvPr/>
        </p:nvSpPr>
        <p:spPr>
          <a:xfrm>
            <a:off x="8001000" y="4215384"/>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KY</a:t>
            </a:r>
            <a:endParaRPr lang="en-US" sz="800" dirty="0"/>
          </a:p>
        </p:txBody>
      </p:sp>
      <p:sp>
        <p:nvSpPr>
          <p:cNvPr id="58" name="Staat WV"/>
          <p:cNvSpPr/>
          <p:nvPr/>
        </p:nvSpPr>
        <p:spPr>
          <a:xfrm>
            <a:off x="8311896" y="4215384"/>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WV</a:t>
            </a:r>
            <a:endParaRPr lang="en-US" sz="800" dirty="0"/>
          </a:p>
        </p:txBody>
      </p:sp>
      <p:sp>
        <p:nvSpPr>
          <p:cNvPr id="59" name="Staat VA"/>
          <p:cNvSpPr/>
          <p:nvPr/>
        </p:nvSpPr>
        <p:spPr>
          <a:xfrm>
            <a:off x="8622792" y="4215384"/>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VA</a:t>
            </a:r>
            <a:endParaRPr lang="en-US" sz="800" dirty="0"/>
          </a:p>
        </p:txBody>
      </p:sp>
      <p:sp>
        <p:nvSpPr>
          <p:cNvPr id="60" name="Staat MD"/>
          <p:cNvSpPr/>
          <p:nvPr/>
        </p:nvSpPr>
        <p:spPr>
          <a:xfrm>
            <a:off x="8933688" y="4215384"/>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MD</a:t>
            </a:r>
            <a:endParaRPr lang="en-US" sz="800" dirty="0"/>
          </a:p>
        </p:txBody>
      </p:sp>
      <p:sp>
        <p:nvSpPr>
          <p:cNvPr id="61" name="Staat DE"/>
          <p:cNvSpPr/>
          <p:nvPr/>
        </p:nvSpPr>
        <p:spPr>
          <a:xfrm>
            <a:off x="9244584" y="4215384"/>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DE</a:t>
            </a:r>
            <a:endParaRPr lang="en-US" sz="800" dirty="0"/>
          </a:p>
        </p:txBody>
      </p:sp>
      <p:sp>
        <p:nvSpPr>
          <p:cNvPr id="62" name="Staat AZ"/>
          <p:cNvSpPr/>
          <p:nvPr/>
        </p:nvSpPr>
        <p:spPr>
          <a:xfrm>
            <a:off x="6757416"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AZ</a:t>
            </a:r>
            <a:endParaRPr lang="en-US" sz="800" dirty="0"/>
          </a:p>
        </p:txBody>
      </p:sp>
      <p:sp>
        <p:nvSpPr>
          <p:cNvPr id="63" name="Staat NM"/>
          <p:cNvSpPr/>
          <p:nvPr/>
        </p:nvSpPr>
        <p:spPr>
          <a:xfrm>
            <a:off x="7068312" y="4526280"/>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NM</a:t>
            </a:r>
            <a:endParaRPr lang="en-US" sz="800" dirty="0"/>
          </a:p>
        </p:txBody>
      </p:sp>
      <p:sp>
        <p:nvSpPr>
          <p:cNvPr id="64" name="Staat KS"/>
          <p:cNvSpPr/>
          <p:nvPr/>
        </p:nvSpPr>
        <p:spPr>
          <a:xfrm>
            <a:off x="7379208"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KS</a:t>
            </a:r>
            <a:endParaRPr lang="en-US" sz="800" dirty="0"/>
          </a:p>
        </p:txBody>
      </p:sp>
      <p:sp>
        <p:nvSpPr>
          <p:cNvPr id="65" name="Staat AR"/>
          <p:cNvSpPr/>
          <p:nvPr/>
        </p:nvSpPr>
        <p:spPr>
          <a:xfrm>
            <a:off x="7690104"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AR</a:t>
            </a:r>
            <a:endParaRPr lang="en-US" sz="800" dirty="0"/>
          </a:p>
        </p:txBody>
      </p:sp>
      <p:sp>
        <p:nvSpPr>
          <p:cNvPr id="66" name="Staat TN"/>
          <p:cNvSpPr/>
          <p:nvPr/>
        </p:nvSpPr>
        <p:spPr>
          <a:xfrm>
            <a:off x="8001000"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TN</a:t>
            </a:r>
            <a:endParaRPr lang="en-US" sz="800" dirty="0"/>
          </a:p>
        </p:txBody>
      </p:sp>
      <p:sp>
        <p:nvSpPr>
          <p:cNvPr id="67" name="Staat NC"/>
          <p:cNvSpPr/>
          <p:nvPr/>
        </p:nvSpPr>
        <p:spPr>
          <a:xfrm>
            <a:off x="8311896"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NC</a:t>
            </a:r>
            <a:endParaRPr lang="en-US" sz="800" dirty="0"/>
          </a:p>
        </p:txBody>
      </p:sp>
      <p:sp>
        <p:nvSpPr>
          <p:cNvPr id="68" name="Staat SC"/>
          <p:cNvSpPr/>
          <p:nvPr/>
        </p:nvSpPr>
        <p:spPr>
          <a:xfrm>
            <a:off x="8622792" y="4526280"/>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SC</a:t>
            </a:r>
            <a:endParaRPr lang="en-US" sz="800" dirty="0"/>
          </a:p>
        </p:txBody>
      </p:sp>
      <p:sp>
        <p:nvSpPr>
          <p:cNvPr id="69" name="Staat DC"/>
          <p:cNvSpPr/>
          <p:nvPr/>
        </p:nvSpPr>
        <p:spPr>
          <a:xfrm>
            <a:off x="8933688" y="4526280"/>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DC</a:t>
            </a:r>
            <a:endParaRPr lang="en-US" sz="800" dirty="0"/>
          </a:p>
        </p:txBody>
      </p:sp>
      <p:sp>
        <p:nvSpPr>
          <p:cNvPr id="70" name="Staat OK"/>
          <p:cNvSpPr/>
          <p:nvPr/>
        </p:nvSpPr>
        <p:spPr>
          <a:xfrm>
            <a:off x="7379208" y="4837176"/>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OK</a:t>
            </a:r>
            <a:endParaRPr lang="en-US" sz="800" dirty="0"/>
          </a:p>
        </p:txBody>
      </p:sp>
      <p:sp>
        <p:nvSpPr>
          <p:cNvPr id="71" name="Staat LA"/>
          <p:cNvSpPr/>
          <p:nvPr/>
        </p:nvSpPr>
        <p:spPr>
          <a:xfrm>
            <a:off x="7690104" y="4837176"/>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LA</a:t>
            </a:r>
            <a:endParaRPr lang="en-US" sz="800" dirty="0"/>
          </a:p>
        </p:txBody>
      </p:sp>
      <p:sp>
        <p:nvSpPr>
          <p:cNvPr id="72" name="Staat MS"/>
          <p:cNvSpPr/>
          <p:nvPr/>
        </p:nvSpPr>
        <p:spPr>
          <a:xfrm>
            <a:off x="8001000" y="4837176"/>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MS</a:t>
            </a:r>
            <a:endParaRPr lang="en-US" sz="800" dirty="0"/>
          </a:p>
        </p:txBody>
      </p:sp>
      <p:sp>
        <p:nvSpPr>
          <p:cNvPr id="73" name="Staat AL"/>
          <p:cNvSpPr/>
          <p:nvPr/>
        </p:nvSpPr>
        <p:spPr>
          <a:xfrm>
            <a:off x="8311896" y="4837176"/>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AL</a:t>
            </a:r>
            <a:endParaRPr lang="en-US" sz="800" dirty="0"/>
          </a:p>
        </p:txBody>
      </p:sp>
      <p:sp>
        <p:nvSpPr>
          <p:cNvPr id="74" name="Staat GA"/>
          <p:cNvSpPr/>
          <p:nvPr/>
        </p:nvSpPr>
        <p:spPr>
          <a:xfrm>
            <a:off x="8622792" y="4837176"/>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GA</a:t>
            </a:r>
            <a:endParaRPr lang="en-US" sz="800" dirty="0"/>
          </a:p>
        </p:txBody>
      </p:sp>
      <p:sp>
        <p:nvSpPr>
          <p:cNvPr id="75" name="Staat HI"/>
          <p:cNvSpPr/>
          <p:nvPr/>
        </p:nvSpPr>
        <p:spPr>
          <a:xfrm>
            <a:off x="6446520" y="5148072"/>
            <a:ext cx="274320" cy="274320"/>
          </a:xfrm>
          <a:prstGeom prst="roundRect">
            <a:avLst>
              <a:gd name="adj" fmla="val 13333"/>
            </a:avLst>
          </a:prstGeom>
          <a:solidFill>
            <a:schemeClr val="accent5"/>
          </a:solidFill>
          <a:ln/>
        </p:spPr>
        <p:txBody>
          <a:bodyPr wrap="square" lIns="0" tIns="0" rIns="0" bIns="0" rtlCol="0" anchor="ctr"/>
          <a:lstStyle/>
          <a:p>
            <a:pPr algn="ctr" indent="0" marL="0">
              <a:buNone/>
            </a:pPr>
            <a:r>
              <a:rPr lang="en-US" altLang="en-US" sz="800" b="1" dirty="0">
                <a:solidFill>
                  <a:schemeClr val="bg1"/>
                </a:solidFill>
              </a:rPr>
              <a:t>HI</a:t>
            </a:r>
            <a:endParaRPr lang="en-US" sz="800" dirty="0"/>
          </a:p>
        </p:txBody>
      </p:sp>
      <p:sp>
        <p:nvSpPr>
          <p:cNvPr id="76" name="Staat TX"/>
          <p:cNvSpPr/>
          <p:nvPr/>
        </p:nvSpPr>
        <p:spPr>
          <a:xfrm>
            <a:off x="7379208" y="5148072"/>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TX</a:t>
            </a:r>
            <a:endParaRPr lang="en-US" sz="800" dirty="0"/>
          </a:p>
        </p:txBody>
      </p:sp>
      <p:sp>
        <p:nvSpPr>
          <p:cNvPr id="77" name="Staat FL"/>
          <p:cNvSpPr/>
          <p:nvPr/>
        </p:nvSpPr>
        <p:spPr>
          <a:xfrm>
            <a:off x="8933688" y="5148072"/>
            <a:ext cx="274320" cy="274320"/>
          </a:xfrm>
          <a:prstGeom prst="roundRect">
            <a:avLst>
              <a:gd name="adj" fmla="val 13333"/>
            </a:avLst>
          </a:prstGeom>
          <a:solidFill>
            <a:schemeClr val="accent1"/>
          </a:solidFill>
          <a:ln/>
        </p:spPr>
        <p:txBody>
          <a:bodyPr wrap="square" lIns="0" tIns="0" rIns="0" bIns="0" rtlCol="0" anchor="ctr"/>
          <a:lstStyle/>
          <a:p>
            <a:pPr algn="ctr" indent="0" marL="0">
              <a:buNone/>
            </a:pPr>
            <a:r>
              <a:rPr lang="en-US" altLang="en-US" sz="800" b="1" dirty="0">
                <a:solidFill>
                  <a:schemeClr val="bg1"/>
                </a:solidFill>
              </a:rPr>
              <a:t>FL</a:t>
            </a:r>
            <a:endParaRPr lang="en-US" sz="800" dirty="0"/>
          </a:p>
        </p:txBody>
      </p:sp>
      <p:sp>
        <p:nvSpPr>
          <p:cNvPr id="78" name="Shape 76"/>
          <p:cNvSpPr/>
          <p:nvPr/>
        </p:nvSpPr>
        <p:spPr>
          <a:xfrm>
            <a:off x="10149840" y="3026664"/>
            <a:ext cx="164592" cy="164592"/>
          </a:xfrm>
          <a:prstGeom prst="roundRect">
            <a:avLst>
              <a:gd name="adj" fmla="val 16667"/>
            </a:avLst>
          </a:prstGeom>
          <a:solidFill>
            <a:schemeClr val="accent1"/>
          </a:solidFill>
          <a:ln/>
        </p:spPr>
      </p:sp>
      <p:sp>
        <p:nvSpPr>
          <p:cNvPr id="79" name="Text 77"/>
          <p:cNvSpPr txBox="1"/>
          <p:nvPr/>
        </p:nvSpPr>
        <p:spPr>
          <a:xfrm>
            <a:off x="10405872" y="2990088"/>
            <a:ext cx="1008583" cy="219456"/>
          </a:xfrm>
          <a:prstGeom prst="rect">
            <a:avLst/>
          </a:prstGeom>
          <a:noFill/>
          <a:ln/>
        </p:spPr>
        <p:txBody>
          <a:bodyPr wrap="square" lIns="0" tIns="0" rIns="0" bIns="0" rtlCol="0" anchor="t"/>
          <a:lstStyle/>
          <a:p>
            <a:pPr indent="0" marL="0">
              <a:buNone/>
            </a:pPr>
            <a:r>
              <a:rPr lang="de-DE" altLang="en-US" sz="1200" b="1" dirty="0">
                <a:solidFill>
                  <a:schemeClr val="tx1"/>
                </a:solidFill>
              </a:rPr>
              <a:t>Trump (R)</a:t>
            </a:r>
            <a:endParaRPr lang="de-DE" sz="1200" dirty="0"/>
          </a:p>
        </p:txBody>
      </p:sp>
      <p:sp>
        <p:nvSpPr>
          <p:cNvPr id="80" name="Text 78"/>
          <p:cNvSpPr txBox="1"/>
          <p:nvPr/>
        </p:nvSpPr>
        <p:spPr>
          <a:xfrm>
            <a:off x="10405872" y="3209544"/>
            <a:ext cx="1008583" cy="219456"/>
          </a:xfrm>
          <a:prstGeom prst="rect">
            <a:avLst/>
          </a:prstGeom>
          <a:noFill/>
          <a:ln/>
        </p:spPr>
        <p:txBody>
          <a:bodyPr wrap="square" lIns="0" tIns="0" rIns="0" bIns="0" rtlCol="0" anchor="t"/>
          <a:lstStyle/>
          <a:p>
            <a:pPr indent="0" marL="0">
              <a:buNone/>
            </a:pPr>
            <a:r>
              <a:rPr lang="de-DE" altLang="en-US" sz="1200" dirty="0">
                <a:solidFill>
                  <a:schemeClr val="tx2"/>
                </a:solidFill>
              </a:rPr>
              <a:t>30 Staaten</a:t>
            </a:r>
            <a:endParaRPr lang="de-DE" sz="1200" dirty="0"/>
          </a:p>
        </p:txBody>
      </p:sp>
      <p:sp>
        <p:nvSpPr>
          <p:cNvPr id="81" name="Shape 79"/>
          <p:cNvSpPr/>
          <p:nvPr/>
        </p:nvSpPr>
        <p:spPr>
          <a:xfrm>
            <a:off x="10149840" y="3593592"/>
            <a:ext cx="164592" cy="164592"/>
          </a:xfrm>
          <a:prstGeom prst="roundRect">
            <a:avLst>
              <a:gd name="adj" fmla="val 16667"/>
            </a:avLst>
          </a:prstGeom>
          <a:solidFill>
            <a:schemeClr val="accent5"/>
          </a:solidFill>
          <a:ln/>
        </p:spPr>
      </p:sp>
      <p:sp>
        <p:nvSpPr>
          <p:cNvPr id="82" name="Text 80"/>
          <p:cNvSpPr txBox="1"/>
          <p:nvPr/>
        </p:nvSpPr>
        <p:spPr>
          <a:xfrm>
            <a:off x="10405872" y="3557016"/>
            <a:ext cx="1008583" cy="219456"/>
          </a:xfrm>
          <a:prstGeom prst="rect">
            <a:avLst/>
          </a:prstGeom>
          <a:noFill/>
          <a:ln/>
        </p:spPr>
        <p:txBody>
          <a:bodyPr wrap="square" lIns="0" tIns="0" rIns="0" bIns="0" rtlCol="0" anchor="t"/>
          <a:lstStyle/>
          <a:p>
            <a:pPr indent="0" marL="0">
              <a:buNone/>
            </a:pPr>
            <a:r>
              <a:rPr lang="de-DE" altLang="en-US" sz="1200" b="1" dirty="0">
                <a:solidFill>
                  <a:schemeClr val="tx1"/>
                </a:solidFill>
              </a:rPr>
              <a:t>Clinton (D)</a:t>
            </a:r>
            <a:endParaRPr lang="de-DE" sz="1200" dirty="0"/>
          </a:p>
        </p:txBody>
      </p:sp>
      <p:sp>
        <p:nvSpPr>
          <p:cNvPr id="83" name="Text 81"/>
          <p:cNvSpPr txBox="1"/>
          <p:nvPr/>
        </p:nvSpPr>
        <p:spPr>
          <a:xfrm>
            <a:off x="10405872" y="3776472"/>
            <a:ext cx="1008583" cy="219456"/>
          </a:xfrm>
          <a:prstGeom prst="rect">
            <a:avLst/>
          </a:prstGeom>
          <a:noFill/>
          <a:ln/>
        </p:spPr>
        <p:txBody>
          <a:bodyPr wrap="square" lIns="0" tIns="0" rIns="0" bIns="0" rtlCol="0" anchor="t"/>
          <a:lstStyle/>
          <a:p>
            <a:pPr indent="0" marL="0">
              <a:buNone/>
            </a:pPr>
            <a:r>
              <a:rPr lang="de-DE" altLang="en-US" sz="1200" dirty="0">
                <a:solidFill>
                  <a:schemeClr val="tx2"/>
                </a:solidFill>
              </a:rPr>
              <a:t>20 + D.C.</a:t>
            </a:r>
            <a:endParaRPr lang="de-DE" sz="1200" dirty="0"/>
          </a:p>
        </p:txBody>
      </p:sp>
      <p:sp>
        <p:nvSpPr>
          <p:cNvPr id="84" name="Shape 82"/>
          <p:cNvSpPr/>
          <p:nvPr/>
        </p:nvSpPr>
        <p:spPr>
          <a:xfrm>
            <a:off x="10149840" y="4306824"/>
            <a:ext cx="164592" cy="164592"/>
          </a:xfrm>
          <a:prstGeom prst="roundRect">
            <a:avLst>
              <a:gd name="adj" fmla="val 16667"/>
            </a:avLst>
          </a:prstGeom>
          <a:solidFill>
            <a:schemeClr val="bg2"/>
          </a:solidFill>
          <a:ln w="25400">
            <a:solidFill>
              <a:schemeClr val="tx1"/>
            </a:solidFill>
            <a:prstDash val="solid"/>
          </a:ln>
        </p:spPr>
      </p:sp>
      <p:sp>
        <p:nvSpPr>
          <p:cNvPr id="85" name="Text 83"/>
          <p:cNvSpPr txBox="1"/>
          <p:nvPr/>
        </p:nvSpPr>
        <p:spPr>
          <a:xfrm>
            <a:off x="10405872" y="4270248"/>
            <a:ext cx="1008583" cy="219456"/>
          </a:xfrm>
          <a:prstGeom prst="rect">
            <a:avLst/>
          </a:prstGeom>
          <a:noFill/>
          <a:ln/>
        </p:spPr>
        <p:txBody>
          <a:bodyPr wrap="square" lIns="0" tIns="0" rIns="0" bIns="0" rtlCol="0" anchor="t"/>
          <a:lstStyle/>
          <a:p>
            <a:pPr indent="0" marL="0">
              <a:buNone/>
            </a:pPr>
            <a:r>
              <a:rPr lang="de-DE" altLang="en-US" sz="1200" b="1" dirty="0">
                <a:solidFill>
                  <a:schemeClr val="tx1"/>
                </a:solidFill>
              </a:rPr>
              <a:t>Rust Belt</a:t>
            </a:r>
            <a:endParaRPr lang="de-DE" sz="1200" dirty="0"/>
          </a:p>
        </p:txBody>
      </p:sp>
      <p:sp>
        <p:nvSpPr>
          <p:cNvPr id="86" name="Text 84"/>
          <p:cNvSpPr txBox="1"/>
          <p:nvPr/>
        </p:nvSpPr>
        <p:spPr>
          <a:xfrm>
            <a:off x="10149840" y="4544568"/>
            <a:ext cx="1264615" cy="1097280"/>
          </a:xfrm>
          <a:prstGeom prst="rect">
            <a:avLst/>
          </a:prstGeom>
          <a:noFill/>
          <a:ln/>
        </p:spPr>
        <p:txBody>
          <a:bodyPr wrap="square" lIns="0" tIns="0" rIns="0" bIns="0" rtlCol="0" anchor="t"/>
          <a:lstStyle/>
          <a:p>
            <a:pPr indent="0" marL="0">
              <a:buNone/>
            </a:pPr>
            <a:r>
              <a:rPr lang="de-DE" altLang="en-US" sz="1200" dirty="0">
                <a:solidFill>
                  <a:schemeClr val="tx2"/>
                </a:solidFill>
              </a:rPr>
              <a:t>PA, MI und WI entschieden die Wahl – mit zusammen nur ~78.000 Stimmen Vorsprung</a:t>
            </a:r>
            <a:endParaRPr lang="de-DE" sz="1200" dirty="0"/>
          </a:p>
        </p:txBody>
      </p:sp>
      <p:sp>
        <p:nvSpPr>
          <p:cNvPr id="87" name="!!tl-span"/>
          <p:cNvSpPr/>
          <p:nvPr/>
        </p:nvSpPr>
        <p:spPr>
          <a:xfrm>
            <a:off x="677894" y="6117336"/>
            <a:ext cx="18288" cy="54864"/>
          </a:xfrm>
          <a:prstGeom prst="rect">
            <a:avLst/>
          </a:prstGeom>
          <a:solidFill>
            <a:schemeClr val="accent1"/>
          </a:solidFill>
          <a:ln/>
        </p:spPr>
      </p:sp>
      <p:sp>
        <p:nvSpPr>
          <p:cNvPr id="88" name="!!tl-d1"/>
          <p:cNvSpPr/>
          <p:nvPr/>
        </p:nvSpPr>
        <p:spPr>
          <a:xfrm>
            <a:off x="595598" y="6062472"/>
            <a:ext cx="164592" cy="164592"/>
          </a:xfrm>
          <a:prstGeom prst="ellipse">
            <a:avLst/>
          </a:prstGeom>
          <a:solidFill>
            <a:schemeClr val="accent1"/>
          </a:solidFill>
          <a:ln w="19050">
            <a:solidFill>
              <a:schemeClr val="bg1"/>
            </a:solidFill>
            <a:prstDash val="solid"/>
          </a:ln>
        </p:spPr>
      </p:sp>
      <p:sp>
        <p:nvSpPr>
          <p:cNvPr id="89" name="!!tl-label"/>
          <p:cNvSpPr txBox="1"/>
          <p:nvPr/>
        </p:nvSpPr>
        <p:spPr>
          <a:xfrm>
            <a:off x="659606" y="5815584"/>
            <a:ext cx="1371600" cy="201168"/>
          </a:xfrm>
          <a:prstGeom prst="rect">
            <a:avLst/>
          </a:prstGeom>
          <a:noFill/>
          <a:ln/>
        </p:spPr>
        <p:txBody>
          <a:bodyPr wrap="square" lIns="0" tIns="0" rIns="0" bIns="0" rtlCol="0" anchor="t"/>
          <a:lstStyle/>
          <a:p>
            <a:pPr indent="0" marL="0">
              <a:buNone/>
            </a:pPr>
            <a:r>
              <a:rPr lang="de-DE" altLang="en-US" sz="1000" dirty="0">
                <a:solidFill>
                  <a:srgbClr val="6B7488"/>
                </a:solidFill>
              </a:rPr>
              <a:t>Amtsantritt</a:t>
            </a:r>
            <a:endParaRPr lang="de-DE" sz="1000" dirty="0"/>
          </a:p>
        </p:txBody>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02 · WIRTSCHAFT · 2017–2020</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Steuern runter, Zölle rauf</a:t>
            </a:r>
            <a:endParaRPr lang="en-US" sz="3600" dirty="0"/>
          </a:p>
        </p:txBody>
      </p:sp>
      <p:sp>
        <p:nvSpPr>
          <p:cNvPr id="4" name="Shape 2"/>
          <p:cNvSpPr/>
          <p:nvPr/>
        </p:nvSpPr>
        <p:spPr>
          <a:xfrm>
            <a:off x="548640" y="1737360"/>
            <a:ext cx="5394960" cy="2240280"/>
          </a:xfrm>
          <a:prstGeom prst="roundRect">
            <a:avLst>
              <a:gd name="adj" fmla="val 4898"/>
            </a:avLst>
          </a:prstGeom>
          <a:solidFill>
            <a:schemeClr val="tx1"/>
          </a:solidFill>
          <a:ln/>
        </p:spPr>
      </p:sp>
      <p:sp>
        <p:nvSpPr>
          <p:cNvPr id="5" name="Text 3"/>
          <p:cNvSpPr txBox="1"/>
          <p:nvPr/>
        </p:nvSpPr>
        <p:spPr>
          <a:xfrm>
            <a:off x="868680" y="1993392"/>
            <a:ext cx="4572000" cy="228600"/>
          </a:xfrm>
          <a:prstGeom prst="rect">
            <a:avLst/>
          </a:prstGeom>
          <a:noFill/>
          <a:ln/>
        </p:spPr>
        <p:txBody>
          <a:bodyPr wrap="square" lIns="0" tIns="0" rIns="0" bIns="0" rtlCol="0" anchor="t"/>
          <a:lstStyle/>
          <a:p>
            <a:pPr indent="0" marL="0">
              <a:buNone/>
            </a:pPr>
            <a:r>
              <a:rPr lang="de-DE" altLang="en-US" sz="1200" b="1" spc="200" kern="0" dirty="0">
                <a:solidFill>
                  <a:schemeClr val="accent6"/>
                </a:solidFill>
              </a:rPr>
              <a:t>STEUERN RUNTER</a:t>
            </a:r>
            <a:endParaRPr lang="de-DE" sz="1200" dirty="0"/>
          </a:p>
        </p:txBody>
      </p:sp>
      <p:sp>
        <p:nvSpPr>
          <p:cNvPr id="6" name="Text 4"/>
          <p:cNvSpPr txBox="1"/>
          <p:nvPr/>
        </p:nvSpPr>
        <p:spPr>
          <a:xfrm>
            <a:off x="868680" y="2240280"/>
            <a:ext cx="4846320" cy="868680"/>
          </a:xfrm>
          <a:prstGeom prst="rect">
            <a:avLst/>
          </a:prstGeom>
          <a:noFill/>
          <a:ln/>
        </p:spPr>
        <p:txBody>
          <a:bodyPr wrap="square" lIns="0" tIns="0" rIns="0" bIns="0" rtlCol="0" anchor="t"/>
          <a:lstStyle/>
          <a:p>
            <a:pPr indent="0" marL="0">
              <a:buNone/>
            </a:pPr>
            <a:r>
              <a:rPr lang="de-DE" altLang="en-US" sz="6000" b="1" dirty="0">
                <a:solidFill>
                  <a:schemeClr val="bg1"/>
                </a:solidFill>
              </a:rPr>
              <a:t>35 % </a:t>
            </a:r>
            <a:pPr indent="0" marL="0">
              <a:buNone/>
            </a:pPr>
            <a:r>
              <a:rPr lang="de-DE" altLang="en-US" sz="6000" b="1" dirty="0">
                <a:solidFill>
                  <a:schemeClr val="accent6"/>
                </a:solidFill>
              </a:rPr>
              <a:t>→</a:t>
            </a:r>
            <a:pPr indent="0" marL="0">
              <a:buNone/>
            </a:pPr>
            <a:r>
              <a:rPr lang="de-DE" altLang="en-US" sz="6000" b="1" dirty="0">
                <a:solidFill>
                  <a:schemeClr val="bg1"/>
                </a:solidFill>
              </a:rPr>
              <a:t> 21 %</a:t>
            </a:r>
            <a:endParaRPr lang="de-DE" sz="6000" dirty="0"/>
          </a:p>
        </p:txBody>
      </p:sp>
      <p:sp>
        <p:nvSpPr>
          <p:cNvPr id="7" name="Text 5"/>
          <p:cNvSpPr txBox="1"/>
          <p:nvPr/>
        </p:nvSpPr>
        <p:spPr>
          <a:xfrm>
            <a:off x="868680" y="3310128"/>
            <a:ext cx="4754880" cy="548640"/>
          </a:xfrm>
          <a:prstGeom prst="rect">
            <a:avLst/>
          </a:prstGeom>
          <a:noFill/>
          <a:ln/>
        </p:spPr>
        <p:txBody>
          <a:bodyPr wrap="square" lIns="0" tIns="0" rIns="0" bIns="0" rtlCol="0" anchor="t"/>
          <a:lstStyle/>
          <a:p>
            <a:pPr indent="0" marL="0">
              <a:buNone/>
            </a:pPr>
            <a:r>
              <a:rPr lang="de-DE" altLang="en-US" sz="1400" dirty="0">
                <a:solidFill>
                  <a:schemeClr val="accent3"/>
                </a:solidFill>
              </a:rPr>
              <a:t>Unternehmenssteuer – Kern der größten Steuerreform seit 1986 (Dezember 2017)</a:t>
            </a:r>
            <a:endParaRPr lang="de-DE" sz="1400" dirty="0"/>
          </a:p>
        </p:txBody>
      </p:sp>
      <p:sp>
        <p:nvSpPr>
          <p:cNvPr id="8" name="Shape 6"/>
          <p:cNvSpPr/>
          <p:nvPr/>
        </p:nvSpPr>
        <p:spPr>
          <a:xfrm>
            <a:off x="548640" y="4160520"/>
            <a:ext cx="2606040" cy="1554480"/>
          </a:xfrm>
          <a:prstGeom prst="roundRect">
            <a:avLst>
              <a:gd name="adj" fmla="val 7059"/>
            </a:avLst>
          </a:prstGeom>
          <a:solidFill>
            <a:schemeClr val="bg2"/>
          </a:solidFill>
          <a:ln/>
        </p:spPr>
      </p:sp>
      <p:sp>
        <p:nvSpPr>
          <p:cNvPr id="9" name="Text 7"/>
          <p:cNvSpPr txBox="1"/>
          <p:nvPr/>
        </p:nvSpPr>
        <p:spPr>
          <a:xfrm>
            <a:off x="822960" y="4361688"/>
            <a:ext cx="2148840" cy="502920"/>
          </a:xfrm>
          <a:prstGeom prst="rect">
            <a:avLst/>
          </a:prstGeom>
          <a:noFill/>
          <a:ln/>
        </p:spPr>
        <p:txBody>
          <a:bodyPr wrap="square" lIns="0" tIns="0" rIns="0" bIns="0" rtlCol="0" anchor="t"/>
          <a:lstStyle/>
          <a:p>
            <a:pPr indent="0" marL="0">
              <a:buNone/>
            </a:pPr>
            <a:r>
              <a:rPr lang="de-DE" altLang="en-US" sz="3000" b="1" dirty="0">
                <a:solidFill>
                  <a:schemeClr val="tx1"/>
                </a:solidFill>
              </a:rPr>
              <a:t>37 %</a:t>
            </a:r>
            <a:endParaRPr lang="de-DE" sz="3000" dirty="0"/>
          </a:p>
        </p:txBody>
      </p:sp>
      <p:sp>
        <p:nvSpPr>
          <p:cNvPr id="10" name="Text 8"/>
          <p:cNvSpPr txBox="1"/>
          <p:nvPr/>
        </p:nvSpPr>
        <p:spPr>
          <a:xfrm>
            <a:off x="822960" y="4910328"/>
            <a:ext cx="2148840" cy="640080"/>
          </a:xfrm>
          <a:prstGeom prst="rect">
            <a:avLst/>
          </a:prstGeom>
          <a:noFill/>
          <a:ln/>
        </p:spPr>
        <p:txBody>
          <a:bodyPr wrap="square" lIns="0" tIns="0" rIns="0" bIns="0" rtlCol="0" anchor="t"/>
          <a:lstStyle/>
          <a:p>
            <a:pPr indent="0" marL="0">
              <a:buNone/>
            </a:pPr>
            <a:r>
              <a:rPr lang="de-DE" altLang="en-US" sz="1400" dirty="0">
                <a:solidFill>
                  <a:schemeClr val="tx2"/>
                </a:solidFill>
              </a:rPr>
              <a:t>Spitzensteuersatz für Privatleute (vorher 39,6 %)</a:t>
            </a:r>
            <a:endParaRPr lang="de-DE" sz="1400" dirty="0"/>
          </a:p>
        </p:txBody>
      </p:sp>
      <p:sp>
        <p:nvSpPr>
          <p:cNvPr id="11" name="Shape 9"/>
          <p:cNvSpPr/>
          <p:nvPr/>
        </p:nvSpPr>
        <p:spPr>
          <a:xfrm>
            <a:off x="3337560" y="4160520"/>
            <a:ext cx="2606040" cy="1554480"/>
          </a:xfrm>
          <a:prstGeom prst="roundRect">
            <a:avLst>
              <a:gd name="adj" fmla="val 7059"/>
            </a:avLst>
          </a:prstGeom>
          <a:solidFill>
            <a:schemeClr val="bg2"/>
          </a:solidFill>
          <a:ln/>
        </p:spPr>
      </p:sp>
      <p:sp>
        <p:nvSpPr>
          <p:cNvPr id="12" name="Text 10"/>
          <p:cNvSpPr txBox="1"/>
          <p:nvPr/>
        </p:nvSpPr>
        <p:spPr>
          <a:xfrm>
            <a:off x="3611880" y="4361688"/>
            <a:ext cx="2148840" cy="502920"/>
          </a:xfrm>
          <a:prstGeom prst="rect">
            <a:avLst/>
          </a:prstGeom>
          <a:noFill/>
          <a:ln/>
        </p:spPr>
        <p:txBody>
          <a:bodyPr wrap="square" lIns="0" tIns="0" rIns="0" bIns="0" rtlCol="0" anchor="t"/>
          <a:lstStyle/>
          <a:p>
            <a:pPr indent="0" marL="0">
              <a:buNone/>
            </a:pPr>
            <a:r>
              <a:rPr lang="de-DE" altLang="en-US" sz="3000" b="1" dirty="0">
                <a:solidFill>
                  <a:schemeClr val="tx1"/>
                </a:solidFill>
              </a:rPr>
              <a:t>+1,5 Bio. $</a:t>
            </a:r>
            <a:endParaRPr lang="de-DE" sz="3000" dirty="0"/>
          </a:p>
        </p:txBody>
      </p:sp>
      <p:sp>
        <p:nvSpPr>
          <p:cNvPr id="13" name="Text 11"/>
          <p:cNvSpPr txBox="1"/>
          <p:nvPr/>
        </p:nvSpPr>
        <p:spPr>
          <a:xfrm>
            <a:off x="3611880" y="4910328"/>
            <a:ext cx="2148840" cy="640080"/>
          </a:xfrm>
          <a:prstGeom prst="rect">
            <a:avLst/>
          </a:prstGeom>
          <a:noFill/>
          <a:ln/>
        </p:spPr>
        <p:txBody>
          <a:bodyPr wrap="square" lIns="0" tIns="0" rIns="0" bIns="0" rtlCol="0" anchor="t"/>
          <a:lstStyle/>
          <a:p>
            <a:pPr indent="0" marL="0">
              <a:buNone/>
            </a:pPr>
            <a:r>
              <a:rPr lang="de-DE" altLang="en-US" sz="1400" dirty="0">
                <a:solidFill>
                  <a:schemeClr val="tx2"/>
                </a:solidFill>
              </a:rPr>
              <a:t>zusätzliche Schulden in 10 Jahren (Schätzung des Kongresses)</a:t>
            </a:r>
            <a:endParaRPr lang="de-DE" sz="1400" dirty="0"/>
          </a:p>
        </p:txBody>
      </p:sp>
      <p:sp>
        <p:nvSpPr>
          <p:cNvPr id="14" name="Shape 12"/>
          <p:cNvSpPr/>
          <p:nvPr/>
        </p:nvSpPr>
        <p:spPr>
          <a:xfrm>
            <a:off x="6248095" y="1737360"/>
            <a:ext cx="5394960" cy="2240280"/>
          </a:xfrm>
          <a:prstGeom prst="roundRect">
            <a:avLst>
              <a:gd name="adj" fmla="val 4898"/>
            </a:avLst>
          </a:prstGeom>
          <a:solidFill>
            <a:schemeClr val="accent1"/>
          </a:solidFill>
          <a:ln/>
        </p:spPr>
      </p:sp>
      <p:sp>
        <p:nvSpPr>
          <p:cNvPr id="15" name="Text 13"/>
          <p:cNvSpPr txBox="1"/>
          <p:nvPr/>
        </p:nvSpPr>
        <p:spPr>
          <a:xfrm>
            <a:off x="6568135" y="1993392"/>
            <a:ext cx="4572000" cy="228600"/>
          </a:xfrm>
          <a:prstGeom prst="rect">
            <a:avLst/>
          </a:prstGeom>
          <a:noFill/>
          <a:ln/>
        </p:spPr>
        <p:txBody>
          <a:bodyPr wrap="square" lIns="0" tIns="0" rIns="0" bIns="0" rtlCol="0" anchor="t"/>
          <a:lstStyle/>
          <a:p>
            <a:pPr indent="0" marL="0">
              <a:buNone/>
            </a:pPr>
            <a:r>
              <a:rPr lang="de-DE" altLang="en-US" sz="1200" b="1" spc="200" kern="0" dirty="0">
                <a:solidFill>
                  <a:schemeClr val="bg1"/>
                </a:solidFill>
              </a:rPr>
              <a:t>ZÖLLE RAUF</a:t>
            </a:r>
            <a:endParaRPr lang="de-DE" sz="1200" dirty="0"/>
          </a:p>
        </p:txBody>
      </p:sp>
      <p:sp>
        <p:nvSpPr>
          <p:cNvPr id="16" name="Text 14"/>
          <p:cNvSpPr txBox="1"/>
          <p:nvPr/>
        </p:nvSpPr>
        <p:spPr>
          <a:xfrm>
            <a:off x="6568135" y="2240280"/>
            <a:ext cx="4846320" cy="868680"/>
          </a:xfrm>
          <a:prstGeom prst="rect">
            <a:avLst/>
          </a:prstGeom>
          <a:noFill/>
          <a:ln/>
        </p:spPr>
        <p:txBody>
          <a:bodyPr wrap="square" lIns="0" tIns="0" rIns="0" bIns="0" rtlCol="0" anchor="t"/>
          <a:lstStyle/>
          <a:p>
            <a:pPr indent="0" marL="0">
              <a:buNone/>
            </a:pPr>
            <a:r>
              <a:rPr lang="de-DE" altLang="en-US" sz="6000" b="1" dirty="0">
                <a:solidFill>
                  <a:schemeClr val="bg1"/>
                </a:solidFill>
              </a:rPr>
              <a:t>370 Mrd. $</a:t>
            </a:r>
            <a:endParaRPr lang="de-DE" sz="6000" dirty="0"/>
          </a:p>
        </p:txBody>
      </p:sp>
      <p:sp>
        <p:nvSpPr>
          <p:cNvPr id="17" name="Text 15"/>
          <p:cNvSpPr txBox="1"/>
          <p:nvPr/>
        </p:nvSpPr>
        <p:spPr>
          <a:xfrm>
            <a:off x="6568135" y="3310128"/>
            <a:ext cx="4754880" cy="548640"/>
          </a:xfrm>
          <a:prstGeom prst="rect">
            <a:avLst/>
          </a:prstGeom>
          <a:noFill/>
          <a:ln/>
        </p:spPr>
        <p:txBody>
          <a:bodyPr wrap="square" lIns="0" tIns="0" rIns="0" bIns="0" rtlCol="0" anchor="t"/>
          <a:lstStyle/>
          <a:p>
            <a:pPr indent="0" marL="0">
              <a:buNone/>
            </a:pPr>
            <a:r>
              <a:rPr lang="de-DE" altLang="en-US" sz="1400" dirty="0">
                <a:solidFill>
                  <a:schemeClr val="bg1"/>
                </a:solidFill>
              </a:rPr>
              <a:t>chinesische Importe mit Strafzöllen belegt (2018–2019) – der Handelskrieg mit China</a:t>
            </a:r>
            <a:endParaRPr lang="de-DE" sz="1400" dirty="0"/>
          </a:p>
        </p:txBody>
      </p:sp>
      <p:sp>
        <p:nvSpPr>
          <p:cNvPr id="18" name="Shape 16"/>
          <p:cNvSpPr/>
          <p:nvPr/>
        </p:nvSpPr>
        <p:spPr>
          <a:xfrm>
            <a:off x="6248095" y="4160520"/>
            <a:ext cx="2606040" cy="1554480"/>
          </a:xfrm>
          <a:prstGeom prst="roundRect">
            <a:avLst>
              <a:gd name="adj" fmla="val 7059"/>
            </a:avLst>
          </a:prstGeom>
          <a:solidFill>
            <a:schemeClr val="bg2"/>
          </a:solidFill>
          <a:ln/>
        </p:spPr>
      </p:sp>
      <p:sp>
        <p:nvSpPr>
          <p:cNvPr id="19" name="Text 17"/>
          <p:cNvSpPr txBox="1"/>
          <p:nvPr/>
        </p:nvSpPr>
        <p:spPr>
          <a:xfrm>
            <a:off x="6522415" y="4361688"/>
            <a:ext cx="2148840" cy="502920"/>
          </a:xfrm>
          <a:prstGeom prst="rect">
            <a:avLst/>
          </a:prstGeom>
          <a:noFill/>
          <a:ln/>
        </p:spPr>
        <p:txBody>
          <a:bodyPr wrap="square" lIns="0" tIns="0" rIns="0" bIns="0" rtlCol="0" anchor="t"/>
          <a:lstStyle/>
          <a:p>
            <a:pPr indent="0" marL="0">
              <a:buNone/>
            </a:pPr>
            <a:r>
              <a:rPr lang="de-DE" altLang="en-US" sz="3000" b="1" dirty="0">
                <a:solidFill>
                  <a:schemeClr val="tx1"/>
                </a:solidFill>
              </a:rPr>
              <a:t>28 Mrd. $</a:t>
            </a:r>
            <a:endParaRPr lang="de-DE" sz="3000" dirty="0"/>
          </a:p>
        </p:txBody>
      </p:sp>
      <p:sp>
        <p:nvSpPr>
          <p:cNvPr id="20" name="Text 18"/>
          <p:cNvSpPr txBox="1"/>
          <p:nvPr/>
        </p:nvSpPr>
        <p:spPr>
          <a:xfrm>
            <a:off x="6522415" y="4910328"/>
            <a:ext cx="2148840" cy="640080"/>
          </a:xfrm>
          <a:prstGeom prst="rect">
            <a:avLst/>
          </a:prstGeom>
          <a:noFill/>
          <a:ln/>
        </p:spPr>
        <p:txBody>
          <a:bodyPr wrap="square" lIns="0" tIns="0" rIns="0" bIns="0" rtlCol="0" anchor="t"/>
          <a:lstStyle/>
          <a:p>
            <a:pPr indent="0" marL="0">
              <a:buNone/>
            </a:pPr>
            <a:r>
              <a:rPr lang="de-DE" altLang="en-US" sz="1400" dirty="0">
                <a:solidFill>
                  <a:schemeClr val="tx2"/>
                </a:solidFill>
              </a:rPr>
              <a:t>Hilfen für US-Farmer – China konterte mit Zöllen auf Soja &amp; Co.</a:t>
            </a:r>
            <a:endParaRPr lang="de-DE" sz="1400" dirty="0"/>
          </a:p>
        </p:txBody>
      </p:sp>
      <p:sp>
        <p:nvSpPr>
          <p:cNvPr id="21" name="Shape 19"/>
          <p:cNvSpPr/>
          <p:nvPr/>
        </p:nvSpPr>
        <p:spPr>
          <a:xfrm>
            <a:off x="9037015" y="4160520"/>
            <a:ext cx="2606040" cy="1554480"/>
          </a:xfrm>
          <a:prstGeom prst="roundRect">
            <a:avLst>
              <a:gd name="adj" fmla="val 7059"/>
            </a:avLst>
          </a:prstGeom>
          <a:solidFill>
            <a:schemeClr val="bg2"/>
          </a:solidFill>
          <a:ln/>
        </p:spPr>
      </p:sp>
      <p:sp>
        <p:nvSpPr>
          <p:cNvPr id="22" name="Text 20"/>
          <p:cNvSpPr txBox="1"/>
          <p:nvPr/>
        </p:nvSpPr>
        <p:spPr>
          <a:xfrm>
            <a:off x="9311335" y="4361688"/>
            <a:ext cx="2148840" cy="502920"/>
          </a:xfrm>
          <a:prstGeom prst="rect">
            <a:avLst/>
          </a:prstGeom>
          <a:noFill/>
          <a:ln/>
        </p:spPr>
        <p:txBody>
          <a:bodyPr wrap="square" lIns="0" tIns="0" rIns="0" bIns="0" rtlCol="0" anchor="t"/>
          <a:lstStyle/>
          <a:p>
            <a:pPr indent="0" marL="0">
              <a:buNone/>
            </a:pPr>
            <a:r>
              <a:rPr lang="de-DE" altLang="en-US" sz="3000" b="1" dirty="0">
                <a:solidFill>
                  <a:schemeClr val="tx1"/>
                </a:solidFill>
              </a:rPr>
              <a:t>Jan. 2020</a:t>
            </a:r>
            <a:endParaRPr lang="de-DE" sz="3000" dirty="0"/>
          </a:p>
        </p:txBody>
      </p:sp>
      <p:sp>
        <p:nvSpPr>
          <p:cNvPr id="23" name="Text 21"/>
          <p:cNvSpPr txBox="1"/>
          <p:nvPr/>
        </p:nvSpPr>
        <p:spPr>
          <a:xfrm>
            <a:off x="9311335" y="4910328"/>
            <a:ext cx="2148840" cy="640080"/>
          </a:xfrm>
          <a:prstGeom prst="rect">
            <a:avLst/>
          </a:prstGeom>
          <a:noFill/>
          <a:ln/>
        </p:spPr>
        <p:txBody>
          <a:bodyPr wrap="square" lIns="0" tIns="0" rIns="0" bIns="0" rtlCol="0" anchor="t"/>
          <a:lstStyle/>
          <a:p>
            <a:pPr indent="0" marL="0">
              <a:buNone/>
            </a:pPr>
            <a:r>
              <a:rPr lang="de-DE" altLang="en-US" sz="1400" dirty="0">
                <a:solidFill>
                  <a:schemeClr val="tx2"/>
                </a:solidFill>
              </a:rPr>
              <a:t>„Phase One“-Deal: China verspricht Mehrkäufe von 200 Mrd. $</a:t>
            </a:r>
            <a:endParaRPr lang="de-DE" sz="1400" dirty="0"/>
          </a:p>
        </p:txBody>
      </p:sp>
      <p:sp>
        <p:nvSpPr>
          <p:cNvPr id="24" name="!!tl-span"/>
          <p:cNvSpPr/>
          <p:nvPr/>
        </p:nvSpPr>
        <p:spPr>
          <a:xfrm>
            <a:off x="2963649" y="6117336"/>
            <a:ext cx="5129343" cy="54864"/>
          </a:xfrm>
          <a:prstGeom prst="rect">
            <a:avLst/>
          </a:prstGeom>
          <a:solidFill>
            <a:schemeClr val="accent1"/>
          </a:solidFill>
          <a:ln/>
        </p:spPr>
      </p:sp>
      <p:sp>
        <p:nvSpPr>
          <p:cNvPr id="25" name="!!tl-d1"/>
          <p:cNvSpPr/>
          <p:nvPr/>
        </p:nvSpPr>
        <p:spPr>
          <a:xfrm>
            <a:off x="2881353" y="6062472"/>
            <a:ext cx="164592" cy="164592"/>
          </a:xfrm>
          <a:prstGeom prst="ellipse">
            <a:avLst/>
          </a:prstGeom>
          <a:solidFill>
            <a:schemeClr val="accent1"/>
          </a:solidFill>
          <a:ln w="19050">
            <a:solidFill>
              <a:schemeClr val="bg1"/>
            </a:solidFill>
            <a:prstDash val="solid"/>
          </a:ln>
        </p:spPr>
      </p:sp>
      <p:sp>
        <p:nvSpPr>
          <p:cNvPr id="26" name="!!tl-d2"/>
          <p:cNvSpPr/>
          <p:nvPr/>
        </p:nvSpPr>
        <p:spPr>
          <a:xfrm>
            <a:off x="4214710" y="6062472"/>
            <a:ext cx="164592" cy="164592"/>
          </a:xfrm>
          <a:prstGeom prst="ellipse">
            <a:avLst/>
          </a:prstGeom>
          <a:solidFill>
            <a:schemeClr val="accent1"/>
          </a:solidFill>
          <a:ln w="19050">
            <a:solidFill>
              <a:schemeClr val="bg1"/>
            </a:solidFill>
            <a:prstDash val="solid"/>
          </a:ln>
        </p:spPr>
      </p:sp>
      <p:sp>
        <p:nvSpPr>
          <p:cNvPr id="27" name="!!tl-d3"/>
          <p:cNvSpPr/>
          <p:nvPr/>
        </p:nvSpPr>
        <p:spPr>
          <a:xfrm>
            <a:off x="8010696" y="6062472"/>
            <a:ext cx="164592" cy="164592"/>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03 · JUSTIZ · 2017–2020</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Ein Gericht für eine Generation</a:t>
            </a:r>
            <a:endParaRPr lang="en-US" sz="3600" dirty="0"/>
          </a:p>
        </p:txBody>
      </p:sp>
      <p:sp>
        <p:nvSpPr>
          <p:cNvPr id="4" name="Shape 2"/>
          <p:cNvSpPr/>
          <p:nvPr/>
        </p:nvSpPr>
        <p:spPr>
          <a:xfrm>
            <a:off x="548640" y="1737360"/>
            <a:ext cx="3429000" cy="2240280"/>
          </a:xfrm>
          <a:prstGeom prst="roundRect">
            <a:avLst>
              <a:gd name="adj" fmla="val 4898"/>
            </a:avLst>
          </a:prstGeom>
          <a:solidFill>
            <a:schemeClr val="tx1"/>
          </a:solidFill>
          <a:ln/>
        </p:spPr>
      </p:sp>
      <p:sp>
        <p:nvSpPr>
          <p:cNvPr id="5" name="Text 3"/>
          <p:cNvSpPr txBox="1"/>
          <p:nvPr/>
        </p:nvSpPr>
        <p:spPr>
          <a:xfrm>
            <a:off x="822960" y="1993392"/>
            <a:ext cx="2971800" cy="228600"/>
          </a:xfrm>
          <a:prstGeom prst="rect">
            <a:avLst/>
          </a:prstGeom>
          <a:noFill/>
          <a:ln/>
        </p:spPr>
        <p:txBody>
          <a:bodyPr wrap="square" lIns="0" tIns="0" rIns="0" bIns="0" rtlCol="0" anchor="t"/>
          <a:lstStyle/>
          <a:p>
            <a:pPr indent="0" marL="0">
              <a:buNone/>
            </a:pPr>
            <a:r>
              <a:rPr lang="de-DE" altLang="en-US" sz="1200" b="1" spc="200" kern="0" dirty="0">
                <a:solidFill>
                  <a:schemeClr val="accent6"/>
                </a:solidFill>
              </a:rPr>
              <a:t>SUPREME COURT · 2021</a:t>
            </a:r>
            <a:endParaRPr lang="de-DE" sz="1200" dirty="0"/>
          </a:p>
        </p:txBody>
      </p:sp>
      <p:sp>
        <p:nvSpPr>
          <p:cNvPr id="6" name="Text 4"/>
          <p:cNvSpPr txBox="1"/>
          <p:nvPr/>
        </p:nvSpPr>
        <p:spPr>
          <a:xfrm>
            <a:off x="822960" y="2194560"/>
            <a:ext cx="2971800" cy="960120"/>
          </a:xfrm>
          <a:prstGeom prst="rect">
            <a:avLst/>
          </a:prstGeom>
          <a:noFill/>
          <a:ln/>
        </p:spPr>
        <p:txBody>
          <a:bodyPr wrap="square" lIns="0" tIns="0" rIns="0" bIns="0" rtlCol="0" anchor="t"/>
          <a:lstStyle/>
          <a:p>
            <a:pPr indent="0" marL="0">
              <a:buNone/>
            </a:pPr>
            <a:r>
              <a:rPr lang="de-DE" altLang="en-US" sz="7200" b="1" dirty="0">
                <a:solidFill>
                  <a:schemeClr val="bg1"/>
                </a:solidFill>
              </a:rPr>
              <a:t>6 : 3</a:t>
            </a:r>
            <a:endParaRPr lang="de-DE" sz="7200" dirty="0"/>
          </a:p>
        </p:txBody>
      </p:sp>
      <p:sp>
        <p:nvSpPr>
          <p:cNvPr id="7" name="Text 5"/>
          <p:cNvSpPr txBox="1"/>
          <p:nvPr/>
        </p:nvSpPr>
        <p:spPr>
          <a:xfrm>
            <a:off x="822960" y="3310128"/>
            <a:ext cx="2926080" cy="548640"/>
          </a:xfrm>
          <a:prstGeom prst="rect">
            <a:avLst/>
          </a:prstGeom>
          <a:noFill/>
          <a:ln/>
        </p:spPr>
        <p:txBody>
          <a:bodyPr wrap="square" lIns="0" tIns="0" rIns="0" bIns="0" rtlCol="0" anchor="t"/>
          <a:lstStyle/>
          <a:p>
            <a:pPr indent="0" marL="0">
              <a:buNone/>
            </a:pPr>
            <a:r>
              <a:rPr lang="de-DE" altLang="en-US" sz="1400" dirty="0">
                <a:solidFill>
                  <a:schemeClr val="accent3"/>
                </a:solidFill>
              </a:rPr>
              <a:t>konservative Mehrheit – die Richter bleiben auf Lebenszeit</a:t>
            </a:r>
            <a:endParaRPr lang="de-DE" sz="1400" dirty="0"/>
          </a:p>
        </p:txBody>
      </p:sp>
      <p:sp>
        <p:nvSpPr>
          <p:cNvPr id="8" name="Shape 6"/>
          <p:cNvSpPr/>
          <p:nvPr/>
        </p:nvSpPr>
        <p:spPr>
          <a:xfrm>
            <a:off x="548640" y="4160520"/>
            <a:ext cx="3429000" cy="1554480"/>
          </a:xfrm>
          <a:prstGeom prst="roundRect">
            <a:avLst>
              <a:gd name="adj" fmla="val 7059"/>
            </a:avLst>
          </a:prstGeom>
          <a:solidFill>
            <a:schemeClr val="bg2"/>
          </a:solidFill>
          <a:ln/>
        </p:spPr>
      </p:sp>
      <p:sp>
        <p:nvSpPr>
          <p:cNvPr id="9" name="Text 7"/>
          <p:cNvSpPr txBox="1"/>
          <p:nvPr/>
        </p:nvSpPr>
        <p:spPr>
          <a:xfrm>
            <a:off x="822960" y="4361688"/>
            <a:ext cx="2971800" cy="548640"/>
          </a:xfrm>
          <a:prstGeom prst="rect">
            <a:avLst/>
          </a:prstGeom>
          <a:noFill/>
          <a:ln/>
        </p:spPr>
        <p:txBody>
          <a:bodyPr wrap="square" lIns="0" tIns="0" rIns="0" bIns="0" rtlCol="0" anchor="t"/>
          <a:lstStyle/>
          <a:p>
            <a:pPr indent="0" marL="0">
              <a:buNone/>
            </a:pPr>
            <a:r>
              <a:rPr lang="de-DE" altLang="en-US" sz="3400" b="1" dirty="0">
                <a:solidFill>
                  <a:schemeClr val="tx1"/>
                </a:solidFill>
              </a:rPr>
              <a:t>234</a:t>
            </a:r>
            <a:endParaRPr lang="de-DE" sz="3400" dirty="0"/>
          </a:p>
        </p:txBody>
      </p:sp>
      <p:sp>
        <p:nvSpPr>
          <p:cNvPr id="10" name="Text 8"/>
          <p:cNvSpPr txBox="1"/>
          <p:nvPr/>
        </p:nvSpPr>
        <p:spPr>
          <a:xfrm>
            <a:off x="822960" y="4937760"/>
            <a:ext cx="2926080" cy="548640"/>
          </a:xfrm>
          <a:prstGeom prst="rect">
            <a:avLst/>
          </a:prstGeom>
          <a:noFill/>
          <a:ln/>
        </p:spPr>
        <p:txBody>
          <a:bodyPr wrap="square" lIns="0" tIns="0" rIns="0" bIns="0" rtlCol="0" anchor="t"/>
          <a:lstStyle/>
          <a:p>
            <a:pPr indent="0" marL="0">
              <a:buNone/>
            </a:pPr>
            <a:r>
              <a:rPr lang="de-DE" altLang="en-US" sz="1400" dirty="0">
                <a:solidFill>
                  <a:schemeClr val="tx2"/>
                </a:solidFill>
              </a:rPr>
              <a:t>Bundesrichter ernannt – alle auf Lebenszeit</a:t>
            </a:r>
            <a:endParaRPr lang="de-DE" sz="1400" dirty="0"/>
          </a:p>
        </p:txBody>
      </p:sp>
      <p:sp>
        <p:nvSpPr>
          <p:cNvPr id="11" name="Text 9"/>
          <p:cNvSpPr txBox="1"/>
          <p:nvPr/>
        </p:nvSpPr>
        <p:spPr>
          <a:xfrm>
            <a:off x="4251960" y="1847088"/>
            <a:ext cx="1097280" cy="292608"/>
          </a:xfrm>
          <a:prstGeom prst="rect">
            <a:avLst/>
          </a:prstGeom>
          <a:noFill/>
          <a:ln/>
        </p:spPr>
        <p:txBody>
          <a:bodyPr wrap="square" lIns="0" tIns="0" rIns="0" bIns="0" rtlCol="0" anchor="t"/>
          <a:lstStyle/>
          <a:p>
            <a:pPr indent="0" marL="0">
              <a:buNone/>
            </a:pPr>
            <a:r>
              <a:rPr lang="de-DE" altLang="en-US" sz="1800" b="1" dirty="0">
                <a:solidFill>
                  <a:schemeClr val="tx1"/>
                </a:solidFill>
              </a:rPr>
              <a:t>2017</a:t>
            </a:r>
            <a:endParaRPr lang="de-DE" sz="1800" dirty="0"/>
          </a:p>
        </p:txBody>
      </p:sp>
      <p:sp>
        <p:nvSpPr>
          <p:cNvPr id="12" name="Text 10"/>
          <p:cNvSpPr txBox="1"/>
          <p:nvPr/>
        </p:nvSpPr>
        <p:spPr>
          <a:xfrm>
            <a:off x="4251960" y="2139696"/>
            <a:ext cx="1097280" cy="228600"/>
          </a:xfrm>
          <a:prstGeom prst="rect">
            <a:avLst/>
          </a:prstGeom>
          <a:noFill/>
          <a:ln/>
        </p:spPr>
        <p:txBody>
          <a:bodyPr wrap="square" lIns="0" tIns="0" rIns="0" bIns="0" rtlCol="0" anchor="t"/>
          <a:lstStyle/>
          <a:p>
            <a:pPr indent="0" marL="0">
              <a:buNone/>
            </a:pPr>
            <a:r>
              <a:rPr lang="de-DE" altLang="en-US" sz="1100" dirty="0">
                <a:solidFill>
                  <a:schemeClr val="tx2"/>
                </a:solidFill>
              </a:rPr>
              <a:t>bei Amtsantritt</a:t>
            </a:r>
            <a:endParaRPr lang="de-DE" sz="1100" dirty="0"/>
          </a:p>
        </p:txBody>
      </p:sp>
      <p:sp>
        <p:nvSpPr>
          <p:cNvPr id="13" name="Text 11"/>
          <p:cNvSpPr txBox="1"/>
          <p:nvPr/>
        </p:nvSpPr>
        <p:spPr>
          <a:xfrm>
            <a:off x="4251960" y="2871216"/>
            <a:ext cx="1097280" cy="292608"/>
          </a:xfrm>
          <a:prstGeom prst="rect">
            <a:avLst/>
          </a:prstGeom>
          <a:noFill/>
          <a:ln/>
        </p:spPr>
        <p:txBody>
          <a:bodyPr wrap="square" lIns="0" tIns="0" rIns="0" bIns="0" rtlCol="0" anchor="t"/>
          <a:lstStyle/>
          <a:p>
            <a:pPr indent="0" marL="0">
              <a:buNone/>
            </a:pPr>
            <a:r>
              <a:rPr lang="de-DE" altLang="en-US" sz="1800" b="1" dirty="0">
                <a:solidFill>
                  <a:schemeClr val="tx1"/>
                </a:solidFill>
              </a:rPr>
              <a:t>2021</a:t>
            </a:r>
            <a:endParaRPr lang="de-DE" sz="1800" dirty="0"/>
          </a:p>
        </p:txBody>
      </p:sp>
      <p:sp>
        <p:nvSpPr>
          <p:cNvPr id="14" name="Text 12"/>
          <p:cNvSpPr txBox="1"/>
          <p:nvPr/>
        </p:nvSpPr>
        <p:spPr>
          <a:xfrm>
            <a:off x="4251960" y="3163824"/>
            <a:ext cx="1097280" cy="228600"/>
          </a:xfrm>
          <a:prstGeom prst="rect">
            <a:avLst/>
          </a:prstGeom>
          <a:noFill/>
          <a:ln/>
        </p:spPr>
        <p:txBody>
          <a:bodyPr wrap="square" lIns="0" tIns="0" rIns="0" bIns="0" rtlCol="0" anchor="t"/>
          <a:lstStyle/>
          <a:p>
            <a:pPr indent="0" marL="0">
              <a:buNone/>
            </a:pPr>
            <a:r>
              <a:rPr lang="de-DE" altLang="en-US" sz="1100" dirty="0">
                <a:solidFill>
                  <a:schemeClr val="tx2"/>
                </a:solidFill>
              </a:rPr>
              <a:t>bei Amtsende</a:t>
            </a:r>
            <a:endParaRPr lang="de-DE" sz="1100" dirty="0"/>
          </a:p>
        </p:txBody>
      </p:sp>
      <p:sp>
        <p:nvSpPr>
          <p:cNvPr id="15" name="Shape 13"/>
          <p:cNvSpPr/>
          <p:nvPr/>
        </p:nvSpPr>
        <p:spPr>
          <a:xfrm>
            <a:off x="5440680" y="1847088"/>
            <a:ext cx="512064" cy="512064"/>
          </a:xfrm>
          <a:prstGeom prst="ellipse">
            <a:avLst/>
          </a:prstGeom>
          <a:solidFill>
            <a:schemeClr val="tx1"/>
          </a:solidFill>
          <a:ln/>
        </p:spPr>
      </p:sp>
      <p:sp>
        <p:nvSpPr>
          <p:cNvPr id="16" name="Shape 14"/>
          <p:cNvSpPr/>
          <p:nvPr/>
        </p:nvSpPr>
        <p:spPr>
          <a:xfrm>
            <a:off x="6135624" y="1847088"/>
            <a:ext cx="512064" cy="512064"/>
          </a:xfrm>
          <a:prstGeom prst="ellipse">
            <a:avLst/>
          </a:prstGeom>
          <a:solidFill>
            <a:schemeClr val="tx1"/>
          </a:solidFill>
          <a:ln/>
        </p:spPr>
      </p:sp>
      <p:sp>
        <p:nvSpPr>
          <p:cNvPr id="17" name="Shape 15"/>
          <p:cNvSpPr/>
          <p:nvPr/>
        </p:nvSpPr>
        <p:spPr>
          <a:xfrm>
            <a:off x="6830568" y="1847088"/>
            <a:ext cx="512064" cy="512064"/>
          </a:xfrm>
          <a:prstGeom prst="ellipse">
            <a:avLst/>
          </a:prstGeom>
          <a:solidFill>
            <a:schemeClr val="tx1"/>
          </a:solidFill>
          <a:ln/>
        </p:spPr>
      </p:sp>
      <p:sp>
        <p:nvSpPr>
          <p:cNvPr id="18" name="Shape 16"/>
          <p:cNvSpPr/>
          <p:nvPr/>
        </p:nvSpPr>
        <p:spPr>
          <a:xfrm>
            <a:off x="7525512" y="1847088"/>
            <a:ext cx="512064" cy="512064"/>
          </a:xfrm>
          <a:prstGeom prst="ellipse">
            <a:avLst/>
          </a:prstGeom>
          <a:solidFill>
            <a:schemeClr val="bg1"/>
          </a:solidFill>
          <a:ln w="19050">
            <a:solidFill>
              <a:schemeClr val="tx1"/>
            </a:solidFill>
            <a:prstDash val="solid"/>
          </a:ln>
        </p:spPr>
      </p:sp>
      <p:sp>
        <p:nvSpPr>
          <p:cNvPr id="19" name="Text 17"/>
          <p:cNvSpPr txBox="1"/>
          <p:nvPr/>
        </p:nvSpPr>
        <p:spPr>
          <a:xfrm>
            <a:off x="7415784" y="2395728"/>
            <a:ext cx="731520" cy="182880"/>
          </a:xfrm>
          <a:prstGeom prst="rect">
            <a:avLst/>
          </a:prstGeom>
          <a:noFill/>
          <a:ln/>
        </p:spPr>
        <p:txBody>
          <a:bodyPr wrap="square" lIns="0" tIns="0" rIns="0" bIns="0" rtlCol="0" anchor="t"/>
          <a:lstStyle/>
          <a:p>
            <a:pPr algn="ctr" indent="0" marL="0">
              <a:buNone/>
            </a:pPr>
            <a:r>
              <a:rPr lang="de-DE" altLang="en-US" sz="1000" dirty="0">
                <a:solidFill>
                  <a:schemeClr val="tx2"/>
                </a:solidFill>
              </a:rPr>
              <a:t>frei</a:t>
            </a:r>
            <a:endParaRPr lang="de-DE" sz="1000" dirty="0"/>
          </a:p>
        </p:txBody>
      </p:sp>
      <p:sp>
        <p:nvSpPr>
          <p:cNvPr id="20" name="Shape 18"/>
          <p:cNvSpPr/>
          <p:nvPr/>
        </p:nvSpPr>
        <p:spPr>
          <a:xfrm>
            <a:off x="8220456" y="1847088"/>
            <a:ext cx="512064" cy="512064"/>
          </a:xfrm>
          <a:prstGeom prst="ellipse">
            <a:avLst/>
          </a:prstGeom>
          <a:solidFill>
            <a:schemeClr val="accent4"/>
          </a:solidFill>
          <a:ln/>
        </p:spPr>
      </p:sp>
      <p:sp>
        <p:nvSpPr>
          <p:cNvPr id="21" name="Text 19"/>
          <p:cNvSpPr txBox="1"/>
          <p:nvPr/>
        </p:nvSpPr>
        <p:spPr>
          <a:xfrm>
            <a:off x="8110728" y="2395728"/>
            <a:ext cx="731520" cy="182880"/>
          </a:xfrm>
          <a:prstGeom prst="rect">
            <a:avLst/>
          </a:prstGeom>
          <a:noFill/>
          <a:ln/>
        </p:spPr>
        <p:txBody>
          <a:bodyPr wrap="square" lIns="0" tIns="0" rIns="0" bIns="0" rtlCol="0" anchor="t"/>
          <a:lstStyle/>
          <a:p>
            <a:pPr algn="ctr" indent="0" marL="0">
              <a:buNone/>
            </a:pPr>
            <a:r>
              <a:rPr lang="de-DE" altLang="en-US" sz="1000" dirty="0">
                <a:solidFill>
                  <a:schemeClr val="tx2"/>
                </a:solidFill>
              </a:rPr>
              <a:t>Kennedy</a:t>
            </a:r>
            <a:endParaRPr lang="de-DE" sz="1000" dirty="0"/>
          </a:p>
        </p:txBody>
      </p:sp>
      <p:sp>
        <p:nvSpPr>
          <p:cNvPr id="22" name="Shape 20"/>
          <p:cNvSpPr/>
          <p:nvPr/>
        </p:nvSpPr>
        <p:spPr>
          <a:xfrm>
            <a:off x="8915400" y="1847088"/>
            <a:ext cx="512064" cy="512064"/>
          </a:xfrm>
          <a:prstGeom prst="ellipse">
            <a:avLst/>
          </a:prstGeom>
          <a:solidFill>
            <a:srgbClr val="D5DBE4"/>
          </a:solidFill>
          <a:ln/>
        </p:spPr>
      </p:sp>
      <p:sp>
        <p:nvSpPr>
          <p:cNvPr id="23" name="Text 21"/>
          <p:cNvSpPr txBox="1"/>
          <p:nvPr/>
        </p:nvSpPr>
        <p:spPr>
          <a:xfrm>
            <a:off x="8805672" y="2395728"/>
            <a:ext cx="731520" cy="182880"/>
          </a:xfrm>
          <a:prstGeom prst="rect">
            <a:avLst/>
          </a:prstGeom>
          <a:noFill/>
          <a:ln/>
        </p:spPr>
        <p:txBody>
          <a:bodyPr wrap="square" lIns="0" tIns="0" rIns="0" bIns="0" rtlCol="0" anchor="t"/>
          <a:lstStyle/>
          <a:p>
            <a:pPr algn="ctr" indent="0" marL="0">
              <a:buNone/>
            </a:pPr>
            <a:r>
              <a:rPr lang="de-DE" altLang="en-US" sz="1000" dirty="0">
                <a:solidFill>
                  <a:schemeClr val="tx2"/>
                </a:solidFill>
              </a:rPr>
              <a:t>Ginsburg</a:t>
            </a:r>
            <a:endParaRPr lang="de-DE" sz="1000" dirty="0"/>
          </a:p>
        </p:txBody>
      </p:sp>
      <p:sp>
        <p:nvSpPr>
          <p:cNvPr id="24" name="Shape 22"/>
          <p:cNvSpPr/>
          <p:nvPr/>
        </p:nvSpPr>
        <p:spPr>
          <a:xfrm>
            <a:off x="9610344" y="1847088"/>
            <a:ext cx="512064" cy="512064"/>
          </a:xfrm>
          <a:prstGeom prst="ellipse">
            <a:avLst/>
          </a:prstGeom>
          <a:solidFill>
            <a:srgbClr val="D5DBE4"/>
          </a:solidFill>
          <a:ln/>
        </p:spPr>
      </p:sp>
      <p:sp>
        <p:nvSpPr>
          <p:cNvPr id="25" name="Shape 23"/>
          <p:cNvSpPr/>
          <p:nvPr/>
        </p:nvSpPr>
        <p:spPr>
          <a:xfrm>
            <a:off x="10305288" y="1847088"/>
            <a:ext cx="512064" cy="512064"/>
          </a:xfrm>
          <a:prstGeom prst="ellipse">
            <a:avLst/>
          </a:prstGeom>
          <a:solidFill>
            <a:srgbClr val="D5DBE4"/>
          </a:solidFill>
          <a:ln/>
        </p:spPr>
      </p:sp>
      <p:sp>
        <p:nvSpPr>
          <p:cNvPr id="26" name="Shape 24"/>
          <p:cNvSpPr/>
          <p:nvPr/>
        </p:nvSpPr>
        <p:spPr>
          <a:xfrm>
            <a:off x="11000232" y="1847088"/>
            <a:ext cx="512064" cy="512064"/>
          </a:xfrm>
          <a:prstGeom prst="ellipse">
            <a:avLst/>
          </a:prstGeom>
          <a:solidFill>
            <a:srgbClr val="D5DBE4"/>
          </a:solidFill>
          <a:ln/>
        </p:spPr>
      </p:sp>
      <p:sp>
        <p:nvSpPr>
          <p:cNvPr id="27" name="Shape 25"/>
          <p:cNvSpPr/>
          <p:nvPr/>
        </p:nvSpPr>
        <p:spPr>
          <a:xfrm>
            <a:off x="5440680" y="2871216"/>
            <a:ext cx="512064" cy="512064"/>
          </a:xfrm>
          <a:prstGeom prst="ellipse">
            <a:avLst/>
          </a:prstGeom>
          <a:solidFill>
            <a:schemeClr val="tx1"/>
          </a:solidFill>
          <a:ln/>
        </p:spPr>
      </p:sp>
      <p:sp>
        <p:nvSpPr>
          <p:cNvPr id="28" name="Text 26"/>
          <p:cNvSpPr txBox="1"/>
          <p:nvPr/>
        </p:nvSpPr>
        <p:spPr>
          <a:xfrm>
            <a:off x="5330952" y="3419856"/>
            <a:ext cx="731520" cy="182880"/>
          </a:xfrm>
          <a:prstGeom prst="rect">
            <a:avLst/>
          </a:prstGeom>
          <a:noFill/>
          <a:ln/>
        </p:spPr>
        <p:txBody>
          <a:bodyPr wrap="square" lIns="0" tIns="0" rIns="0" bIns="0" rtlCol="0" anchor="t"/>
          <a:lstStyle/>
          <a:p>
            <a:pPr algn="ctr" indent="0" marL="0">
              <a:buNone/>
            </a:pPr>
            <a:r>
              <a:rPr lang="de-DE" altLang="en-US" sz="1000" dirty="0">
                <a:solidFill>
                  <a:schemeClr val="tx2"/>
                </a:solidFill>
              </a:rPr>
              <a:t>Roberts</a:t>
            </a:r>
            <a:endParaRPr lang="de-DE" sz="1000" dirty="0"/>
          </a:p>
        </p:txBody>
      </p:sp>
      <p:sp>
        <p:nvSpPr>
          <p:cNvPr id="29" name="Shape 27"/>
          <p:cNvSpPr/>
          <p:nvPr/>
        </p:nvSpPr>
        <p:spPr>
          <a:xfrm>
            <a:off x="6135624" y="2871216"/>
            <a:ext cx="512064" cy="512064"/>
          </a:xfrm>
          <a:prstGeom prst="ellipse">
            <a:avLst/>
          </a:prstGeom>
          <a:solidFill>
            <a:schemeClr val="tx1"/>
          </a:solidFill>
          <a:ln/>
        </p:spPr>
      </p:sp>
      <p:sp>
        <p:nvSpPr>
          <p:cNvPr id="30" name="Text 28"/>
          <p:cNvSpPr txBox="1"/>
          <p:nvPr/>
        </p:nvSpPr>
        <p:spPr>
          <a:xfrm>
            <a:off x="6025896" y="3419856"/>
            <a:ext cx="731520" cy="182880"/>
          </a:xfrm>
          <a:prstGeom prst="rect">
            <a:avLst/>
          </a:prstGeom>
          <a:noFill/>
          <a:ln/>
        </p:spPr>
        <p:txBody>
          <a:bodyPr wrap="square" lIns="0" tIns="0" rIns="0" bIns="0" rtlCol="0" anchor="t"/>
          <a:lstStyle/>
          <a:p>
            <a:pPr algn="ctr" indent="0" marL="0">
              <a:buNone/>
            </a:pPr>
            <a:r>
              <a:rPr lang="de-DE" altLang="en-US" sz="1000" dirty="0">
                <a:solidFill>
                  <a:schemeClr val="tx2"/>
                </a:solidFill>
              </a:rPr>
              <a:t>Thomas</a:t>
            </a:r>
            <a:endParaRPr lang="de-DE" sz="1000" dirty="0"/>
          </a:p>
        </p:txBody>
      </p:sp>
      <p:sp>
        <p:nvSpPr>
          <p:cNvPr id="31" name="Shape 29"/>
          <p:cNvSpPr/>
          <p:nvPr/>
        </p:nvSpPr>
        <p:spPr>
          <a:xfrm>
            <a:off x="6830568" y="2871216"/>
            <a:ext cx="512064" cy="512064"/>
          </a:xfrm>
          <a:prstGeom prst="ellipse">
            <a:avLst/>
          </a:prstGeom>
          <a:solidFill>
            <a:schemeClr val="tx1"/>
          </a:solidFill>
          <a:ln/>
        </p:spPr>
      </p:sp>
      <p:sp>
        <p:nvSpPr>
          <p:cNvPr id="32" name="Text 30"/>
          <p:cNvSpPr txBox="1"/>
          <p:nvPr/>
        </p:nvSpPr>
        <p:spPr>
          <a:xfrm>
            <a:off x="6720840" y="3419856"/>
            <a:ext cx="731520" cy="182880"/>
          </a:xfrm>
          <a:prstGeom prst="rect">
            <a:avLst/>
          </a:prstGeom>
          <a:noFill/>
          <a:ln/>
        </p:spPr>
        <p:txBody>
          <a:bodyPr wrap="square" lIns="0" tIns="0" rIns="0" bIns="0" rtlCol="0" anchor="t"/>
          <a:lstStyle/>
          <a:p>
            <a:pPr algn="ctr" indent="0" marL="0">
              <a:buNone/>
            </a:pPr>
            <a:r>
              <a:rPr lang="de-DE" altLang="en-US" sz="1000" dirty="0">
                <a:solidFill>
                  <a:schemeClr val="tx2"/>
                </a:solidFill>
              </a:rPr>
              <a:t>Alito</a:t>
            </a:r>
            <a:endParaRPr lang="de-DE" sz="1000" dirty="0"/>
          </a:p>
        </p:txBody>
      </p:sp>
      <p:sp>
        <p:nvSpPr>
          <p:cNvPr id="33" name="Shape 31"/>
          <p:cNvSpPr/>
          <p:nvPr/>
        </p:nvSpPr>
        <p:spPr>
          <a:xfrm>
            <a:off x="7525512" y="2871216"/>
            <a:ext cx="512064" cy="512064"/>
          </a:xfrm>
          <a:prstGeom prst="ellipse">
            <a:avLst/>
          </a:prstGeom>
          <a:solidFill>
            <a:schemeClr val="accent1"/>
          </a:solidFill>
          <a:ln/>
        </p:spPr>
      </p:sp>
      <p:sp>
        <p:nvSpPr>
          <p:cNvPr id="34" name="Text 32"/>
          <p:cNvSpPr txBox="1"/>
          <p:nvPr/>
        </p:nvSpPr>
        <p:spPr>
          <a:xfrm>
            <a:off x="7415784" y="3419856"/>
            <a:ext cx="731520" cy="182880"/>
          </a:xfrm>
          <a:prstGeom prst="rect">
            <a:avLst/>
          </a:prstGeom>
          <a:noFill/>
          <a:ln/>
        </p:spPr>
        <p:txBody>
          <a:bodyPr wrap="square" lIns="0" tIns="0" rIns="0" bIns="0" rtlCol="0" anchor="t"/>
          <a:lstStyle/>
          <a:p>
            <a:pPr algn="ctr" indent="0" marL="0">
              <a:buNone/>
            </a:pPr>
            <a:r>
              <a:rPr lang="de-DE" altLang="en-US" sz="1000" b="1" dirty="0">
                <a:solidFill>
                  <a:schemeClr val="accent1"/>
                </a:solidFill>
              </a:rPr>
              <a:t>Gorsuch</a:t>
            </a:r>
            <a:endParaRPr lang="de-DE" sz="1000" dirty="0"/>
          </a:p>
        </p:txBody>
      </p:sp>
      <p:sp>
        <p:nvSpPr>
          <p:cNvPr id="35" name="Shape 33"/>
          <p:cNvSpPr/>
          <p:nvPr/>
        </p:nvSpPr>
        <p:spPr>
          <a:xfrm>
            <a:off x="8220456" y="2871216"/>
            <a:ext cx="512064" cy="512064"/>
          </a:xfrm>
          <a:prstGeom prst="ellipse">
            <a:avLst/>
          </a:prstGeom>
          <a:solidFill>
            <a:schemeClr val="accent1"/>
          </a:solidFill>
          <a:ln/>
        </p:spPr>
      </p:sp>
      <p:sp>
        <p:nvSpPr>
          <p:cNvPr id="36" name="Text 34"/>
          <p:cNvSpPr txBox="1"/>
          <p:nvPr/>
        </p:nvSpPr>
        <p:spPr>
          <a:xfrm>
            <a:off x="8110728" y="3419856"/>
            <a:ext cx="731520" cy="182880"/>
          </a:xfrm>
          <a:prstGeom prst="rect">
            <a:avLst/>
          </a:prstGeom>
          <a:noFill/>
          <a:ln/>
        </p:spPr>
        <p:txBody>
          <a:bodyPr wrap="square" lIns="0" tIns="0" rIns="0" bIns="0" rtlCol="0" anchor="t"/>
          <a:lstStyle/>
          <a:p>
            <a:pPr algn="ctr" indent="0" marL="0">
              <a:buNone/>
            </a:pPr>
            <a:r>
              <a:rPr lang="de-DE" altLang="en-US" sz="1000" b="1" dirty="0">
                <a:solidFill>
                  <a:schemeClr val="accent1"/>
                </a:solidFill>
              </a:rPr>
              <a:t>Kavanaugh</a:t>
            </a:r>
            <a:endParaRPr lang="de-DE" sz="1000" dirty="0"/>
          </a:p>
        </p:txBody>
      </p:sp>
      <p:sp>
        <p:nvSpPr>
          <p:cNvPr id="37" name="Shape 35"/>
          <p:cNvSpPr/>
          <p:nvPr/>
        </p:nvSpPr>
        <p:spPr>
          <a:xfrm>
            <a:off x="8915400" y="2871216"/>
            <a:ext cx="512064" cy="512064"/>
          </a:xfrm>
          <a:prstGeom prst="ellipse">
            <a:avLst/>
          </a:prstGeom>
          <a:solidFill>
            <a:schemeClr val="accent1"/>
          </a:solidFill>
          <a:ln/>
        </p:spPr>
      </p:sp>
      <p:sp>
        <p:nvSpPr>
          <p:cNvPr id="38" name="Text 36"/>
          <p:cNvSpPr txBox="1"/>
          <p:nvPr/>
        </p:nvSpPr>
        <p:spPr>
          <a:xfrm>
            <a:off x="8805672" y="3419856"/>
            <a:ext cx="731520" cy="182880"/>
          </a:xfrm>
          <a:prstGeom prst="rect">
            <a:avLst/>
          </a:prstGeom>
          <a:noFill/>
          <a:ln/>
        </p:spPr>
        <p:txBody>
          <a:bodyPr wrap="square" lIns="0" tIns="0" rIns="0" bIns="0" rtlCol="0" anchor="t"/>
          <a:lstStyle/>
          <a:p>
            <a:pPr algn="ctr" indent="0" marL="0">
              <a:buNone/>
            </a:pPr>
            <a:r>
              <a:rPr lang="de-DE" altLang="en-US" sz="1000" b="1" dirty="0">
                <a:solidFill>
                  <a:schemeClr val="accent1"/>
                </a:solidFill>
              </a:rPr>
              <a:t>Barrett</a:t>
            </a:r>
            <a:endParaRPr lang="de-DE" sz="1000" dirty="0"/>
          </a:p>
        </p:txBody>
      </p:sp>
      <p:sp>
        <p:nvSpPr>
          <p:cNvPr id="39" name="Shape 37"/>
          <p:cNvSpPr/>
          <p:nvPr/>
        </p:nvSpPr>
        <p:spPr>
          <a:xfrm>
            <a:off x="9610344" y="2871216"/>
            <a:ext cx="512064" cy="512064"/>
          </a:xfrm>
          <a:prstGeom prst="ellipse">
            <a:avLst/>
          </a:prstGeom>
          <a:solidFill>
            <a:srgbClr val="D5DBE4"/>
          </a:solidFill>
          <a:ln/>
        </p:spPr>
      </p:sp>
      <p:sp>
        <p:nvSpPr>
          <p:cNvPr id="40" name="Text 38"/>
          <p:cNvSpPr txBox="1"/>
          <p:nvPr/>
        </p:nvSpPr>
        <p:spPr>
          <a:xfrm>
            <a:off x="9500616" y="3419856"/>
            <a:ext cx="731520" cy="182880"/>
          </a:xfrm>
          <a:prstGeom prst="rect">
            <a:avLst/>
          </a:prstGeom>
          <a:noFill/>
          <a:ln/>
        </p:spPr>
        <p:txBody>
          <a:bodyPr wrap="square" lIns="0" tIns="0" rIns="0" bIns="0" rtlCol="0" anchor="t"/>
          <a:lstStyle/>
          <a:p>
            <a:pPr algn="ctr" indent="0" marL="0">
              <a:buNone/>
            </a:pPr>
            <a:r>
              <a:rPr lang="de-DE" altLang="en-US" sz="1000" dirty="0">
                <a:solidFill>
                  <a:schemeClr val="tx2"/>
                </a:solidFill>
              </a:rPr>
              <a:t>Breyer</a:t>
            </a:r>
            <a:endParaRPr lang="de-DE" sz="1000" dirty="0"/>
          </a:p>
        </p:txBody>
      </p:sp>
      <p:sp>
        <p:nvSpPr>
          <p:cNvPr id="41" name="Shape 39"/>
          <p:cNvSpPr/>
          <p:nvPr/>
        </p:nvSpPr>
        <p:spPr>
          <a:xfrm>
            <a:off x="10305288" y="2871216"/>
            <a:ext cx="512064" cy="512064"/>
          </a:xfrm>
          <a:prstGeom prst="ellipse">
            <a:avLst/>
          </a:prstGeom>
          <a:solidFill>
            <a:srgbClr val="D5DBE4"/>
          </a:solidFill>
          <a:ln/>
        </p:spPr>
      </p:sp>
      <p:sp>
        <p:nvSpPr>
          <p:cNvPr id="42" name="Text 40"/>
          <p:cNvSpPr txBox="1"/>
          <p:nvPr/>
        </p:nvSpPr>
        <p:spPr>
          <a:xfrm>
            <a:off x="10195560" y="3419856"/>
            <a:ext cx="731520" cy="182880"/>
          </a:xfrm>
          <a:prstGeom prst="rect">
            <a:avLst/>
          </a:prstGeom>
          <a:noFill/>
          <a:ln/>
        </p:spPr>
        <p:txBody>
          <a:bodyPr wrap="square" lIns="0" tIns="0" rIns="0" bIns="0" rtlCol="0" anchor="t"/>
          <a:lstStyle/>
          <a:p>
            <a:pPr algn="ctr" indent="0" marL="0">
              <a:buNone/>
            </a:pPr>
            <a:r>
              <a:rPr lang="de-DE" altLang="en-US" sz="1000" dirty="0">
                <a:solidFill>
                  <a:schemeClr val="tx2"/>
                </a:solidFill>
              </a:rPr>
              <a:t>Sotomayor</a:t>
            </a:r>
            <a:endParaRPr lang="de-DE" sz="1000" dirty="0"/>
          </a:p>
        </p:txBody>
      </p:sp>
      <p:sp>
        <p:nvSpPr>
          <p:cNvPr id="43" name="Shape 41"/>
          <p:cNvSpPr/>
          <p:nvPr/>
        </p:nvSpPr>
        <p:spPr>
          <a:xfrm>
            <a:off x="11000232" y="2871216"/>
            <a:ext cx="512064" cy="512064"/>
          </a:xfrm>
          <a:prstGeom prst="ellipse">
            <a:avLst/>
          </a:prstGeom>
          <a:solidFill>
            <a:srgbClr val="D5DBE4"/>
          </a:solidFill>
          <a:ln/>
        </p:spPr>
      </p:sp>
      <p:sp>
        <p:nvSpPr>
          <p:cNvPr id="44" name="Text 42"/>
          <p:cNvSpPr txBox="1"/>
          <p:nvPr/>
        </p:nvSpPr>
        <p:spPr>
          <a:xfrm>
            <a:off x="10890504" y="3419856"/>
            <a:ext cx="731520" cy="182880"/>
          </a:xfrm>
          <a:prstGeom prst="rect">
            <a:avLst/>
          </a:prstGeom>
          <a:noFill/>
          <a:ln/>
        </p:spPr>
        <p:txBody>
          <a:bodyPr wrap="square" lIns="0" tIns="0" rIns="0" bIns="0" rtlCol="0" anchor="t"/>
          <a:lstStyle/>
          <a:p>
            <a:pPr algn="ctr" indent="0" marL="0">
              <a:buNone/>
            </a:pPr>
            <a:r>
              <a:rPr lang="de-DE" altLang="en-US" sz="1000" dirty="0">
                <a:solidFill>
                  <a:schemeClr val="tx2"/>
                </a:solidFill>
              </a:rPr>
              <a:t>Kagan</a:t>
            </a:r>
            <a:endParaRPr lang="de-DE" sz="1000" dirty="0"/>
          </a:p>
        </p:txBody>
      </p:sp>
      <p:sp>
        <p:nvSpPr>
          <p:cNvPr id="45" name="Shape 43"/>
          <p:cNvSpPr/>
          <p:nvPr/>
        </p:nvSpPr>
        <p:spPr>
          <a:xfrm rot="10800000">
            <a:off x="7717536" y="2633472"/>
            <a:ext cx="128016" cy="91440"/>
          </a:xfrm>
          <a:prstGeom prst="triangle">
            <a:avLst/>
          </a:prstGeom>
          <a:solidFill>
            <a:schemeClr val="accent1"/>
          </a:solidFill>
          <a:ln/>
        </p:spPr>
      </p:sp>
      <p:sp>
        <p:nvSpPr>
          <p:cNvPr id="46" name="Shape 44"/>
          <p:cNvSpPr/>
          <p:nvPr/>
        </p:nvSpPr>
        <p:spPr>
          <a:xfrm rot="10800000">
            <a:off x="8412480" y="2633472"/>
            <a:ext cx="128016" cy="91440"/>
          </a:xfrm>
          <a:prstGeom prst="triangle">
            <a:avLst/>
          </a:prstGeom>
          <a:solidFill>
            <a:schemeClr val="accent1"/>
          </a:solidFill>
          <a:ln/>
        </p:spPr>
      </p:sp>
      <p:sp>
        <p:nvSpPr>
          <p:cNvPr id="47" name="Shape 45"/>
          <p:cNvSpPr/>
          <p:nvPr/>
        </p:nvSpPr>
        <p:spPr>
          <a:xfrm rot="10800000">
            <a:off x="9107424" y="2633472"/>
            <a:ext cx="128016" cy="91440"/>
          </a:xfrm>
          <a:prstGeom prst="triangle">
            <a:avLst/>
          </a:prstGeom>
          <a:solidFill>
            <a:schemeClr val="accent1"/>
          </a:solidFill>
          <a:ln/>
        </p:spPr>
      </p:sp>
      <p:sp>
        <p:nvSpPr>
          <p:cNvPr id="48" name="Shape 46"/>
          <p:cNvSpPr/>
          <p:nvPr/>
        </p:nvSpPr>
        <p:spPr>
          <a:xfrm>
            <a:off x="4251960" y="3813048"/>
            <a:ext cx="146304" cy="146304"/>
          </a:xfrm>
          <a:prstGeom prst="ellipse">
            <a:avLst/>
          </a:prstGeom>
          <a:solidFill>
            <a:schemeClr val="tx1"/>
          </a:solidFill>
          <a:ln/>
        </p:spPr>
      </p:sp>
      <p:sp>
        <p:nvSpPr>
          <p:cNvPr id="49" name="Text 47"/>
          <p:cNvSpPr txBox="1"/>
          <p:nvPr/>
        </p:nvSpPr>
        <p:spPr>
          <a:xfrm>
            <a:off x="4453128" y="3785616"/>
            <a:ext cx="845820" cy="201168"/>
          </a:xfrm>
          <a:prstGeom prst="rect">
            <a:avLst/>
          </a:prstGeom>
          <a:noFill/>
          <a:ln/>
        </p:spPr>
        <p:txBody>
          <a:bodyPr wrap="square" lIns="0" tIns="0" rIns="0" bIns="0" rtlCol="0" anchor="t"/>
          <a:lstStyle/>
          <a:p>
            <a:pPr indent="0" marL="0">
              <a:buNone/>
            </a:pPr>
            <a:r>
              <a:rPr lang="de-DE" altLang="en-US" sz="1000" dirty="0">
                <a:solidFill>
                  <a:schemeClr val="tx2"/>
                </a:solidFill>
              </a:rPr>
              <a:t>konservativ</a:t>
            </a:r>
            <a:endParaRPr lang="de-DE" sz="1000" dirty="0"/>
          </a:p>
        </p:txBody>
      </p:sp>
      <p:sp>
        <p:nvSpPr>
          <p:cNvPr id="50" name="Shape 48"/>
          <p:cNvSpPr/>
          <p:nvPr/>
        </p:nvSpPr>
        <p:spPr>
          <a:xfrm>
            <a:off x="5463540" y="3813048"/>
            <a:ext cx="146304" cy="146304"/>
          </a:xfrm>
          <a:prstGeom prst="ellipse">
            <a:avLst/>
          </a:prstGeom>
          <a:solidFill>
            <a:schemeClr val="accent4"/>
          </a:solidFill>
          <a:ln/>
        </p:spPr>
      </p:sp>
      <p:sp>
        <p:nvSpPr>
          <p:cNvPr id="51" name="Text 49"/>
          <p:cNvSpPr txBox="1"/>
          <p:nvPr/>
        </p:nvSpPr>
        <p:spPr>
          <a:xfrm>
            <a:off x="5664708" y="3785616"/>
            <a:ext cx="982980" cy="201168"/>
          </a:xfrm>
          <a:prstGeom prst="rect">
            <a:avLst/>
          </a:prstGeom>
          <a:noFill/>
          <a:ln/>
        </p:spPr>
        <p:txBody>
          <a:bodyPr wrap="square" lIns="0" tIns="0" rIns="0" bIns="0" rtlCol="0" anchor="t"/>
          <a:lstStyle/>
          <a:p>
            <a:pPr indent="0" marL="0">
              <a:buNone/>
            </a:pPr>
            <a:r>
              <a:rPr lang="de-DE" altLang="en-US" sz="1000" dirty="0">
                <a:solidFill>
                  <a:schemeClr val="tx2"/>
                </a:solidFill>
              </a:rPr>
              <a:t>Swing-Richter</a:t>
            </a:r>
            <a:endParaRPr lang="de-DE" sz="1000" dirty="0"/>
          </a:p>
        </p:txBody>
      </p:sp>
      <p:sp>
        <p:nvSpPr>
          <p:cNvPr id="52" name="Shape 50"/>
          <p:cNvSpPr/>
          <p:nvPr/>
        </p:nvSpPr>
        <p:spPr>
          <a:xfrm>
            <a:off x="6812280" y="3813048"/>
            <a:ext cx="146304" cy="146304"/>
          </a:xfrm>
          <a:prstGeom prst="ellipse">
            <a:avLst/>
          </a:prstGeom>
          <a:solidFill>
            <a:schemeClr val="accent1"/>
          </a:solidFill>
          <a:ln/>
        </p:spPr>
      </p:sp>
      <p:sp>
        <p:nvSpPr>
          <p:cNvPr id="53" name="Text 51"/>
          <p:cNvSpPr txBox="1"/>
          <p:nvPr/>
        </p:nvSpPr>
        <p:spPr>
          <a:xfrm>
            <a:off x="7013448" y="3785616"/>
            <a:ext cx="1257300" cy="201168"/>
          </a:xfrm>
          <a:prstGeom prst="rect">
            <a:avLst/>
          </a:prstGeom>
          <a:noFill/>
          <a:ln/>
        </p:spPr>
        <p:txBody>
          <a:bodyPr wrap="square" lIns="0" tIns="0" rIns="0" bIns="0" rtlCol="0" anchor="t"/>
          <a:lstStyle/>
          <a:p>
            <a:pPr indent="0" marL="0">
              <a:buNone/>
            </a:pPr>
            <a:r>
              <a:rPr lang="de-DE" altLang="en-US" sz="1000" dirty="0">
                <a:solidFill>
                  <a:schemeClr val="tx2"/>
                </a:solidFill>
              </a:rPr>
              <a:t>von Trump ernannt</a:t>
            </a:r>
            <a:endParaRPr lang="de-DE" sz="1000" dirty="0"/>
          </a:p>
        </p:txBody>
      </p:sp>
      <p:sp>
        <p:nvSpPr>
          <p:cNvPr id="54" name="Shape 52"/>
          <p:cNvSpPr/>
          <p:nvPr/>
        </p:nvSpPr>
        <p:spPr>
          <a:xfrm>
            <a:off x="8435340" y="3813048"/>
            <a:ext cx="146304" cy="146304"/>
          </a:xfrm>
          <a:prstGeom prst="ellipse">
            <a:avLst/>
          </a:prstGeom>
          <a:solidFill>
            <a:srgbClr val="D5DBE4"/>
          </a:solidFill>
          <a:ln/>
        </p:spPr>
      </p:sp>
      <p:sp>
        <p:nvSpPr>
          <p:cNvPr id="55" name="Text 53"/>
          <p:cNvSpPr txBox="1"/>
          <p:nvPr/>
        </p:nvSpPr>
        <p:spPr>
          <a:xfrm>
            <a:off x="8636508" y="3785616"/>
            <a:ext cx="571500" cy="201168"/>
          </a:xfrm>
          <a:prstGeom prst="rect">
            <a:avLst/>
          </a:prstGeom>
          <a:noFill/>
          <a:ln/>
        </p:spPr>
        <p:txBody>
          <a:bodyPr wrap="square" lIns="0" tIns="0" rIns="0" bIns="0" rtlCol="0" anchor="t"/>
          <a:lstStyle/>
          <a:p>
            <a:pPr indent="0" marL="0">
              <a:buNone/>
            </a:pPr>
            <a:r>
              <a:rPr lang="de-DE" altLang="en-US" sz="1000" dirty="0">
                <a:solidFill>
                  <a:schemeClr val="tx2"/>
                </a:solidFill>
              </a:rPr>
              <a:t>liberal</a:t>
            </a:r>
            <a:endParaRPr lang="de-DE" sz="1000" dirty="0"/>
          </a:p>
        </p:txBody>
      </p:sp>
      <p:sp>
        <p:nvSpPr>
          <p:cNvPr id="56" name="Shape 54"/>
          <p:cNvSpPr/>
          <p:nvPr/>
        </p:nvSpPr>
        <p:spPr>
          <a:xfrm>
            <a:off x="9372600" y="3813048"/>
            <a:ext cx="146304" cy="146304"/>
          </a:xfrm>
          <a:prstGeom prst="ellipse">
            <a:avLst/>
          </a:prstGeom>
          <a:solidFill>
            <a:schemeClr val="bg1"/>
          </a:solidFill>
          <a:ln w="19050">
            <a:solidFill>
              <a:schemeClr val="tx1"/>
            </a:solidFill>
            <a:prstDash val="solid"/>
          </a:ln>
        </p:spPr>
      </p:sp>
      <p:sp>
        <p:nvSpPr>
          <p:cNvPr id="57" name="Text 55"/>
          <p:cNvSpPr txBox="1"/>
          <p:nvPr/>
        </p:nvSpPr>
        <p:spPr>
          <a:xfrm>
            <a:off x="9573768" y="3785616"/>
            <a:ext cx="708660" cy="201168"/>
          </a:xfrm>
          <a:prstGeom prst="rect">
            <a:avLst/>
          </a:prstGeom>
          <a:noFill/>
          <a:ln/>
        </p:spPr>
        <p:txBody>
          <a:bodyPr wrap="square" lIns="0" tIns="0" rIns="0" bIns="0" rtlCol="0" anchor="t"/>
          <a:lstStyle/>
          <a:p>
            <a:pPr indent="0" marL="0">
              <a:buNone/>
            </a:pPr>
            <a:r>
              <a:rPr lang="de-DE" altLang="en-US" sz="1000" dirty="0">
                <a:solidFill>
                  <a:schemeClr val="tx2"/>
                </a:solidFill>
              </a:rPr>
              <a:t>unbesetzt</a:t>
            </a:r>
            <a:endParaRPr lang="de-DE" sz="1000" dirty="0"/>
          </a:p>
        </p:txBody>
      </p:sp>
      <p:sp>
        <p:nvSpPr>
          <p:cNvPr id="58" name="Shape 56"/>
          <p:cNvSpPr/>
          <p:nvPr/>
        </p:nvSpPr>
        <p:spPr>
          <a:xfrm>
            <a:off x="4251960" y="4160520"/>
            <a:ext cx="2341778" cy="1554480"/>
          </a:xfrm>
          <a:prstGeom prst="roundRect">
            <a:avLst>
              <a:gd name="adj" fmla="val 7059"/>
            </a:avLst>
          </a:prstGeom>
          <a:solidFill>
            <a:schemeClr val="bg2"/>
          </a:solidFill>
          <a:ln/>
        </p:spPr>
      </p:sp>
      <p:sp>
        <p:nvSpPr>
          <p:cNvPr id="59" name="Text 57"/>
          <p:cNvSpPr txBox="1"/>
          <p:nvPr/>
        </p:nvSpPr>
        <p:spPr>
          <a:xfrm>
            <a:off x="4453128" y="4315968"/>
            <a:ext cx="1976018" cy="274320"/>
          </a:xfrm>
          <a:prstGeom prst="rect">
            <a:avLst/>
          </a:prstGeom>
          <a:noFill/>
          <a:ln/>
        </p:spPr>
        <p:txBody>
          <a:bodyPr wrap="square" lIns="0" tIns="0" rIns="0" bIns="0" rtlCol="0" anchor="t"/>
          <a:lstStyle/>
          <a:p>
            <a:pPr indent="0" marL="0">
              <a:buNone/>
            </a:pPr>
            <a:r>
              <a:rPr lang="de-DE" altLang="en-US" sz="1500" b="1" dirty="0">
                <a:solidFill>
                  <a:schemeClr val="tx1"/>
                </a:solidFill>
              </a:rPr>
              <a:t>Neil Gorsuch</a:t>
            </a:r>
            <a:endParaRPr lang="de-DE" sz="1500" dirty="0"/>
          </a:p>
        </p:txBody>
      </p:sp>
      <p:sp>
        <p:nvSpPr>
          <p:cNvPr id="60" name="Text 58"/>
          <p:cNvSpPr txBox="1"/>
          <p:nvPr/>
        </p:nvSpPr>
        <p:spPr>
          <a:xfrm>
            <a:off x="4453128" y="4590288"/>
            <a:ext cx="1976018" cy="201168"/>
          </a:xfrm>
          <a:prstGeom prst="rect">
            <a:avLst/>
          </a:prstGeom>
          <a:noFill/>
          <a:ln/>
        </p:spPr>
        <p:txBody>
          <a:bodyPr wrap="square" lIns="0" tIns="0" rIns="0" bIns="0" rtlCol="0" anchor="t"/>
          <a:lstStyle/>
          <a:p>
            <a:pPr indent="0" marL="0">
              <a:buNone/>
            </a:pPr>
            <a:r>
              <a:rPr lang="de-DE" altLang="en-US" sz="1000" b="1" spc="100" kern="0" dirty="0">
                <a:solidFill>
                  <a:schemeClr val="accent1"/>
                </a:solidFill>
              </a:rPr>
              <a:t>2017 · SENAT 54 : 45</a:t>
            </a:r>
            <a:endParaRPr lang="de-DE" sz="1000" dirty="0"/>
          </a:p>
        </p:txBody>
      </p:sp>
      <p:sp>
        <p:nvSpPr>
          <p:cNvPr id="61" name="Text 59"/>
          <p:cNvSpPr txBox="1"/>
          <p:nvPr/>
        </p:nvSpPr>
        <p:spPr>
          <a:xfrm>
            <a:off x="4453128" y="4846320"/>
            <a:ext cx="1976018" cy="822960"/>
          </a:xfrm>
          <a:prstGeom prst="rect">
            <a:avLst/>
          </a:prstGeom>
          <a:noFill/>
          <a:ln/>
        </p:spPr>
        <p:txBody>
          <a:bodyPr wrap="square" lIns="0" tIns="0" rIns="0" bIns="0" rtlCol="0" anchor="t"/>
          <a:lstStyle/>
          <a:p>
            <a:pPr indent="0" marL="0">
              <a:buNone/>
            </a:pPr>
            <a:r>
              <a:rPr lang="de-DE" altLang="en-US" sz="1400" dirty="0">
                <a:solidFill>
                  <a:schemeClr val="tx2"/>
                </a:solidFill>
              </a:rPr>
              <a:t>Folgt auf Scalia – der Sitz war 2016 für Obama blockiert.</a:t>
            </a:r>
            <a:endParaRPr lang="de-DE" sz="1400" dirty="0"/>
          </a:p>
        </p:txBody>
      </p:sp>
      <p:sp>
        <p:nvSpPr>
          <p:cNvPr id="62" name="Shape 60"/>
          <p:cNvSpPr/>
          <p:nvPr/>
        </p:nvSpPr>
        <p:spPr>
          <a:xfrm>
            <a:off x="6776618" y="4160520"/>
            <a:ext cx="2341778" cy="1554480"/>
          </a:xfrm>
          <a:prstGeom prst="roundRect">
            <a:avLst>
              <a:gd name="adj" fmla="val 7059"/>
            </a:avLst>
          </a:prstGeom>
          <a:solidFill>
            <a:schemeClr val="bg2"/>
          </a:solidFill>
          <a:ln/>
        </p:spPr>
      </p:sp>
      <p:sp>
        <p:nvSpPr>
          <p:cNvPr id="63" name="Text 61"/>
          <p:cNvSpPr txBox="1"/>
          <p:nvPr/>
        </p:nvSpPr>
        <p:spPr>
          <a:xfrm>
            <a:off x="6977786" y="4315968"/>
            <a:ext cx="1976018" cy="274320"/>
          </a:xfrm>
          <a:prstGeom prst="rect">
            <a:avLst/>
          </a:prstGeom>
          <a:noFill/>
          <a:ln/>
        </p:spPr>
        <p:txBody>
          <a:bodyPr wrap="square" lIns="0" tIns="0" rIns="0" bIns="0" rtlCol="0" anchor="t"/>
          <a:lstStyle/>
          <a:p>
            <a:pPr indent="0" marL="0">
              <a:buNone/>
            </a:pPr>
            <a:r>
              <a:rPr lang="de-DE" altLang="en-US" sz="1500" b="1" dirty="0">
                <a:solidFill>
                  <a:schemeClr val="tx1"/>
                </a:solidFill>
              </a:rPr>
              <a:t>Brett Kavanaugh</a:t>
            </a:r>
            <a:endParaRPr lang="de-DE" sz="1500" dirty="0"/>
          </a:p>
        </p:txBody>
      </p:sp>
      <p:sp>
        <p:nvSpPr>
          <p:cNvPr id="64" name="Text 62"/>
          <p:cNvSpPr txBox="1"/>
          <p:nvPr/>
        </p:nvSpPr>
        <p:spPr>
          <a:xfrm>
            <a:off x="6977786" y="4590288"/>
            <a:ext cx="1976018" cy="201168"/>
          </a:xfrm>
          <a:prstGeom prst="rect">
            <a:avLst/>
          </a:prstGeom>
          <a:noFill/>
          <a:ln/>
        </p:spPr>
        <p:txBody>
          <a:bodyPr wrap="square" lIns="0" tIns="0" rIns="0" bIns="0" rtlCol="0" anchor="t"/>
          <a:lstStyle/>
          <a:p>
            <a:pPr indent="0" marL="0">
              <a:buNone/>
            </a:pPr>
            <a:r>
              <a:rPr lang="de-DE" altLang="en-US" sz="1000" b="1" spc="100" kern="0" dirty="0">
                <a:solidFill>
                  <a:schemeClr val="accent1"/>
                </a:solidFill>
              </a:rPr>
              <a:t>2018 · SENAT 50 : 48</a:t>
            </a:r>
            <a:endParaRPr lang="de-DE" sz="1000" dirty="0"/>
          </a:p>
        </p:txBody>
      </p:sp>
      <p:sp>
        <p:nvSpPr>
          <p:cNvPr id="65" name="Text 63"/>
          <p:cNvSpPr txBox="1"/>
          <p:nvPr/>
        </p:nvSpPr>
        <p:spPr>
          <a:xfrm>
            <a:off x="6977786" y="4846320"/>
            <a:ext cx="1976018" cy="822960"/>
          </a:xfrm>
          <a:prstGeom prst="rect">
            <a:avLst/>
          </a:prstGeom>
          <a:noFill/>
          <a:ln/>
        </p:spPr>
        <p:txBody>
          <a:bodyPr wrap="square" lIns="0" tIns="0" rIns="0" bIns="0" rtlCol="0" anchor="t"/>
          <a:lstStyle/>
          <a:p>
            <a:pPr indent="0" marL="0">
              <a:buNone/>
            </a:pPr>
            <a:r>
              <a:rPr lang="de-DE" altLang="en-US" sz="1400" dirty="0">
                <a:solidFill>
                  <a:schemeClr val="tx2"/>
                </a:solidFill>
              </a:rPr>
              <a:t>Ersetzt Swing-Richter Kennedy – trotz Missbrauchsvorwürfen.</a:t>
            </a:r>
            <a:endParaRPr lang="de-DE" sz="1400" dirty="0"/>
          </a:p>
        </p:txBody>
      </p:sp>
      <p:sp>
        <p:nvSpPr>
          <p:cNvPr id="66" name="Shape 64"/>
          <p:cNvSpPr/>
          <p:nvPr/>
        </p:nvSpPr>
        <p:spPr>
          <a:xfrm>
            <a:off x="9301277" y="4160520"/>
            <a:ext cx="2341778" cy="1554480"/>
          </a:xfrm>
          <a:prstGeom prst="roundRect">
            <a:avLst>
              <a:gd name="adj" fmla="val 7059"/>
            </a:avLst>
          </a:prstGeom>
          <a:solidFill>
            <a:schemeClr val="bg2"/>
          </a:solidFill>
          <a:ln/>
        </p:spPr>
      </p:sp>
      <p:sp>
        <p:nvSpPr>
          <p:cNvPr id="67" name="Text 65"/>
          <p:cNvSpPr txBox="1"/>
          <p:nvPr/>
        </p:nvSpPr>
        <p:spPr>
          <a:xfrm>
            <a:off x="9502445" y="4315968"/>
            <a:ext cx="1976018" cy="274320"/>
          </a:xfrm>
          <a:prstGeom prst="rect">
            <a:avLst/>
          </a:prstGeom>
          <a:noFill/>
          <a:ln/>
        </p:spPr>
        <p:txBody>
          <a:bodyPr wrap="square" lIns="0" tIns="0" rIns="0" bIns="0" rtlCol="0" anchor="t"/>
          <a:lstStyle/>
          <a:p>
            <a:pPr indent="0" marL="0">
              <a:buNone/>
            </a:pPr>
            <a:r>
              <a:rPr lang="de-DE" altLang="en-US" sz="1500" b="1" dirty="0">
                <a:solidFill>
                  <a:schemeClr val="tx1"/>
                </a:solidFill>
              </a:rPr>
              <a:t>Amy Coney Barrett</a:t>
            </a:r>
            <a:endParaRPr lang="de-DE" sz="1500" dirty="0"/>
          </a:p>
        </p:txBody>
      </p:sp>
      <p:sp>
        <p:nvSpPr>
          <p:cNvPr id="68" name="Text 66"/>
          <p:cNvSpPr txBox="1"/>
          <p:nvPr/>
        </p:nvSpPr>
        <p:spPr>
          <a:xfrm>
            <a:off x="9502445" y="4590288"/>
            <a:ext cx="1976018" cy="201168"/>
          </a:xfrm>
          <a:prstGeom prst="rect">
            <a:avLst/>
          </a:prstGeom>
          <a:noFill/>
          <a:ln/>
        </p:spPr>
        <p:txBody>
          <a:bodyPr wrap="square" lIns="0" tIns="0" rIns="0" bIns="0" rtlCol="0" anchor="t"/>
          <a:lstStyle/>
          <a:p>
            <a:pPr indent="0" marL="0">
              <a:buNone/>
            </a:pPr>
            <a:r>
              <a:rPr lang="de-DE" altLang="en-US" sz="1000" b="1" spc="100" kern="0" dirty="0">
                <a:solidFill>
                  <a:schemeClr val="accent1"/>
                </a:solidFill>
              </a:rPr>
              <a:t>2020 · SENAT 52 : 48</a:t>
            </a:r>
            <a:endParaRPr lang="de-DE" sz="1000" dirty="0"/>
          </a:p>
        </p:txBody>
      </p:sp>
      <p:sp>
        <p:nvSpPr>
          <p:cNvPr id="69" name="Text 67"/>
          <p:cNvSpPr txBox="1"/>
          <p:nvPr/>
        </p:nvSpPr>
        <p:spPr>
          <a:xfrm>
            <a:off x="9502445" y="4846320"/>
            <a:ext cx="1976018" cy="822960"/>
          </a:xfrm>
          <a:prstGeom prst="rect">
            <a:avLst/>
          </a:prstGeom>
          <a:noFill/>
          <a:ln/>
        </p:spPr>
        <p:txBody>
          <a:bodyPr wrap="square" lIns="0" tIns="0" rIns="0" bIns="0" rtlCol="0" anchor="t"/>
          <a:lstStyle/>
          <a:p>
            <a:pPr indent="0" marL="0">
              <a:buNone/>
            </a:pPr>
            <a:r>
              <a:rPr lang="de-DE" altLang="en-US" sz="1400" dirty="0">
                <a:solidFill>
                  <a:schemeClr val="tx2"/>
                </a:solidFill>
              </a:rPr>
              <a:t>Folgt auf die liberale Ikone Ginsburg – 8 Tage vor der Wahl.</a:t>
            </a:r>
            <a:endParaRPr lang="de-DE" sz="1400" dirty="0"/>
          </a:p>
        </p:txBody>
      </p:sp>
      <p:sp>
        <p:nvSpPr>
          <p:cNvPr id="70" name="!!tl-span"/>
          <p:cNvSpPr/>
          <p:nvPr/>
        </p:nvSpPr>
        <p:spPr>
          <a:xfrm>
            <a:off x="1201713" y="6117336"/>
            <a:ext cx="8830089" cy="54864"/>
          </a:xfrm>
          <a:prstGeom prst="rect">
            <a:avLst/>
          </a:prstGeom>
          <a:solidFill>
            <a:schemeClr val="accent1"/>
          </a:solidFill>
          <a:ln/>
        </p:spPr>
      </p:sp>
      <p:sp>
        <p:nvSpPr>
          <p:cNvPr id="71" name="!!tl-d1"/>
          <p:cNvSpPr/>
          <p:nvPr/>
        </p:nvSpPr>
        <p:spPr>
          <a:xfrm>
            <a:off x="1119417" y="6062472"/>
            <a:ext cx="164592" cy="164592"/>
          </a:xfrm>
          <a:prstGeom prst="ellipse">
            <a:avLst/>
          </a:prstGeom>
          <a:solidFill>
            <a:schemeClr val="accent1"/>
          </a:solidFill>
          <a:ln w="19050">
            <a:solidFill>
              <a:schemeClr val="bg1"/>
            </a:solidFill>
            <a:prstDash val="solid"/>
          </a:ln>
        </p:spPr>
      </p:sp>
      <p:sp>
        <p:nvSpPr>
          <p:cNvPr id="72" name="!!tl-d2"/>
          <p:cNvSpPr/>
          <p:nvPr/>
        </p:nvSpPr>
        <p:spPr>
          <a:xfrm>
            <a:off x="4840571" y="6062472"/>
            <a:ext cx="164592" cy="164592"/>
          </a:xfrm>
          <a:prstGeom prst="ellipse">
            <a:avLst/>
          </a:prstGeom>
          <a:solidFill>
            <a:schemeClr val="accent1"/>
          </a:solidFill>
          <a:ln w="19050">
            <a:solidFill>
              <a:schemeClr val="bg1"/>
            </a:solidFill>
            <a:prstDash val="solid"/>
          </a:ln>
        </p:spPr>
      </p:sp>
      <p:sp>
        <p:nvSpPr>
          <p:cNvPr id="73" name="!!tl-d3"/>
          <p:cNvSpPr/>
          <p:nvPr/>
        </p:nvSpPr>
        <p:spPr>
          <a:xfrm>
            <a:off x="9949506" y="6062472"/>
            <a:ext cx="164592" cy="164592"/>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04 · AMERICA FIRST · 2017–2020</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Härte an der Grenze, Alleingänge in der Welt</a:t>
            </a:r>
            <a:endParaRPr lang="en-US" sz="3600" dirty="0"/>
          </a:p>
        </p:txBody>
      </p:sp>
      <p:sp>
        <p:nvSpPr>
          <p:cNvPr id="4" name="Shape 2"/>
          <p:cNvSpPr/>
          <p:nvPr/>
        </p:nvSpPr>
        <p:spPr>
          <a:xfrm>
            <a:off x="548640" y="1737360"/>
            <a:ext cx="3429000" cy="3977640"/>
          </a:xfrm>
          <a:prstGeom prst="roundRect">
            <a:avLst>
              <a:gd name="adj" fmla="val 3200"/>
            </a:avLst>
          </a:prstGeom>
          <a:solidFill>
            <a:schemeClr val="tx1"/>
          </a:solidFill>
          <a:ln/>
        </p:spPr>
      </p:sp>
      <p:sp>
        <p:nvSpPr>
          <p:cNvPr id="5" name="Text 3"/>
          <p:cNvSpPr txBox="1"/>
          <p:nvPr/>
        </p:nvSpPr>
        <p:spPr>
          <a:xfrm>
            <a:off x="822960" y="2011680"/>
            <a:ext cx="2971800" cy="228600"/>
          </a:xfrm>
          <a:prstGeom prst="rect">
            <a:avLst/>
          </a:prstGeom>
          <a:noFill/>
          <a:ln/>
        </p:spPr>
        <p:txBody>
          <a:bodyPr wrap="square" lIns="0" tIns="0" rIns="0" bIns="0" rtlCol="0" anchor="t"/>
          <a:lstStyle/>
          <a:p>
            <a:pPr indent="0" marL="0">
              <a:buNone/>
            </a:pPr>
            <a:r>
              <a:rPr lang="de-DE" altLang="en-US" sz="1100" b="1" spc="150" kern="0" dirty="0">
                <a:solidFill>
                  <a:schemeClr val="accent6"/>
                </a:solidFill>
              </a:rPr>
              <a:t>AMTSEINFÜHRUNG · 20.01.2017</a:t>
            </a:r>
            <a:endParaRPr lang="de-DE" sz="1100" dirty="0"/>
          </a:p>
        </p:txBody>
      </p:sp>
      <p:sp>
        <p:nvSpPr>
          <p:cNvPr id="6" name="Text 4"/>
          <p:cNvSpPr txBox="1"/>
          <p:nvPr/>
        </p:nvSpPr>
        <p:spPr>
          <a:xfrm>
            <a:off x="768096" y="2194560"/>
            <a:ext cx="914400" cy="731520"/>
          </a:xfrm>
          <a:prstGeom prst="rect">
            <a:avLst/>
          </a:prstGeom>
          <a:noFill/>
          <a:ln/>
        </p:spPr>
        <p:txBody>
          <a:bodyPr wrap="square" lIns="0" tIns="0" rIns="0" bIns="0" rtlCol="0" anchor="t"/>
          <a:lstStyle/>
          <a:p>
            <a:pPr indent="0" marL="0">
              <a:buNone/>
            </a:pPr>
            <a:r>
              <a:rPr lang="de-DE" altLang="en-US" sz="8000" b="1" dirty="0">
                <a:solidFill>
                  <a:schemeClr val="accent6"/>
                </a:solidFill>
                <a:latin typeface="+mj-lt" pitchFamily="34" charset="0"/>
                <a:ea typeface="+mj-lt" pitchFamily="34" charset="-122"/>
                <a:cs typeface="+mj-lt" pitchFamily="34" charset="-120"/>
              </a:rPr>
              <a:t>“</a:t>
            </a:r>
            <a:endParaRPr lang="de-DE" sz="8000" dirty="0"/>
          </a:p>
        </p:txBody>
      </p:sp>
      <p:sp>
        <p:nvSpPr>
          <p:cNvPr id="7" name="Text 5"/>
          <p:cNvSpPr txBox="1"/>
          <p:nvPr/>
        </p:nvSpPr>
        <p:spPr>
          <a:xfrm>
            <a:off x="822960" y="2880360"/>
            <a:ext cx="2926080" cy="1463040"/>
          </a:xfrm>
          <a:prstGeom prst="rect">
            <a:avLst/>
          </a:prstGeom>
          <a:noFill/>
          <a:ln/>
        </p:spPr>
        <p:txBody>
          <a:bodyPr wrap="square" lIns="0" tIns="0" rIns="0" bIns="0" rtlCol="0" anchor="t"/>
          <a:lstStyle/>
          <a:p>
            <a:pPr indent="0" marL="0">
              <a:buNone/>
            </a:pPr>
            <a:r>
              <a:rPr lang="en-US" altLang="en-US" sz="2400" b="1" i="1" dirty="0">
                <a:solidFill>
                  <a:schemeClr val="bg1"/>
                </a:solidFill>
                <a:latin typeface="+mj-lt" pitchFamily="34" charset="0"/>
                <a:ea typeface="+mj-lt" pitchFamily="34" charset="-122"/>
                <a:cs typeface="+mj-lt" pitchFamily="34" charset="-120"/>
              </a:rPr>
              <a:t>From this day forward, it’s going to be only America first.</a:t>
            </a:r>
            <a:endParaRPr lang="en-US" sz="2400" dirty="0"/>
          </a:p>
        </p:txBody>
      </p:sp>
      <p:sp>
        <p:nvSpPr>
          <p:cNvPr id="8" name="Text 6"/>
          <p:cNvSpPr txBox="1"/>
          <p:nvPr/>
        </p:nvSpPr>
        <p:spPr>
          <a:xfrm>
            <a:off x="822960" y="4343400"/>
            <a:ext cx="2926080" cy="502920"/>
          </a:xfrm>
          <a:prstGeom prst="rect">
            <a:avLst/>
          </a:prstGeom>
          <a:noFill/>
          <a:ln/>
        </p:spPr>
        <p:txBody>
          <a:bodyPr wrap="square" lIns="0" tIns="0" rIns="0" bIns="0" rtlCol="0" anchor="t"/>
          <a:lstStyle/>
          <a:p>
            <a:pPr indent="0" marL="0">
              <a:buNone/>
            </a:pPr>
            <a:r>
              <a:rPr lang="de-DE" altLang="en-US" sz="1400" i="1" dirty="0">
                <a:solidFill>
                  <a:schemeClr val="accent3"/>
                </a:solidFill>
              </a:rPr>
              <a:t>„Von diesem Tag an heißt es nur noch: Amerika zuerst.“</a:t>
            </a:r>
            <a:endParaRPr lang="de-DE" sz="1400" dirty="0"/>
          </a:p>
        </p:txBody>
      </p:sp>
      <p:sp>
        <p:nvSpPr>
          <p:cNvPr id="9" name="Text 7"/>
          <p:cNvSpPr txBox="1"/>
          <p:nvPr/>
        </p:nvSpPr>
        <p:spPr>
          <a:xfrm>
            <a:off x="822960" y="4983480"/>
            <a:ext cx="2926080" cy="502920"/>
          </a:xfrm>
          <a:prstGeom prst="rect">
            <a:avLst/>
          </a:prstGeom>
          <a:noFill/>
          <a:ln/>
        </p:spPr>
        <p:txBody>
          <a:bodyPr wrap="square" lIns="0" tIns="0" rIns="0" bIns="0" rtlCol="0" anchor="t"/>
          <a:lstStyle/>
          <a:p>
            <a:pPr indent="0" marL="0">
              <a:buNone/>
            </a:pPr>
            <a:r>
              <a:rPr lang="de-DE" altLang="en-US" sz="1400" dirty="0">
                <a:solidFill>
                  <a:schemeClr val="bg1"/>
                </a:solidFill>
              </a:rPr>
              <a:t>Leitidee: nationale Interessen vor internationalen Verpflichtungen</a:t>
            </a:r>
            <a:endParaRPr lang="de-DE" sz="1400" dirty="0"/>
          </a:p>
        </p:txBody>
      </p:sp>
      <p:sp>
        <p:nvSpPr>
          <p:cNvPr id="10" name="Text 8"/>
          <p:cNvSpPr txBox="1"/>
          <p:nvPr/>
        </p:nvSpPr>
        <p:spPr>
          <a:xfrm>
            <a:off x="4251960" y="1737360"/>
            <a:ext cx="3657600" cy="228600"/>
          </a:xfrm>
          <a:prstGeom prst="rect">
            <a:avLst/>
          </a:prstGeom>
          <a:noFill/>
          <a:ln/>
        </p:spPr>
        <p:txBody>
          <a:bodyPr wrap="square" lIns="0" tIns="0" rIns="0" bIns="0" rtlCol="0" anchor="t"/>
          <a:lstStyle/>
          <a:p>
            <a:pPr indent="0" marL="0">
              <a:buNone/>
            </a:pPr>
            <a:r>
              <a:rPr lang="de-DE" altLang="en-US" sz="1200" b="1" spc="200" kern="0" dirty="0">
                <a:solidFill>
                  <a:schemeClr val="accent1"/>
                </a:solidFill>
              </a:rPr>
              <a:t>AN DER GRENZE</a:t>
            </a:r>
            <a:endParaRPr lang="de-DE" sz="1200" dirty="0"/>
          </a:p>
        </p:txBody>
      </p:sp>
      <p:sp>
        <p:nvSpPr>
          <p:cNvPr id="11" name="Shape 9"/>
          <p:cNvSpPr/>
          <p:nvPr/>
        </p:nvSpPr>
        <p:spPr>
          <a:xfrm>
            <a:off x="4251960" y="2039112"/>
            <a:ext cx="2341778" cy="1586484"/>
          </a:xfrm>
          <a:prstGeom prst="roundRect">
            <a:avLst>
              <a:gd name="adj" fmla="val 6916"/>
            </a:avLst>
          </a:prstGeom>
          <a:solidFill>
            <a:schemeClr val="bg2"/>
          </a:solidFill>
          <a:ln/>
        </p:spPr>
      </p:sp>
      <p:sp>
        <p:nvSpPr>
          <p:cNvPr id="12" name="Text 10"/>
          <p:cNvSpPr txBox="1"/>
          <p:nvPr/>
        </p:nvSpPr>
        <p:spPr>
          <a:xfrm>
            <a:off x="4480560" y="2221992"/>
            <a:ext cx="1930298" cy="411480"/>
          </a:xfrm>
          <a:prstGeom prst="rect">
            <a:avLst/>
          </a:prstGeom>
          <a:noFill/>
          <a:ln/>
        </p:spPr>
        <p:txBody>
          <a:bodyPr wrap="square" lIns="0" tIns="0" rIns="0" bIns="0" rtlCol="0" anchor="t"/>
          <a:lstStyle/>
          <a:p>
            <a:pPr indent="0" marL="0">
              <a:buNone/>
            </a:pPr>
            <a:r>
              <a:rPr lang="de-DE" altLang="en-US" sz="2400" b="1" dirty="0">
                <a:solidFill>
                  <a:schemeClr val="tx1"/>
                </a:solidFill>
              </a:rPr>
              <a:t>7 Länder</a:t>
            </a:r>
            <a:endParaRPr lang="de-DE" sz="2400" dirty="0"/>
          </a:p>
        </p:txBody>
      </p:sp>
      <p:sp>
        <p:nvSpPr>
          <p:cNvPr id="13" name="Text 11"/>
          <p:cNvSpPr txBox="1"/>
          <p:nvPr/>
        </p:nvSpPr>
        <p:spPr>
          <a:xfrm>
            <a:off x="4480560" y="2679192"/>
            <a:ext cx="1930298" cy="868680"/>
          </a:xfrm>
          <a:prstGeom prst="rect">
            <a:avLst/>
          </a:prstGeom>
          <a:noFill/>
          <a:ln/>
        </p:spPr>
        <p:txBody>
          <a:bodyPr wrap="square" lIns="0" tIns="0" rIns="0" bIns="0" rtlCol="0" anchor="t"/>
          <a:lstStyle/>
          <a:p>
            <a:pPr indent="0" marL="0">
              <a:buNone/>
            </a:pPr>
            <a:r>
              <a:rPr lang="de-DE" altLang="en-US" sz="1400" dirty="0">
                <a:solidFill>
                  <a:schemeClr val="tx2"/>
                </a:solidFill>
              </a:rPr>
              <a:t>Einreisestopp für Bürger muslimisch geprägter Staaten (2017)</a:t>
            </a:r>
            <a:endParaRPr lang="de-DE" sz="1400" dirty="0"/>
          </a:p>
        </p:txBody>
      </p:sp>
      <p:sp>
        <p:nvSpPr>
          <p:cNvPr id="14" name="Shape 12"/>
          <p:cNvSpPr/>
          <p:nvPr/>
        </p:nvSpPr>
        <p:spPr>
          <a:xfrm>
            <a:off x="6776618" y="2039112"/>
            <a:ext cx="2341778" cy="1586484"/>
          </a:xfrm>
          <a:prstGeom prst="roundRect">
            <a:avLst>
              <a:gd name="adj" fmla="val 6916"/>
            </a:avLst>
          </a:prstGeom>
          <a:solidFill>
            <a:schemeClr val="bg2"/>
          </a:solidFill>
          <a:ln/>
        </p:spPr>
      </p:sp>
      <p:sp>
        <p:nvSpPr>
          <p:cNvPr id="15" name="Text 13"/>
          <p:cNvSpPr txBox="1"/>
          <p:nvPr/>
        </p:nvSpPr>
        <p:spPr>
          <a:xfrm>
            <a:off x="7005218" y="2221992"/>
            <a:ext cx="1930298" cy="411480"/>
          </a:xfrm>
          <a:prstGeom prst="rect">
            <a:avLst/>
          </a:prstGeom>
          <a:noFill/>
          <a:ln/>
        </p:spPr>
        <p:txBody>
          <a:bodyPr wrap="square" lIns="0" tIns="0" rIns="0" bIns="0" rtlCol="0" anchor="t"/>
          <a:lstStyle/>
          <a:p>
            <a:pPr indent="0" marL="0">
              <a:buNone/>
            </a:pPr>
            <a:r>
              <a:rPr lang="de-DE" altLang="en-US" sz="2400" b="1" dirty="0">
                <a:solidFill>
                  <a:schemeClr val="tx1"/>
                </a:solidFill>
              </a:rPr>
              <a:t>35 Tage</a:t>
            </a:r>
            <a:endParaRPr lang="de-DE" sz="2400" dirty="0"/>
          </a:p>
        </p:txBody>
      </p:sp>
      <p:sp>
        <p:nvSpPr>
          <p:cNvPr id="16" name="Text 14"/>
          <p:cNvSpPr txBox="1"/>
          <p:nvPr/>
        </p:nvSpPr>
        <p:spPr>
          <a:xfrm>
            <a:off x="7005218" y="2679192"/>
            <a:ext cx="1930298" cy="868680"/>
          </a:xfrm>
          <a:prstGeom prst="rect">
            <a:avLst/>
          </a:prstGeom>
          <a:noFill/>
          <a:ln/>
        </p:spPr>
        <p:txBody>
          <a:bodyPr wrap="square" lIns="0" tIns="0" rIns="0" bIns="0" rtlCol="0" anchor="t"/>
          <a:lstStyle/>
          <a:p>
            <a:pPr indent="0" marL="0">
              <a:buNone/>
            </a:pPr>
            <a:r>
              <a:rPr lang="de-DE" altLang="en-US" sz="1400" dirty="0">
                <a:solidFill>
                  <a:schemeClr val="tx2"/>
                </a:solidFill>
              </a:rPr>
              <a:t>längster Shutdown der US-Geschichte – Streit um Geld für die Mauer</a:t>
            </a:r>
            <a:endParaRPr lang="de-DE" sz="1400" dirty="0"/>
          </a:p>
        </p:txBody>
      </p:sp>
      <p:sp>
        <p:nvSpPr>
          <p:cNvPr id="17" name="Shape 15"/>
          <p:cNvSpPr/>
          <p:nvPr/>
        </p:nvSpPr>
        <p:spPr>
          <a:xfrm>
            <a:off x="9301277" y="2039112"/>
            <a:ext cx="2341778" cy="1586484"/>
          </a:xfrm>
          <a:prstGeom prst="roundRect">
            <a:avLst>
              <a:gd name="adj" fmla="val 6916"/>
            </a:avLst>
          </a:prstGeom>
          <a:solidFill>
            <a:schemeClr val="bg2"/>
          </a:solidFill>
          <a:ln/>
        </p:spPr>
      </p:sp>
      <p:sp>
        <p:nvSpPr>
          <p:cNvPr id="18" name="Text 16"/>
          <p:cNvSpPr txBox="1"/>
          <p:nvPr/>
        </p:nvSpPr>
        <p:spPr>
          <a:xfrm>
            <a:off x="9529877" y="2221992"/>
            <a:ext cx="1930298" cy="411480"/>
          </a:xfrm>
          <a:prstGeom prst="rect">
            <a:avLst/>
          </a:prstGeom>
          <a:noFill/>
          <a:ln/>
        </p:spPr>
        <p:txBody>
          <a:bodyPr wrap="square" lIns="0" tIns="0" rIns="0" bIns="0" rtlCol="0" anchor="t"/>
          <a:lstStyle/>
          <a:p>
            <a:pPr indent="0" marL="0">
              <a:buNone/>
            </a:pPr>
            <a:r>
              <a:rPr lang="de-DE" altLang="en-US" sz="2400" b="1" dirty="0">
                <a:solidFill>
                  <a:schemeClr val="tx1"/>
                </a:solidFill>
              </a:rPr>
              <a:t>3.900+</a:t>
            </a:r>
            <a:endParaRPr lang="de-DE" sz="2400" dirty="0"/>
          </a:p>
        </p:txBody>
      </p:sp>
      <p:sp>
        <p:nvSpPr>
          <p:cNvPr id="19" name="Text 17"/>
          <p:cNvSpPr txBox="1"/>
          <p:nvPr/>
        </p:nvSpPr>
        <p:spPr>
          <a:xfrm>
            <a:off x="9529877" y="2679192"/>
            <a:ext cx="1930298" cy="868680"/>
          </a:xfrm>
          <a:prstGeom prst="rect">
            <a:avLst/>
          </a:prstGeom>
          <a:noFill/>
          <a:ln/>
        </p:spPr>
        <p:txBody>
          <a:bodyPr wrap="square" lIns="0" tIns="0" rIns="0" bIns="0" rtlCol="0" anchor="t"/>
          <a:lstStyle/>
          <a:p>
            <a:pPr indent="0" marL="0">
              <a:buNone/>
            </a:pPr>
            <a:r>
              <a:rPr lang="de-DE" altLang="en-US" sz="1400" dirty="0">
                <a:solidFill>
                  <a:schemeClr val="tx2"/>
                </a:solidFill>
              </a:rPr>
              <a:t>Kinder an der Grenze von den Eltern getrennt – Höhepunkt 2018</a:t>
            </a:r>
            <a:endParaRPr lang="de-DE" sz="1400" dirty="0"/>
          </a:p>
        </p:txBody>
      </p:sp>
      <p:sp>
        <p:nvSpPr>
          <p:cNvPr id="20" name="Text 18"/>
          <p:cNvSpPr txBox="1"/>
          <p:nvPr/>
        </p:nvSpPr>
        <p:spPr>
          <a:xfrm>
            <a:off x="4251960" y="3826764"/>
            <a:ext cx="3657600" cy="228600"/>
          </a:xfrm>
          <a:prstGeom prst="rect">
            <a:avLst/>
          </a:prstGeom>
          <a:noFill/>
          <a:ln/>
        </p:spPr>
        <p:txBody>
          <a:bodyPr wrap="square" lIns="0" tIns="0" rIns="0" bIns="0" rtlCol="0" anchor="t"/>
          <a:lstStyle/>
          <a:p>
            <a:pPr indent="0" marL="0">
              <a:buNone/>
            </a:pPr>
            <a:r>
              <a:rPr lang="de-DE" altLang="en-US" sz="1200" b="1" spc="200" kern="0" dirty="0">
                <a:solidFill>
                  <a:schemeClr val="accent1"/>
                </a:solidFill>
              </a:rPr>
              <a:t>IN DER WELT</a:t>
            </a:r>
            <a:endParaRPr lang="de-DE" sz="1200" dirty="0"/>
          </a:p>
        </p:txBody>
      </p:sp>
      <p:sp>
        <p:nvSpPr>
          <p:cNvPr id="21" name="Shape 19"/>
          <p:cNvSpPr/>
          <p:nvPr/>
        </p:nvSpPr>
        <p:spPr>
          <a:xfrm>
            <a:off x="4251960" y="4128516"/>
            <a:ext cx="2341778" cy="1586484"/>
          </a:xfrm>
          <a:prstGeom prst="roundRect">
            <a:avLst>
              <a:gd name="adj" fmla="val 6916"/>
            </a:avLst>
          </a:prstGeom>
          <a:solidFill>
            <a:schemeClr val="bg2"/>
          </a:solidFill>
          <a:ln/>
        </p:spPr>
      </p:sp>
      <p:sp>
        <p:nvSpPr>
          <p:cNvPr id="22" name="Text 20"/>
          <p:cNvSpPr txBox="1"/>
          <p:nvPr/>
        </p:nvSpPr>
        <p:spPr>
          <a:xfrm>
            <a:off x="4480560" y="4311396"/>
            <a:ext cx="1930298" cy="411480"/>
          </a:xfrm>
          <a:prstGeom prst="rect">
            <a:avLst/>
          </a:prstGeom>
          <a:noFill/>
          <a:ln/>
        </p:spPr>
        <p:txBody>
          <a:bodyPr wrap="square" lIns="0" tIns="0" rIns="0" bIns="0" rtlCol="0" anchor="t"/>
          <a:lstStyle/>
          <a:p>
            <a:pPr indent="0" marL="0">
              <a:buNone/>
            </a:pPr>
            <a:r>
              <a:rPr lang="de-DE" altLang="en-US" sz="2400" b="1" dirty="0">
                <a:solidFill>
                  <a:schemeClr val="tx1"/>
                </a:solidFill>
              </a:rPr>
              <a:t>Klima &amp; Iran</a:t>
            </a:r>
            <a:endParaRPr lang="de-DE" sz="2400" dirty="0"/>
          </a:p>
        </p:txBody>
      </p:sp>
      <p:sp>
        <p:nvSpPr>
          <p:cNvPr id="23" name="Text 21"/>
          <p:cNvSpPr txBox="1"/>
          <p:nvPr/>
        </p:nvSpPr>
        <p:spPr>
          <a:xfrm>
            <a:off x="4480560" y="4768596"/>
            <a:ext cx="1930298" cy="868680"/>
          </a:xfrm>
          <a:prstGeom prst="rect">
            <a:avLst/>
          </a:prstGeom>
          <a:noFill/>
          <a:ln/>
        </p:spPr>
        <p:txBody>
          <a:bodyPr wrap="square" lIns="0" tIns="0" rIns="0" bIns="0" rtlCol="0" anchor="t"/>
          <a:lstStyle/>
          <a:p>
            <a:pPr indent="0" marL="0">
              <a:buNone/>
            </a:pPr>
            <a:r>
              <a:rPr lang="de-DE" altLang="en-US" sz="1400" dirty="0">
                <a:solidFill>
                  <a:schemeClr val="tx2"/>
                </a:solidFill>
              </a:rPr>
              <a:t>Ausstieg aus Pariser Klimaabkommen und Iran-Atomdeal</a:t>
            </a:r>
            <a:endParaRPr lang="de-DE" sz="1400" dirty="0"/>
          </a:p>
        </p:txBody>
      </p:sp>
      <p:sp>
        <p:nvSpPr>
          <p:cNvPr id="24" name="Shape 22"/>
          <p:cNvSpPr/>
          <p:nvPr/>
        </p:nvSpPr>
        <p:spPr>
          <a:xfrm>
            <a:off x="6776618" y="4128516"/>
            <a:ext cx="2341778" cy="1586484"/>
          </a:xfrm>
          <a:prstGeom prst="roundRect">
            <a:avLst>
              <a:gd name="adj" fmla="val 6916"/>
            </a:avLst>
          </a:prstGeom>
          <a:solidFill>
            <a:schemeClr val="bg2"/>
          </a:solidFill>
          <a:ln/>
        </p:spPr>
      </p:sp>
      <p:sp>
        <p:nvSpPr>
          <p:cNvPr id="25" name="Text 23"/>
          <p:cNvSpPr txBox="1"/>
          <p:nvPr/>
        </p:nvSpPr>
        <p:spPr>
          <a:xfrm>
            <a:off x="7005218" y="4311396"/>
            <a:ext cx="1930298" cy="411480"/>
          </a:xfrm>
          <a:prstGeom prst="rect">
            <a:avLst/>
          </a:prstGeom>
          <a:noFill/>
          <a:ln/>
        </p:spPr>
        <p:txBody>
          <a:bodyPr wrap="square" lIns="0" tIns="0" rIns="0" bIns="0" rtlCol="0" anchor="t"/>
          <a:lstStyle/>
          <a:p>
            <a:pPr indent="0" marL="0">
              <a:buNone/>
            </a:pPr>
            <a:r>
              <a:rPr lang="de-DE" altLang="en-US" sz="2400" b="1" dirty="0">
                <a:solidFill>
                  <a:schemeClr val="tx1"/>
                </a:solidFill>
              </a:rPr>
              <a:t>Nordkorea</a:t>
            </a:r>
            <a:endParaRPr lang="de-DE" sz="2400" dirty="0"/>
          </a:p>
        </p:txBody>
      </p:sp>
      <p:sp>
        <p:nvSpPr>
          <p:cNvPr id="26" name="Text 24"/>
          <p:cNvSpPr txBox="1"/>
          <p:nvPr/>
        </p:nvSpPr>
        <p:spPr>
          <a:xfrm>
            <a:off x="7005218" y="4768596"/>
            <a:ext cx="1930298" cy="868680"/>
          </a:xfrm>
          <a:prstGeom prst="rect">
            <a:avLst/>
          </a:prstGeom>
          <a:noFill/>
          <a:ln/>
        </p:spPr>
        <p:txBody>
          <a:bodyPr wrap="square" lIns="0" tIns="0" rIns="0" bIns="0" rtlCol="0" anchor="t"/>
          <a:lstStyle/>
          <a:p>
            <a:pPr indent="0" marL="0">
              <a:buNone/>
            </a:pPr>
            <a:r>
              <a:rPr lang="de-DE" altLang="en-US" sz="1400" dirty="0">
                <a:solidFill>
                  <a:schemeClr val="tx2"/>
                </a:solidFill>
              </a:rPr>
              <a:t>2018 erster Gipfel mit Kim Jong-un – Abrüstung bleibt aus</a:t>
            </a:r>
            <a:endParaRPr lang="de-DE" sz="1400" dirty="0"/>
          </a:p>
        </p:txBody>
      </p:sp>
      <p:sp>
        <p:nvSpPr>
          <p:cNvPr id="27" name="Shape 25"/>
          <p:cNvSpPr/>
          <p:nvPr/>
        </p:nvSpPr>
        <p:spPr>
          <a:xfrm>
            <a:off x="9301277" y="4128516"/>
            <a:ext cx="2341778" cy="1586484"/>
          </a:xfrm>
          <a:prstGeom prst="roundRect">
            <a:avLst>
              <a:gd name="adj" fmla="val 6916"/>
            </a:avLst>
          </a:prstGeom>
          <a:solidFill>
            <a:schemeClr val="bg2"/>
          </a:solidFill>
          <a:ln/>
        </p:spPr>
      </p:sp>
      <p:sp>
        <p:nvSpPr>
          <p:cNvPr id="28" name="Text 26"/>
          <p:cNvSpPr txBox="1"/>
          <p:nvPr/>
        </p:nvSpPr>
        <p:spPr>
          <a:xfrm>
            <a:off x="9529877" y="4311396"/>
            <a:ext cx="1930298" cy="411480"/>
          </a:xfrm>
          <a:prstGeom prst="rect">
            <a:avLst/>
          </a:prstGeom>
          <a:noFill/>
          <a:ln/>
        </p:spPr>
        <p:txBody>
          <a:bodyPr wrap="square" lIns="0" tIns="0" rIns="0" bIns="0" rtlCol="0" anchor="t"/>
          <a:lstStyle/>
          <a:p>
            <a:pPr indent="0" marL="0">
              <a:buNone/>
            </a:pPr>
            <a:r>
              <a:rPr lang="de-DE" altLang="en-US" sz="2400" b="1" dirty="0">
                <a:solidFill>
                  <a:schemeClr val="tx1"/>
                </a:solidFill>
              </a:rPr>
              <a:t>Nahost</a:t>
            </a:r>
            <a:endParaRPr lang="de-DE" sz="2400" dirty="0"/>
          </a:p>
        </p:txBody>
      </p:sp>
      <p:sp>
        <p:nvSpPr>
          <p:cNvPr id="29" name="Text 27"/>
          <p:cNvSpPr txBox="1"/>
          <p:nvPr/>
        </p:nvSpPr>
        <p:spPr>
          <a:xfrm>
            <a:off x="9529877" y="4768596"/>
            <a:ext cx="1930298" cy="868680"/>
          </a:xfrm>
          <a:prstGeom prst="rect">
            <a:avLst/>
          </a:prstGeom>
          <a:noFill/>
          <a:ln/>
        </p:spPr>
        <p:txBody>
          <a:bodyPr wrap="square" lIns="0" tIns="0" rIns="0" bIns="0" rtlCol="0" anchor="t"/>
          <a:lstStyle/>
          <a:p>
            <a:pPr indent="0" marL="0">
              <a:buNone/>
            </a:pPr>
            <a:r>
              <a:rPr lang="de-DE" altLang="en-US" sz="1400" dirty="0">
                <a:solidFill>
                  <a:schemeClr val="tx2"/>
                </a:solidFill>
              </a:rPr>
              <a:t>Abraham-Abkommen 2020: Israel nimmt Beziehungen zu VAE und Bahrain auf</a:t>
            </a:r>
            <a:endParaRPr lang="de-DE" sz="1400" dirty="0"/>
          </a:p>
        </p:txBody>
      </p:sp>
      <p:sp>
        <p:nvSpPr>
          <p:cNvPr id="30" name="!!tl-span"/>
          <p:cNvSpPr/>
          <p:nvPr/>
        </p:nvSpPr>
        <p:spPr>
          <a:xfrm>
            <a:off x="725514" y="6117336"/>
            <a:ext cx="9027371" cy="54864"/>
          </a:xfrm>
          <a:prstGeom prst="rect">
            <a:avLst/>
          </a:prstGeom>
          <a:solidFill>
            <a:schemeClr val="accent1"/>
          </a:solidFill>
          <a:ln/>
        </p:spPr>
      </p:sp>
      <p:sp>
        <p:nvSpPr>
          <p:cNvPr id="31" name="!!tl-d1"/>
          <p:cNvSpPr/>
          <p:nvPr/>
        </p:nvSpPr>
        <p:spPr>
          <a:xfrm>
            <a:off x="643218" y="6062472"/>
            <a:ext cx="164592" cy="164592"/>
          </a:xfrm>
          <a:prstGeom prst="ellipse">
            <a:avLst/>
          </a:prstGeom>
          <a:solidFill>
            <a:schemeClr val="accent1"/>
          </a:solidFill>
          <a:ln w="19050">
            <a:solidFill>
              <a:schemeClr val="bg1"/>
            </a:solidFill>
            <a:prstDash val="solid"/>
          </a:ln>
        </p:spPr>
      </p:sp>
      <p:sp>
        <p:nvSpPr>
          <p:cNvPr id="32" name="!!tl-d2"/>
          <p:cNvSpPr/>
          <p:nvPr/>
        </p:nvSpPr>
        <p:spPr>
          <a:xfrm>
            <a:off x="4051442" y="6062472"/>
            <a:ext cx="164592" cy="164592"/>
          </a:xfrm>
          <a:prstGeom prst="ellipse">
            <a:avLst/>
          </a:prstGeom>
          <a:solidFill>
            <a:schemeClr val="accent1"/>
          </a:solidFill>
          <a:ln w="19050">
            <a:solidFill>
              <a:schemeClr val="bg1"/>
            </a:solidFill>
            <a:prstDash val="solid"/>
          </a:ln>
        </p:spPr>
      </p:sp>
      <p:sp>
        <p:nvSpPr>
          <p:cNvPr id="33" name="!!tl-d3"/>
          <p:cNvSpPr/>
          <p:nvPr/>
        </p:nvSpPr>
        <p:spPr>
          <a:xfrm>
            <a:off x="5364390" y="6062472"/>
            <a:ext cx="164592" cy="164592"/>
          </a:xfrm>
          <a:prstGeom prst="ellipse">
            <a:avLst/>
          </a:prstGeom>
          <a:solidFill>
            <a:schemeClr val="accent1"/>
          </a:solidFill>
          <a:ln w="19050">
            <a:solidFill>
              <a:schemeClr val="bg1"/>
            </a:solidFill>
            <a:prstDash val="solid"/>
          </a:ln>
        </p:spPr>
      </p:sp>
      <p:sp>
        <p:nvSpPr>
          <p:cNvPr id="34" name="!!tl-d4"/>
          <p:cNvSpPr/>
          <p:nvPr/>
        </p:nvSpPr>
        <p:spPr>
          <a:xfrm>
            <a:off x="9670589" y="6062472"/>
            <a:ext cx="164592" cy="164592"/>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05 · CORONA · 2020</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Vom Boom in die Krise</a:t>
            </a:r>
            <a:endParaRPr lang="en-US" sz="3600" dirty="0"/>
          </a:p>
        </p:txBody>
      </p:sp>
      <p:sp>
        <p:nvSpPr>
          <p:cNvPr id="4" name="Text 2"/>
          <p:cNvSpPr txBox="1"/>
          <p:nvPr/>
        </p:nvSpPr>
        <p:spPr>
          <a:xfrm>
            <a:off x="548640" y="1737360"/>
            <a:ext cx="6949440" cy="274320"/>
          </a:xfrm>
          <a:prstGeom prst="rect">
            <a:avLst/>
          </a:prstGeom>
          <a:noFill/>
          <a:ln/>
        </p:spPr>
        <p:txBody>
          <a:bodyPr wrap="square" lIns="0" tIns="0" rIns="0" bIns="0" rtlCol="0" anchor="t"/>
          <a:lstStyle/>
          <a:p>
            <a:pPr indent="0" marL="0">
              <a:buNone/>
            </a:pPr>
            <a:r>
              <a:rPr lang="de-DE" altLang="en-US" sz="1400" b="1" dirty="0">
                <a:solidFill>
                  <a:schemeClr val="tx1"/>
                </a:solidFill>
              </a:rPr>
              <a:t>Arbeitslosenquote der USA in %, monatlich</a:t>
            </a:r>
            <a:endParaRPr lang="de-DE" sz="1400" dirty="0"/>
          </a:p>
        </p:txBody>
      </p:sp>
      <p:graphicFrame>
        <p:nvGraphicFramePr>
          <p:cNvPr id="5" name="Chart 0" descr=""/>
          <p:cNvGraphicFramePr/>
          <p:nvPr/>
        </p:nvGraphicFramePr>
        <p:xfrm>
          <a:off x="457200" y="2057400"/>
          <a:ext cx="7178040" cy="27432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4828032"/>
            <a:ext cx="6949440" cy="201168"/>
          </a:xfrm>
          <a:prstGeom prst="rect">
            <a:avLst/>
          </a:prstGeom>
          <a:noFill/>
          <a:ln/>
        </p:spPr>
        <p:txBody>
          <a:bodyPr wrap="square" lIns="0" tIns="0" rIns="0" bIns="0" rtlCol="0" anchor="t"/>
          <a:lstStyle/>
          <a:p>
            <a:pPr indent="0" marL="0">
              <a:buNone/>
            </a:pPr>
            <a:r>
              <a:rPr lang="de-DE" altLang="en-US" sz="1000" dirty="0">
                <a:solidFill>
                  <a:srgbClr val="6B7488"/>
                </a:solidFill>
              </a:rPr>
              <a:t>Quelle: U.S. Bureau of Labor Statistics (saisonbereinigt)</a:t>
            </a:r>
            <a:endParaRPr lang="de-DE" sz="1000" dirty="0"/>
          </a:p>
        </p:txBody>
      </p:sp>
      <p:sp>
        <p:nvSpPr>
          <p:cNvPr id="7" name="Text 4"/>
          <p:cNvSpPr txBox="1"/>
          <p:nvPr/>
        </p:nvSpPr>
        <p:spPr>
          <a:xfrm>
            <a:off x="512064" y="4956048"/>
            <a:ext cx="457200" cy="731520"/>
          </a:xfrm>
          <a:prstGeom prst="rect">
            <a:avLst/>
          </a:prstGeom>
          <a:noFill/>
          <a:ln/>
        </p:spPr>
        <p:txBody>
          <a:bodyPr wrap="square" lIns="0" tIns="0" rIns="0" bIns="0" rtlCol="0" anchor="t"/>
          <a:lstStyle/>
          <a:p>
            <a:pPr indent="0" marL="0">
              <a:buNone/>
            </a:pPr>
            <a:r>
              <a:rPr lang="de-DE" altLang="en-US" sz="5400" b="1" dirty="0">
                <a:solidFill>
                  <a:schemeClr val="accent1"/>
                </a:solidFill>
                <a:latin typeface="+mj-lt" pitchFamily="34" charset="0"/>
                <a:ea typeface="+mj-lt" pitchFamily="34" charset="-122"/>
                <a:cs typeface="+mj-lt" pitchFamily="34" charset="-120"/>
              </a:rPr>
              <a:t>“</a:t>
            </a:r>
            <a:endParaRPr lang="de-DE" sz="5400" dirty="0"/>
          </a:p>
        </p:txBody>
      </p:sp>
      <p:sp>
        <p:nvSpPr>
          <p:cNvPr id="8" name="Text 5"/>
          <p:cNvSpPr txBox="1"/>
          <p:nvPr/>
        </p:nvSpPr>
        <p:spPr>
          <a:xfrm>
            <a:off x="960120" y="5047488"/>
            <a:ext cx="6492240" cy="365760"/>
          </a:xfrm>
          <a:prstGeom prst="rect">
            <a:avLst/>
          </a:prstGeom>
          <a:noFill/>
          <a:ln/>
        </p:spPr>
        <p:txBody>
          <a:bodyPr wrap="square" lIns="0" tIns="0" rIns="0" bIns="0" rtlCol="0" anchor="t"/>
          <a:lstStyle/>
          <a:p>
            <a:pPr indent="0" marL="0">
              <a:buNone/>
            </a:pPr>
            <a:r>
              <a:rPr lang="en-US" altLang="en-US" sz="2000" b="1" i="1" dirty="0">
                <a:solidFill>
                  <a:schemeClr val="tx1"/>
                </a:solidFill>
                <a:latin typeface="+mj-lt" pitchFamily="34" charset="0"/>
                <a:ea typeface="+mj-lt" pitchFamily="34" charset="-122"/>
                <a:cs typeface="+mj-lt" pitchFamily="34" charset="-120"/>
              </a:rPr>
              <a:t>I wanted to always play it down.</a:t>
            </a:r>
            <a:endParaRPr lang="en-US" sz="2000" dirty="0"/>
          </a:p>
        </p:txBody>
      </p:sp>
      <p:sp>
        <p:nvSpPr>
          <p:cNvPr id="9" name="Text 6"/>
          <p:cNvSpPr txBox="1"/>
          <p:nvPr/>
        </p:nvSpPr>
        <p:spPr>
          <a:xfrm>
            <a:off x="960120" y="5422392"/>
            <a:ext cx="6492240" cy="274320"/>
          </a:xfrm>
          <a:prstGeom prst="rect">
            <a:avLst/>
          </a:prstGeom>
          <a:noFill/>
          <a:ln/>
        </p:spPr>
        <p:txBody>
          <a:bodyPr wrap="square" lIns="0" tIns="0" rIns="0" bIns="0" rtlCol="0" anchor="t"/>
          <a:lstStyle/>
          <a:p>
            <a:pPr indent="0" marL="0">
              <a:buNone/>
            </a:pPr>
            <a:r>
              <a:rPr lang="de-DE" altLang="en-US" sz="1200" dirty="0">
                <a:solidFill>
                  <a:schemeClr val="tx2"/>
                </a:solidFill>
              </a:rPr>
              <a:t>Trump im März 2020 zum Journalisten Bob Woodward – über die Gefahr des Virus</a:t>
            </a:r>
            <a:endParaRPr lang="de-DE" sz="1200" dirty="0"/>
          </a:p>
        </p:txBody>
      </p:sp>
      <p:sp>
        <p:nvSpPr>
          <p:cNvPr id="10" name="Shape 7"/>
          <p:cNvSpPr/>
          <p:nvPr/>
        </p:nvSpPr>
        <p:spPr>
          <a:xfrm>
            <a:off x="8001000" y="1737360"/>
            <a:ext cx="3642055" cy="1207008"/>
          </a:xfrm>
          <a:prstGeom prst="roundRect">
            <a:avLst>
              <a:gd name="adj" fmla="val 9091"/>
            </a:avLst>
          </a:prstGeom>
          <a:solidFill>
            <a:schemeClr val="tx1"/>
          </a:solidFill>
          <a:ln/>
        </p:spPr>
      </p:sp>
      <p:sp>
        <p:nvSpPr>
          <p:cNvPr id="11" name="Text 8"/>
          <p:cNvSpPr txBox="1"/>
          <p:nvPr/>
        </p:nvSpPr>
        <p:spPr>
          <a:xfrm>
            <a:off x="8275320" y="1892808"/>
            <a:ext cx="3184855" cy="457200"/>
          </a:xfrm>
          <a:prstGeom prst="rect">
            <a:avLst/>
          </a:prstGeom>
          <a:noFill/>
          <a:ln/>
        </p:spPr>
        <p:txBody>
          <a:bodyPr wrap="square" lIns="0" tIns="0" rIns="0" bIns="0" rtlCol="0" anchor="t"/>
          <a:lstStyle/>
          <a:p>
            <a:pPr indent="0" marL="0">
              <a:buNone/>
            </a:pPr>
            <a:r>
              <a:rPr lang="de-DE" altLang="en-US" sz="2800" b="1" dirty="0">
                <a:solidFill>
                  <a:schemeClr val="bg1"/>
                </a:solidFill>
              </a:rPr>
              <a:t>2,2 Bio. $</a:t>
            </a:r>
            <a:endParaRPr lang="de-DE" sz="2800" dirty="0"/>
          </a:p>
        </p:txBody>
      </p:sp>
      <p:sp>
        <p:nvSpPr>
          <p:cNvPr id="12" name="Text 9"/>
          <p:cNvSpPr txBox="1"/>
          <p:nvPr/>
        </p:nvSpPr>
        <p:spPr>
          <a:xfrm>
            <a:off x="8275320" y="2359152"/>
            <a:ext cx="3184855" cy="502920"/>
          </a:xfrm>
          <a:prstGeom prst="rect">
            <a:avLst/>
          </a:prstGeom>
          <a:noFill/>
          <a:ln/>
        </p:spPr>
        <p:txBody>
          <a:bodyPr wrap="square" lIns="0" tIns="0" rIns="0" bIns="0" rtlCol="0" anchor="t"/>
          <a:lstStyle/>
          <a:p>
            <a:pPr indent="0" marL="0">
              <a:buNone/>
            </a:pPr>
            <a:r>
              <a:rPr lang="de-DE" altLang="en-US" sz="1400" dirty="0">
                <a:solidFill>
                  <a:schemeClr val="accent3"/>
                </a:solidFill>
              </a:rPr>
              <a:t>CARES Act (März 2020) – größtes Hilfspaket der US-Geschichte</a:t>
            </a:r>
            <a:endParaRPr lang="de-DE" sz="1400" dirty="0"/>
          </a:p>
        </p:txBody>
      </p:sp>
      <p:sp>
        <p:nvSpPr>
          <p:cNvPr id="13" name="Shape 10"/>
          <p:cNvSpPr/>
          <p:nvPr/>
        </p:nvSpPr>
        <p:spPr>
          <a:xfrm>
            <a:off x="8001000" y="3122676"/>
            <a:ext cx="3642055" cy="1207008"/>
          </a:xfrm>
          <a:prstGeom prst="roundRect">
            <a:avLst>
              <a:gd name="adj" fmla="val 9091"/>
            </a:avLst>
          </a:prstGeom>
          <a:solidFill>
            <a:schemeClr val="bg2"/>
          </a:solidFill>
          <a:ln/>
        </p:spPr>
      </p:sp>
      <p:sp>
        <p:nvSpPr>
          <p:cNvPr id="14" name="Text 11"/>
          <p:cNvSpPr txBox="1"/>
          <p:nvPr/>
        </p:nvSpPr>
        <p:spPr>
          <a:xfrm>
            <a:off x="8275320" y="3278124"/>
            <a:ext cx="3184855" cy="457200"/>
          </a:xfrm>
          <a:prstGeom prst="rect">
            <a:avLst/>
          </a:prstGeom>
          <a:noFill/>
          <a:ln/>
        </p:spPr>
        <p:txBody>
          <a:bodyPr wrap="square" lIns="0" tIns="0" rIns="0" bIns="0" rtlCol="0" anchor="t"/>
          <a:lstStyle/>
          <a:p>
            <a:pPr indent="0" marL="0">
              <a:buNone/>
            </a:pPr>
            <a:r>
              <a:rPr lang="de-DE" altLang="en-US" sz="2800" b="1" dirty="0">
                <a:solidFill>
                  <a:schemeClr val="tx1"/>
                </a:solidFill>
              </a:rPr>
              <a:t>&lt; 1 Jahr</a:t>
            </a:r>
            <a:endParaRPr lang="de-DE" sz="2800" dirty="0"/>
          </a:p>
        </p:txBody>
      </p:sp>
      <p:sp>
        <p:nvSpPr>
          <p:cNvPr id="15" name="Text 12"/>
          <p:cNvSpPr txBox="1"/>
          <p:nvPr/>
        </p:nvSpPr>
        <p:spPr>
          <a:xfrm>
            <a:off x="8275320" y="3744468"/>
            <a:ext cx="3184855" cy="502920"/>
          </a:xfrm>
          <a:prstGeom prst="rect">
            <a:avLst/>
          </a:prstGeom>
          <a:noFill/>
          <a:ln/>
        </p:spPr>
        <p:txBody>
          <a:bodyPr wrap="square" lIns="0" tIns="0" rIns="0" bIns="0" rtlCol="0" anchor="t"/>
          <a:lstStyle/>
          <a:p>
            <a:pPr indent="0" marL="0">
              <a:buNone/>
            </a:pPr>
            <a:r>
              <a:rPr lang="de-DE" altLang="en-US" sz="1400" dirty="0">
                <a:solidFill>
                  <a:schemeClr val="tx2"/>
                </a:solidFill>
              </a:rPr>
              <a:t>bis zum ersten zugelassenen Impfstoff („Operation Warp Speed“)</a:t>
            </a:r>
            <a:endParaRPr lang="de-DE" sz="1400" dirty="0"/>
          </a:p>
        </p:txBody>
      </p:sp>
      <p:sp>
        <p:nvSpPr>
          <p:cNvPr id="16" name="Shape 13"/>
          <p:cNvSpPr/>
          <p:nvPr/>
        </p:nvSpPr>
        <p:spPr>
          <a:xfrm>
            <a:off x="8001000" y="4507992"/>
            <a:ext cx="3642055" cy="1207008"/>
          </a:xfrm>
          <a:prstGeom prst="roundRect">
            <a:avLst>
              <a:gd name="adj" fmla="val 9091"/>
            </a:avLst>
          </a:prstGeom>
          <a:solidFill>
            <a:schemeClr val="accent1"/>
          </a:solidFill>
          <a:ln/>
        </p:spPr>
      </p:sp>
      <p:sp>
        <p:nvSpPr>
          <p:cNvPr id="17" name="Text 14"/>
          <p:cNvSpPr txBox="1"/>
          <p:nvPr/>
        </p:nvSpPr>
        <p:spPr>
          <a:xfrm>
            <a:off x="8275320" y="4663440"/>
            <a:ext cx="3184855" cy="457200"/>
          </a:xfrm>
          <a:prstGeom prst="rect">
            <a:avLst/>
          </a:prstGeom>
          <a:noFill/>
          <a:ln/>
        </p:spPr>
        <p:txBody>
          <a:bodyPr wrap="square" lIns="0" tIns="0" rIns="0" bIns="0" rtlCol="0" anchor="t"/>
          <a:lstStyle/>
          <a:p>
            <a:pPr indent="0" marL="0">
              <a:buNone/>
            </a:pPr>
            <a:r>
              <a:rPr lang="de-DE" altLang="en-US" sz="2800" b="1" dirty="0">
                <a:solidFill>
                  <a:schemeClr val="bg1"/>
                </a:solidFill>
              </a:rPr>
              <a:t>400.000</a:t>
            </a:r>
            <a:endParaRPr lang="de-DE" sz="2800" dirty="0"/>
          </a:p>
        </p:txBody>
      </p:sp>
      <p:sp>
        <p:nvSpPr>
          <p:cNvPr id="18" name="Text 15"/>
          <p:cNvSpPr txBox="1"/>
          <p:nvPr/>
        </p:nvSpPr>
        <p:spPr>
          <a:xfrm>
            <a:off x="8275320" y="5129784"/>
            <a:ext cx="3184855" cy="502920"/>
          </a:xfrm>
          <a:prstGeom prst="rect">
            <a:avLst/>
          </a:prstGeom>
          <a:noFill/>
          <a:ln/>
        </p:spPr>
        <p:txBody>
          <a:bodyPr wrap="square" lIns="0" tIns="0" rIns="0" bIns="0" rtlCol="0" anchor="t"/>
          <a:lstStyle/>
          <a:p>
            <a:pPr indent="0" marL="0">
              <a:buNone/>
            </a:pPr>
            <a:r>
              <a:rPr lang="de-DE" altLang="en-US" sz="1400" dirty="0">
                <a:solidFill>
                  <a:schemeClr val="bg1"/>
                </a:solidFill>
              </a:rPr>
              <a:t>Corona-Tote in den USA bis zum Ende der Amtszeit</a:t>
            </a:r>
            <a:endParaRPr lang="de-DE" sz="1400" dirty="0"/>
          </a:p>
        </p:txBody>
      </p:sp>
      <p:sp>
        <p:nvSpPr>
          <p:cNvPr id="19" name="!!tl-span"/>
          <p:cNvSpPr/>
          <p:nvPr/>
        </p:nvSpPr>
        <p:spPr>
          <a:xfrm>
            <a:off x="8133809" y="6117336"/>
            <a:ext cx="2476234" cy="54864"/>
          </a:xfrm>
          <a:prstGeom prst="rect">
            <a:avLst/>
          </a:prstGeom>
          <a:solidFill>
            <a:schemeClr val="accent1"/>
          </a:solidFill>
          <a:ln/>
        </p:spPr>
      </p:sp>
      <p:sp>
        <p:nvSpPr>
          <p:cNvPr id="20" name="!!tl-d1"/>
          <p:cNvSpPr/>
          <p:nvPr/>
        </p:nvSpPr>
        <p:spPr>
          <a:xfrm>
            <a:off x="8500500" y="6062472"/>
            <a:ext cx="164592" cy="164592"/>
          </a:xfrm>
          <a:prstGeom prst="ellipse">
            <a:avLst/>
          </a:prstGeom>
          <a:solidFill>
            <a:schemeClr val="accent1"/>
          </a:solidFill>
          <a:ln w="19050">
            <a:solidFill>
              <a:schemeClr val="bg1"/>
            </a:solidFill>
            <a:prstDash val="solid"/>
          </a:ln>
        </p:spPr>
      </p:sp>
      <p:sp>
        <p:nvSpPr>
          <p:cNvPr id="21" name="!!tl-d2"/>
          <p:cNvSpPr/>
          <p:nvPr/>
        </p:nvSpPr>
        <p:spPr>
          <a:xfrm>
            <a:off x="10262436" y="6062472"/>
            <a:ext cx="164592" cy="164592"/>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06 · DAS ENDE · 2019–2021</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Abwahl und Sturm aufs Kapitol</a:t>
            </a:r>
            <a:endParaRPr lang="en-US" sz="3600" dirty="0"/>
          </a:p>
        </p:txBody>
      </p:sp>
      <p:sp>
        <p:nvSpPr>
          <p:cNvPr id="4" name="Shape 2"/>
          <p:cNvSpPr/>
          <p:nvPr/>
        </p:nvSpPr>
        <p:spPr>
          <a:xfrm>
            <a:off x="548640" y="1737360"/>
            <a:ext cx="3429000" cy="1600200"/>
          </a:xfrm>
          <a:prstGeom prst="roundRect">
            <a:avLst>
              <a:gd name="adj" fmla="val 6857"/>
            </a:avLst>
          </a:prstGeom>
          <a:solidFill>
            <a:schemeClr val="accent1"/>
          </a:solidFill>
          <a:ln/>
        </p:spPr>
      </p:sp>
      <p:sp>
        <p:nvSpPr>
          <p:cNvPr id="5" name="Text 3"/>
          <p:cNvSpPr txBox="1"/>
          <p:nvPr/>
        </p:nvSpPr>
        <p:spPr>
          <a:xfrm>
            <a:off x="804672" y="1938528"/>
            <a:ext cx="1280160" cy="1097280"/>
          </a:xfrm>
          <a:prstGeom prst="rect">
            <a:avLst/>
          </a:prstGeom>
          <a:noFill/>
          <a:ln/>
        </p:spPr>
        <p:txBody>
          <a:bodyPr wrap="square" lIns="0" tIns="0" rIns="0" bIns="0" rtlCol="0" anchor="ctr"/>
          <a:lstStyle/>
          <a:p>
            <a:pPr indent="0" marL="0">
              <a:buNone/>
            </a:pPr>
            <a:r>
              <a:rPr lang="de-DE" altLang="en-US" sz="6600" b="1" dirty="0">
                <a:solidFill>
                  <a:schemeClr val="bg1"/>
                </a:solidFill>
              </a:rPr>
              <a:t>2×</a:t>
            </a:r>
            <a:endParaRPr lang="de-DE" sz="6600" dirty="0"/>
          </a:p>
        </p:txBody>
      </p:sp>
      <p:sp>
        <p:nvSpPr>
          <p:cNvPr id="6" name="Text 4"/>
          <p:cNvSpPr txBox="1"/>
          <p:nvPr/>
        </p:nvSpPr>
        <p:spPr>
          <a:xfrm>
            <a:off x="2148840" y="1965960"/>
            <a:ext cx="1645920" cy="274320"/>
          </a:xfrm>
          <a:prstGeom prst="rect">
            <a:avLst/>
          </a:prstGeom>
          <a:noFill/>
          <a:ln/>
        </p:spPr>
        <p:txBody>
          <a:bodyPr wrap="square" lIns="0" tIns="0" rIns="0" bIns="0" rtlCol="0" anchor="t"/>
          <a:lstStyle/>
          <a:p>
            <a:pPr indent="0" marL="0">
              <a:buNone/>
            </a:pPr>
            <a:r>
              <a:rPr lang="de-DE" altLang="en-US" sz="1600" b="1" dirty="0">
                <a:solidFill>
                  <a:schemeClr val="bg1"/>
                </a:solidFill>
              </a:rPr>
              <a:t>Impeachment</a:t>
            </a:r>
            <a:endParaRPr lang="de-DE" sz="1600" dirty="0"/>
          </a:p>
        </p:txBody>
      </p:sp>
      <p:sp>
        <p:nvSpPr>
          <p:cNvPr id="7" name="Text 5"/>
          <p:cNvSpPr txBox="1"/>
          <p:nvPr/>
        </p:nvSpPr>
        <p:spPr>
          <a:xfrm>
            <a:off x="2148840" y="2286000"/>
            <a:ext cx="1645920" cy="914400"/>
          </a:xfrm>
          <a:prstGeom prst="rect">
            <a:avLst/>
          </a:prstGeom>
          <a:noFill/>
          <a:ln/>
        </p:spPr>
        <p:txBody>
          <a:bodyPr wrap="square" lIns="0" tIns="0" rIns="0" bIns="0" rtlCol="0" anchor="t"/>
          <a:lstStyle/>
          <a:p>
            <a:pPr indent="0" marL="0">
              <a:buNone/>
            </a:pPr>
            <a:r>
              <a:rPr lang="de-DE" altLang="en-US" sz="1400" dirty="0">
                <a:solidFill>
                  <a:schemeClr val="bg1"/>
                </a:solidFill>
              </a:rPr>
              <a:t>als erster Präsident zweimal angeklagt – beide Male freigesprochen</a:t>
            </a:r>
            <a:endParaRPr lang="de-DE" sz="1400" dirty="0"/>
          </a:p>
        </p:txBody>
      </p:sp>
      <p:sp>
        <p:nvSpPr>
          <p:cNvPr id="8" name="Shape 6"/>
          <p:cNvSpPr/>
          <p:nvPr/>
        </p:nvSpPr>
        <p:spPr>
          <a:xfrm>
            <a:off x="4251960" y="1737360"/>
            <a:ext cx="7391095" cy="1600200"/>
          </a:xfrm>
          <a:prstGeom prst="roundRect">
            <a:avLst>
              <a:gd name="adj" fmla="val 6857"/>
            </a:avLst>
          </a:prstGeom>
          <a:solidFill>
            <a:schemeClr val="tx1"/>
          </a:solidFill>
          <a:ln/>
        </p:spPr>
      </p:sp>
      <p:sp>
        <p:nvSpPr>
          <p:cNvPr id="9" name="Text 7"/>
          <p:cNvSpPr txBox="1"/>
          <p:nvPr/>
        </p:nvSpPr>
        <p:spPr>
          <a:xfrm>
            <a:off x="4526280" y="1938528"/>
            <a:ext cx="5486400" cy="228600"/>
          </a:xfrm>
          <a:prstGeom prst="rect">
            <a:avLst/>
          </a:prstGeom>
          <a:noFill/>
          <a:ln/>
        </p:spPr>
        <p:txBody>
          <a:bodyPr wrap="square" lIns="0" tIns="0" rIns="0" bIns="0" rtlCol="0" anchor="t"/>
          <a:lstStyle/>
          <a:p>
            <a:pPr indent="0" marL="0">
              <a:buNone/>
            </a:pPr>
            <a:r>
              <a:rPr lang="de-DE" altLang="en-US" sz="1100" b="1" spc="150" kern="0" dirty="0">
                <a:solidFill>
                  <a:schemeClr val="accent6"/>
                </a:solidFill>
              </a:rPr>
              <a:t>TRUMPS REDE AM 6. JANUAR 2021</a:t>
            </a:r>
            <a:endParaRPr lang="de-DE" sz="1100" dirty="0"/>
          </a:p>
        </p:txBody>
      </p:sp>
      <p:sp>
        <p:nvSpPr>
          <p:cNvPr id="10" name="Text 8"/>
          <p:cNvSpPr txBox="1"/>
          <p:nvPr/>
        </p:nvSpPr>
        <p:spPr>
          <a:xfrm>
            <a:off x="4526280" y="2194560"/>
            <a:ext cx="6842455" cy="329184"/>
          </a:xfrm>
          <a:prstGeom prst="rect">
            <a:avLst/>
          </a:prstGeom>
          <a:noFill/>
          <a:ln/>
        </p:spPr>
        <p:txBody>
          <a:bodyPr wrap="square" lIns="0" tIns="0" rIns="0" bIns="0" rtlCol="0" anchor="t"/>
          <a:lstStyle/>
          <a:p>
            <a:pPr indent="0" marL="0">
              <a:buNone/>
            </a:pPr>
            <a:r>
              <a:rPr lang="en-US" altLang="en-US" sz="1800" b="1" i="1" dirty="0">
                <a:solidFill>
                  <a:schemeClr val="bg1"/>
                </a:solidFill>
                <a:latin typeface="+mj-lt" pitchFamily="34" charset="0"/>
                <a:ea typeface="+mj-lt" pitchFamily="34" charset="-122"/>
                <a:cs typeface="+mj-lt" pitchFamily="34" charset="-120"/>
              </a:rPr>
              <a:t>„… peacefully and patriotically make your voices heard.“</a:t>
            </a:r>
            <a:endParaRPr lang="en-US" sz="1800" dirty="0"/>
          </a:p>
        </p:txBody>
      </p:sp>
      <p:sp>
        <p:nvSpPr>
          <p:cNvPr id="11" name="Text 9"/>
          <p:cNvSpPr txBox="1"/>
          <p:nvPr/>
        </p:nvSpPr>
        <p:spPr>
          <a:xfrm>
            <a:off x="4526280" y="2542032"/>
            <a:ext cx="6842455" cy="329184"/>
          </a:xfrm>
          <a:prstGeom prst="rect">
            <a:avLst/>
          </a:prstGeom>
          <a:noFill/>
          <a:ln/>
        </p:spPr>
        <p:txBody>
          <a:bodyPr wrap="square" lIns="0" tIns="0" rIns="0" bIns="0" rtlCol="0" anchor="t"/>
          <a:lstStyle/>
          <a:p>
            <a:pPr indent="0" marL="0">
              <a:buNone/>
            </a:pPr>
            <a:r>
              <a:rPr lang="en-US" altLang="en-US" sz="1800" b="1" i="1" dirty="0">
                <a:solidFill>
                  <a:schemeClr val="bg1"/>
                </a:solidFill>
                <a:latin typeface="+mj-lt" pitchFamily="34" charset="0"/>
                <a:ea typeface="+mj-lt" pitchFamily="34" charset="-122"/>
                <a:cs typeface="+mj-lt" pitchFamily="34" charset="-120"/>
              </a:rPr>
              <a:t>„We fight like hell.“</a:t>
            </a:r>
            <a:endParaRPr lang="en-US" sz="1800" dirty="0"/>
          </a:p>
        </p:txBody>
      </p:sp>
      <p:sp>
        <p:nvSpPr>
          <p:cNvPr id="12" name="Text 10"/>
          <p:cNvSpPr txBox="1"/>
          <p:nvPr/>
        </p:nvSpPr>
        <p:spPr>
          <a:xfrm>
            <a:off x="4526280" y="2953512"/>
            <a:ext cx="6842455" cy="228600"/>
          </a:xfrm>
          <a:prstGeom prst="rect">
            <a:avLst/>
          </a:prstGeom>
          <a:noFill/>
          <a:ln/>
        </p:spPr>
        <p:txBody>
          <a:bodyPr wrap="square" lIns="0" tIns="0" rIns="0" bIns="0" rtlCol="0" anchor="t"/>
          <a:lstStyle/>
          <a:p>
            <a:pPr indent="0" marL="0">
              <a:buNone/>
            </a:pPr>
            <a:r>
              <a:rPr lang="de-DE" altLang="en-US" sz="1300" dirty="0">
                <a:solidFill>
                  <a:schemeClr val="accent3"/>
                </a:solidFill>
              </a:rPr>
              <a:t>Beide Sätze fielen in derselben Rede – im 2. Impeachment stritt man darüber, welcher zählt.</a:t>
            </a:r>
            <a:endParaRPr lang="de-DE" sz="1300" dirty="0"/>
          </a:p>
        </p:txBody>
      </p:sp>
      <p:sp>
        <p:nvSpPr>
          <p:cNvPr id="13" name="Shape 11"/>
          <p:cNvSpPr/>
          <p:nvPr/>
        </p:nvSpPr>
        <p:spPr>
          <a:xfrm>
            <a:off x="548640" y="3611880"/>
            <a:ext cx="2072579" cy="2103120"/>
          </a:xfrm>
          <a:prstGeom prst="roundRect">
            <a:avLst>
              <a:gd name="adj" fmla="val 5294"/>
            </a:avLst>
          </a:prstGeom>
          <a:solidFill>
            <a:schemeClr val="bg2"/>
          </a:solidFill>
          <a:ln/>
        </p:spPr>
      </p:sp>
      <p:sp>
        <p:nvSpPr>
          <p:cNvPr id="14" name="Text 12"/>
          <p:cNvSpPr txBox="1"/>
          <p:nvPr/>
        </p:nvSpPr>
        <p:spPr>
          <a:xfrm>
            <a:off x="731520" y="3776472"/>
            <a:ext cx="1752539" cy="201168"/>
          </a:xfrm>
          <a:prstGeom prst="rect">
            <a:avLst/>
          </a:prstGeom>
          <a:noFill/>
          <a:ln/>
        </p:spPr>
        <p:txBody>
          <a:bodyPr wrap="square" lIns="0" tIns="0" rIns="0" bIns="0" rtlCol="0" anchor="t"/>
          <a:lstStyle/>
          <a:p>
            <a:pPr indent="0" marL="0">
              <a:buNone/>
            </a:pPr>
            <a:r>
              <a:rPr lang="de-DE" altLang="en-US" sz="1000" b="1" spc="100" kern="0" dirty="0">
                <a:solidFill>
                  <a:schemeClr val="accent1"/>
                </a:solidFill>
              </a:rPr>
              <a:t>18. DEZ. 2019</a:t>
            </a:r>
            <a:endParaRPr lang="de-DE" sz="1000" dirty="0"/>
          </a:p>
        </p:txBody>
      </p:sp>
      <p:sp>
        <p:nvSpPr>
          <p:cNvPr id="15" name="Text 13"/>
          <p:cNvSpPr txBox="1"/>
          <p:nvPr/>
        </p:nvSpPr>
        <p:spPr>
          <a:xfrm>
            <a:off x="731520" y="4014216"/>
            <a:ext cx="1752539" cy="292608"/>
          </a:xfrm>
          <a:prstGeom prst="rect">
            <a:avLst/>
          </a:prstGeom>
          <a:noFill/>
          <a:ln/>
        </p:spPr>
        <p:txBody>
          <a:bodyPr wrap="square" lIns="0" tIns="0" rIns="0" bIns="0" rtlCol="0" anchor="t"/>
          <a:lstStyle/>
          <a:p>
            <a:pPr indent="0" marL="0">
              <a:buNone/>
            </a:pPr>
            <a:r>
              <a:rPr lang="de-DE" altLang="en-US" sz="1500" b="1" dirty="0">
                <a:solidFill>
                  <a:schemeClr val="tx1"/>
                </a:solidFill>
              </a:rPr>
              <a:t>1. Impeachment</a:t>
            </a:r>
            <a:endParaRPr lang="de-DE" sz="1500" dirty="0"/>
          </a:p>
        </p:txBody>
      </p:sp>
      <p:sp>
        <p:nvSpPr>
          <p:cNvPr id="16" name="Text 14"/>
          <p:cNvSpPr txBox="1"/>
          <p:nvPr/>
        </p:nvSpPr>
        <p:spPr>
          <a:xfrm>
            <a:off x="731520" y="4361688"/>
            <a:ext cx="1770827" cy="1234440"/>
          </a:xfrm>
          <a:prstGeom prst="rect">
            <a:avLst/>
          </a:prstGeom>
          <a:noFill/>
          <a:ln/>
        </p:spPr>
        <p:txBody>
          <a:bodyPr wrap="square" lIns="0" tIns="0" rIns="0" bIns="0" rtlCol="0" anchor="t"/>
          <a:lstStyle/>
          <a:p>
            <a:pPr indent="0" marL="0">
              <a:buNone/>
            </a:pPr>
            <a:r>
              <a:rPr lang="de-DE" altLang="en-US" sz="1400" dirty="0">
                <a:solidFill>
                  <a:schemeClr val="tx2"/>
                </a:solidFill>
              </a:rPr>
              <a:t>Vorwurf: Druck auf die Ukraine, gegen Biden zu ermitteln. Freispruch im Senat.</a:t>
            </a:r>
            <a:endParaRPr lang="de-DE" sz="1400" dirty="0"/>
          </a:p>
        </p:txBody>
      </p:sp>
      <p:sp>
        <p:nvSpPr>
          <p:cNvPr id="17" name="Shape 15"/>
          <p:cNvSpPr/>
          <p:nvPr/>
        </p:nvSpPr>
        <p:spPr>
          <a:xfrm rot="5400000">
            <a:off x="2666939" y="4599432"/>
            <a:ext cx="128016" cy="91440"/>
          </a:xfrm>
          <a:prstGeom prst="triangle">
            <a:avLst/>
          </a:prstGeom>
          <a:solidFill>
            <a:schemeClr val="accent1"/>
          </a:solidFill>
          <a:ln/>
        </p:spPr>
      </p:sp>
      <p:sp>
        <p:nvSpPr>
          <p:cNvPr id="18" name="Shape 16"/>
          <p:cNvSpPr/>
          <p:nvPr/>
        </p:nvSpPr>
        <p:spPr>
          <a:xfrm>
            <a:off x="2804099" y="3611880"/>
            <a:ext cx="2072579" cy="2103120"/>
          </a:xfrm>
          <a:prstGeom prst="roundRect">
            <a:avLst>
              <a:gd name="adj" fmla="val 5294"/>
            </a:avLst>
          </a:prstGeom>
          <a:solidFill>
            <a:schemeClr val="bg2"/>
          </a:solidFill>
          <a:ln/>
        </p:spPr>
      </p:sp>
      <p:sp>
        <p:nvSpPr>
          <p:cNvPr id="19" name="Text 17"/>
          <p:cNvSpPr txBox="1"/>
          <p:nvPr/>
        </p:nvSpPr>
        <p:spPr>
          <a:xfrm>
            <a:off x="2986979" y="3776472"/>
            <a:ext cx="1752539" cy="201168"/>
          </a:xfrm>
          <a:prstGeom prst="rect">
            <a:avLst/>
          </a:prstGeom>
          <a:noFill/>
          <a:ln/>
        </p:spPr>
        <p:txBody>
          <a:bodyPr wrap="square" lIns="0" tIns="0" rIns="0" bIns="0" rtlCol="0" anchor="t"/>
          <a:lstStyle/>
          <a:p>
            <a:pPr indent="0" marL="0">
              <a:buNone/>
            </a:pPr>
            <a:r>
              <a:rPr lang="de-DE" altLang="en-US" sz="1000" b="1" spc="100" kern="0" dirty="0">
                <a:solidFill>
                  <a:schemeClr val="accent1"/>
                </a:solidFill>
              </a:rPr>
              <a:t>3. NOV. 2020</a:t>
            </a:r>
            <a:endParaRPr lang="de-DE" sz="1000" dirty="0"/>
          </a:p>
        </p:txBody>
      </p:sp>
      <p:sp>
        <p:nvSpPr>
          <p:cNvPr id="20" name="Text 18"/>
          <p:cNvSpPr txBox="1"/>
          <p:nvPr/>
        </p:nvSpPr>
        <p:spPr>
          <a:xfrm>
            <a:off x="2986979" y="4014216"/>
            <a:ext cx="1752539" cy="292608"/>
          </a:xfrm>
          <a:prstGeom prst="rect">
            <a:avLst/>
          </a:prstGeom>
          <a:noFill/>
          <a:ln/>
        </p:spPr>
        <p:txBody>
          <a:bodyPr wrap="square" lIns="0" tIns="0" rIns="0" bIns="0" rtlCol="0" anchor="t"/>
          <a:lstStyle/>
          <a:p>
            <a:pPr indent="0" marL="0">
              <a:buNone/>
            </a:pPr>
            <a:r>
              <a:rPr lang="de-DE" altLang="en-US" sz="1500" b="1" dirty="0">
                <a:solidFill>
                  <a:schemeClr val="tx1"/>
                </a:solidFill>
              </a:rPr>
              <a:t>Wahl verloren</a:t>
            </a:r>
            <a:endParaRPr lang="de-DE" sz="1500" dirty="0"/>
          </a:p>
        </p:txBody>
      </p:sp>
      <p:sp>
        <p:nvSpPr>
          <p:cNvPr id="21" name="Text 19"/>
          <p:cNvSpPr txBox="1"/>
          <p:nvPr/>
        </p:nvSpPr>
        <p:spPr>
          <a:xfrm>
            <a:off x="2986979" y="4361688"/>
            <a:ext cx="1770827" cy="1234440"/>
          </a:xfrm>
          <a:prstGeom prst="rect">
            <a:avLst/>
          </a:prstGeom>
          <a:noFill/>
          <a:ln/>
        </p:spPr>
        <p:txBody>
          <a:bodyPr wrap="square" lIns="0" tIns="0" rIns="0" bIns="0" rtlCol="0" anchor="t"/>
          <a:lstStyle/>
          <a:p>
            <a:pPr indent="0" marL="0">
              <a:buNone/>
            </a:pPr>
            <a:r>
              <a:rPr lang="de-DE" altLang="en-US" sz="1400" dirty="0">
                <a:solidFill>
                  <a:schemeClr val="tx2"/>
                </a:solidFill>
              </a:rPr>
              <a:t>Biden gewinnt 306 : 232 Wahlleute und 7 Mio. Stimmen mehr.</a:t>
            </a:r>
            <a:endParaRPr lang="de-DE" sz="1400" dirty="0"/>
          </a:p>
        </p:txBody>
      </p:sp>
      <p:sp>
        <p:nvSpPr>
          <p:cNvPr id="22" name="Shape 20"/>
          <p:cNvSpPr/>
          <p:nvPr/>
        </p:nvSpPr>
        <p:spPr>
          <a:xfrm rot="5400000">
            <a:off x="4922398" y="4599432"/>
            <a:ext cx="128016" cy="91440"/>
          </a:xfrm>
          <a:prstGeom prst="triangle">
            <a:avLst/>
          </a:prstGeom>
          <a:solidFill>
            <a:schemeClr val="accent1"/>
          </a:solidFill>
          <a:ln/>
        </p:spPr>
      </p:sp>
      <p:sp>
        <p:nvSpPr>
          <p:cNvPr id="23" name="Shape 21"/>
          <p:cNvSpPr/>
          <p:nvPr/>
        </p:nvSpPr>
        <p:spPr>
          <a:xfrm>
            <a:off x="5059558" y="3611880"/>
            <a:ext cx="2072579" cy="2103120"/>
          </a:xfrm>
          <a:prstGeom prst="roundRect">
            <a:avLst>
              <a:gd name="adj" fmla="val 5294"/>
            </a:avLst>
          </a:prstGeom>
          <a:solidFill>
            <a:schemeClr val="bg2"/>
          </a:solidFill>
          <a:ln/>
        </p:spPr>
      </p:sp>
      <p:sp>
        <p:nvSpPr>
          <p:cNvPr id="24" name="Text 22"/>
          <p:cNvSpPr txBox="1"/>
          <p:nvPr/>
        </p:nvSpPr>
        <p:spPr>
          <a:xfrm>
            <a:off x="5242438" y="3776472"/>
            <a:ext cx="1752539" cy="201168"/>
          </a:xfrm>
          <a:prstGeom prst="rect">
            <a:avLst/>
          </a:prstGeom>
          <a:noFill/>
          <a:ln/>
        </p:spPr>
        <p:txBody>
          <a:bodyPr wrap="square" lIns="0" tIns="0" rIns="0" bIns="0" rtlCol="0" anchor="t"/>
          <a:lstStyle/>
          <a:p>
            <a:pPr indent="0" marL="0">
              <a:buNone/>
            </a:pPr>
            <a:r>
              <a:rPr lang="de-DE" altLang="en-US" sz="1000" b="1" spc="100" kern="0" dirty="0">
                <a:solidFill>
                  <a:schemeClr val="accent1"/>
                </a:solidFill>
              </a:rPr>
              <a:t>NOV.–DEZ. 2020</a:t>
            </a:r>
            <a:endParaRPr lang="de-DE" sz="1000" dirty="0"/>
          </a:p>
        </p:txBody>
      </p:sp>
      <p:sp>
        <p:nvSpPr>
          <p:cNvPr id="25" name="Text 23"/>
          <p:cNvSpPr txBox="1"/>
          <p:nvPr/>
        </p:nvSpPr>
        <p:spPr>
          <a:xfrm>
            <a:off x="5242438" y="4014216"/>
            <a:ext cx="1752539" cy="292608"/>
          </a:xfrm>
          <a:prstGeom prst="rect">
            <a:avLst/>
          </a:prstGeom>
          <a:noFill/>
          <a:ln/>
        </p:spPr>
        <p:txBody>
          <a:bodyPr wrap="square" lIns="0" tIns="0" rIns="0" bIns="0" rtlCol="0" anchor="t"/>
          <a:lstStyle/>
          <a:p>
            <a:pPr indent="0" marL="0">
              <a:buNone/>
            </a:pPr>
            <a:r>
              <a:rPr lang="de-DE" altLang="en-US" sz="1500" b="1" dirty="0">
                <a:solidFill>
                  <a:schemeClr val="tx1"/>
                </a:solidFill>
              </a:rPr>
              <a:t>Betrugsvorwurf</a:t>
            </a:r>
            <a:endParaRPr lang="de-DE" sz="1500" dirty="0"/>
          </a:p>
        </p:txBody>
      </p:sp>
      <p:sp>
        <p:nvSpPr>
          <p:cNvPr id="26" name="Text 24"/>
          <p:cNvSpPr txBox="1"/>
          <p:nvPr/>
        </p:nvSpPr>
        <p:spPr>
          <a:xfrm>
            <a:off x="5242438" y="4361688"/>
            <a:ext cx="1770827" cy="1234440"/>
          </a:xfrm>
          <a:prstGeom prst="rect">
            <a:avLst/>
          </a:prstGeom>
          <a:noFill/>
          <a:ln/>
        </p:spPr>
        <p:txBody>
          <a:bodyPr wrap="square" lIns="0" tIns="0" rIns="0" bIns="0" rtlCol="0" anchor="t"/>
          <a:lstStyle/>
          <a:p>
            <a:pPr indent="0" marL="0">
              <a:buNone/>
            </a:pPr>
            <a:r>
              <a:rPr lang="de-DE" altLang="en-US" sz="1400" dirty="0">
                <a:solidFill>
                  <a:schemeClr val="tx2"/>
                </a:solidFill>
              </a:rPr>
              <a:t>Trump erkennt die Niederlage nicht an – über 60 Klagen scheitern.</a:t>
            </a:r>
            <a:endParaRPr lang="de-DE" sz="1400" dirty="0"/>
          </a:p>
        </p:txBody>
      </p:sp>
      <p:sp>
        <p:nvSpPr>
          <p:cNvPr id="27" name="Shape 25"/>
          <p:cNvSpPr/>
          <p:nvPr/>
        </p:nvSpPr>
        <p:spPr>
          <a:xfrm rot="5400000">
            <a:off x="7177857" y="4599432"/>
            <a:ext cx="128016" cy="91440"/>
          </a:xfrm>
          <a:prstGeom prst="triangle">
            <a:avLst/>
          </a:prstGeom>
          <a:solidFill>
            <a:schemeClr val="accent1"/>
          </a:solidFill>
          <a:ln/>
        </p:spPr>
      </p:sp>
      <p:sp>
        <p:nvSpPr>
          <p:cNvPr id="28" name="Shape 26"/>
          <p:cNvSpPr/>
          <p:nvPr/>
        </p:nvSpPr>
        <p:spPr>
          <a:xfrm>
            <a:off x="7315017" y="3611880"/>
            <a:ext cx="2072579" cy="2103120"/>
          </a:xfrm>
          <a:prstGeom prst="roundRect">
            <a:avLst>
              <a:gd name="adj" fmla="val 5294"/>
            </a:avLst>
          </a:prstGeom>
          <a:solidFill>
            <a:schemeClr val="bg2"/>
          </a:solidFill>
          <a:ln/>
        </p:spPr>
      </p:sp>
      <p:sp>
        <p:nvSpPr>
          <p:cNvPr id="29" name="Text 27"/>
          <p:cNvSpPr txBox="1"/>
          <p:nvPr/>
        </p:nvSpPr>
        <p:spPr>
          <a:xfrm>
            <a:off x="7497897" y="3776472"/>
            <a:ext cx="1752539" cy="201168"/>
          </a:xfrm>
          <a:prstGeom prst="rect">
            <a:avLst/>
          </a:prstGeom>
          <a:noFill/>
          <a:ln/>
        </p:spPr>
        <p:txBody>
          <a:bodyPr wrap="square" lIns="0" tIns="0" rIns="0" bIns="0" rtlCol="0" anchor="t"/>
          <a:lstStyle/>
          <a:p>
            <a:pPr indent="0" marL="0">
              <a:buNone/>
            </a:pPr>
            <a:r>
              <a:rPr lang="de-DE" altLang="en-US" sz="1000" b="1" spc="100" kern="0" dirty="0">
                <a:solidFill>
                  <a:schemeClr val="accent1"/>
                </a:solidFill>
              </a:rPr>
              <a:t>6. JAN. 2021</a:t>
            </a:r>
            <a:endParaRPr lang="de-DE" sz="1000" dirty="0"/>
          </a:p>
        </p:txBody>
      </p:sp>
      <p:sp>
        <p:nvSpPr>
          <p:cNvPr id="30" name="Text 28"/>
          <p:cNvSpPr txBox="1"/>
          <p:nvPr/>
        </p:nvSpPr>
        <p:spPr>
          <a:xfrm>
            <a:off x="7497897" y="4014216"/>
            <a:ext cx="1752539" cy="292608"/>
          </a:xfrm>
          <a:prstGeom prst="rect">
            <a:avLst/>
          </a:prstGeom>
          <a:noFill/>
          <a:ln/>
        </p:spPr>
        <p:txBody>
          <a:bodyPr wrap="square" lIns="0" tIns="0" rIns="0" bIns="0" rtlCol="0" anchor="t"/>
          <a:lstStyle/>
          <a:p>
            <a:pPr indent="0" marL="0">
              <a:buNone/>
            </a:pPr>
            <a:r>
              <a:rPr lang="de-DE" altLang="en-US" sz="1500" b="1" dirty="0">
                <a:solidFill>
                  <a:schemeClr val="tx1"/>
                </a:solidFill>
              </a:rPr>
              <a:t>Sturm aufs Kapitol</a:t>
            </a:r>
            <a:endParaRPr lang="de-DE" sz="1500" dirty="0"/>
          </a:p>
        </p:txBody>
      </p:sp>
      <p:sp>
        <p:nvSpPr>
          <p:cNvPr id="31" name="Text 29"/>
          <p:cNvSpPr txBox="1"/>
          <p:nvPr/>
        </p:nvSpPr>
        <p:spPr>
          <a:xfrm>
            <a:off x="7497897" y="4361688"/>
            <a:ext cx="1770827" cy="1234440"/>
          </a:xfrm>
          <a:prstGeom prst="rect">
            <a:avLst/>
          </a:prstGeom>
          <a:noFill/>
          <a:ln/>
        </p:spPr>
        <p:txBody>
          <a:bodyPr wrap="square" lIns="0" tIns="0" rIns="0" bIns="0" rtlCol="0" anchor="t"/>
          <a:lstStyle/>
          <a:p>
            <a:pPr indent="0" marL="0">
              <a:buNone/>
            </a:pPr>
            <a:r>
              <a:rPr lang="de-DE" altLang="en-US" sz="1400" dirty="0">
                <a:solidFill>
                  <a:schemeClr val="tx2"/>
                </a:solidFill>
              </a:rPr>
              <a:t>Anhänger dringen gewaltsam ins Kapitol ein: Tote, rund 140 verletzte Polizisten.</a:t>
            </a:r>
            <a:endParaRPr lang="de-DE" sz="1400" dirty="0"/>
          </a:p>
        </p:txBody>
      </p:sp>
      <p:sp>
        <p:nvSpPr>
          <p:cNvPr id="32" name="Shape 30"/>
          <p:cNvSpPr/>
          <p:nvPr/>
        </p:nvSpPr>
        <p:spPr>
          <a:xfrm rot="5400000">
            <a:off x="9433316" y="4599432"/>
            <a:ext cx="128016" cy="91440"/>
          </a:xfrm>
          <a:prstGeom prst="triangle">
            <a:avLst/>
          </a:prstGeom>
          <a:solidFill>
            <a:schemeClr val="accent1"/>
          </a:solidFill>
          <a:ln/>
        </p:spPr>
      </p:sp>
      <p:sp>
        <p:nvSpPr>
          <p:cNvPr id="33" name="Shape 31"/>
          <p:cNvSpPr/>
          <p:nvPr/>
        </p:nvSpPr>
        <p:spPr>
          <a:xfrm>
            <a:off x="9570476" y="3611880"/>
            <a:ext cx="2072579" cy="2103120"/>
          </a:xfrm>
          <a:prstGeom prst="roundRect">
            <a:avLst>
              <a:gd name="adj" fmla="val 5294"/>
            </a:avLst>
          </a:prstGeom>
          <a:solidFill>
            <a:schemeClr val="bg2"/>
          </a:solidFill>
          <a:ln/>
        </p:spPr>
      </p:sp>
      <p:sp>
        <p:nvSpPr>
          <p:cNvPr id="34" name="Text 32"/>
          <p:cNvSpPr txBox="1"/>
          <p:nvPr/>
        </p:nvSpPr>
        <p:spPr>
          <a:xfrm>
            <a:off x="9753356" y="3776472"/>
            <a:ext cx="1752539" cy="201168"/>
          </a:xfrm>
          <a:prstGeom prst="rect">
            <a:avLst/>
          </a:prstGeom>
          <a:noFill/>
          <a:ln/>
        </p:spPr>
        <p:txBody>
          <a:bodyPr wrap="square" lIns="0" tIns="0" rIns="0" bIns="0" rtlCol="0" anchor="t"/>
          <a:lstStyle/>
          <a:p>
            <a:pPr indent="0" marL="0">
              <a:buNone/>
            </a:pPr>
            <a:r>
              <a:rPr lang="de-DE" altLang="en-US" sz="1000" b="1" spc="100" kern="0" dirty="0">
                <a:solidFill>
                  <a:schemeClr val="accent1"/>
                </a:solidFill>
              </a:rPr>
              <a:t>13. JAN. 2021</a:t>
            </a:r>
            <a:endParaRPr lang="de-DE" sz="1000" dirty="0"/>
          </a:p>
        </p:txBody>
      </p:sp>
      <p:sp>
        <p:nvSpPr>
          <p:cNvPr id="35" name="Text 33"/>
          <p:cNvSpPr txBox="1"/>
          <p:nvPr/>
        </p:nvSpPr>
        <p:spPr>
          <a:xfrm>
            <a:off x="9753356" y="4014216"/>
            <a:ext cx="1752539" cy="292608"/>
          </a:xfrm>
          <a:prstGeom prst="rect">
            <a:avLst/>
          </a:prstGeom>
          <a:noFill/>
          <a:ln/>
        </p:spPr>
        <p:txBody>
          <a:bodyPr wrap="square" lIns="0" tIns="0" rIns="0" bIns="0" rtlCol="0" anchor="t"/>
          <a:lstStyle/>
          <a:p>
            <a:pPr indent="0" marL="0">
              <a:buNone/>
            </a:pPr>
            <a:r>
              <a:rPr lang="de-DE" altLang="en-US" sz="1500" b="1" dirty="0">
                <a:solidFill>
                  <a:schemeClr val="tx1"/>
                </a:solidFill>
              </a:rPr>
              <a:t>2. Impeachment</a:t>
            </a:r>
            <a:endParaRPr lang="de-DE" sz="1500" dirty="0"/>
          </a:p>
        </p:txBody>
      </p:sp>
      <p:sp>
        <p:nvSpPr>
          <p:cNvPr id="36" name="Text 34"/>
          <p:cNvSpPr txBox="1"/>
          <p:nvPr/>
        </p:nvSpPr>
        <p:spPr>
          <a:xfrm>
            <a:off x="9753356" y="4361688"/>
            <a:ext cx="1770827" cy="1234440"/>
          </a:xfrm>
          <a:prstGeom prst="rect">
            <a:avLst/>
          </a:prstGeom>
          <a:noFill/>
          <a:ln/>
        </p:spPr>
        <p:txBody>
          <a:bodyPr wrap="square" lIns="0" tIns="0" rIns="0" bIns="0" rtlCol="0" anchor="t"/>
          <a:lstStyle/>
          <a:p>
            <a:pPr indent="0" marL="0">
              <a:buNone/>
            </a:pPr>
            <a:r>
              <a:rPr lang="de-DE" altLang="en-US" sz="1400" dirty="0">
                <a:solidFill>
                  <a:schemeClr val="tx2"/>
                </a:solidFill>
              </a:rPr>
              <a:t>„Anstiftung zum Aufruhr“ – Senat: 57 : 43, nötig wären 67 gewesen.</a:t>
            </a:r>
            <a:endParaRPr lang="de-DE" sz="1400" dirty="0"/>
          </a:p>
        </p:txBody>
      </p:sp>
      <p:sp>
        <p:nvSpPr>
          <p:cNvPr id="37" name="!!tl-span"/>
          <p:cNvSpPr/>
          <p:nvPr/>
        </p:nvSpPr>
        <p:spPr>
          <a:xfrm>
            <a:off x="7902512" y="6117336"/>
            <a:ext cx="2714334" cy="54864"/>
          </a:xfrm>
          <a:prstGeom prst="rect">
            <a:avLst/>
          </a:prstGeom>
          <a:solidFill>
            <a:schemeClr val="accent1"/>
          </a:solidFill>
          <a:ln/>
        </p:spPr>
      </p:sp>
      <p:sp>
        <p:nvSpPr>
          <p:cNvPr id="38" name="!!tl-d1"/>
          <p:cNvSpPr/>
          <p:nvPr/>
        </p:nvSpPr>
        <p:spPr>
          <a:xfrm>
            <a:off x="7820216" y="6062472"/>
            <a:ext cx="164592" cy="164592"/>
          </a:xfrm>
          <a:prstGeom prst="ellipse">
            <a:avLst/>
          </a:prstGeom>
          <a:solidFill>
            <a:schemeClr val="accent1"/>
          </a:solidFill>
          <a:ln w="19050">
            <a:solidFill>
              <a:schemeClr val="bg1"/>
            </a:solidFill>
            <a:prstDash val="solid"/>
          </a:ln>
        </p:spPr>
      </p:sp>
      <p:sp>
        <p:nvSpPr>
          <p:cNvPr id="39" name="!!tl-d2"/>
          <p:cNvSpPr/>
          <p:nvPr/>
        </p:nvSpPr>
        <p:spPr>
          <a:xfrm>
            <a:off x="10003928" y="6062472"/>
            <a:ext cx="164592" cy="164592"/>
          </a:xfrm>
          <a:prstGeom prst="ellipse">
            <a:avLst/>
          </a:prstGeom>
          <a:solidFill>
            <a:schemeClr val="accent1"/>
          </a:solidFill>
          <a:ln w="19050">
            <a:solidFill>
              <a:schemeClr val="bg1"/>
            </a:solidFill>
            <a:prstDash val="solid"/>
          </a:ln>
        </p:spPr>
      </p:sp>
      <p:sp>
        <p:nvSpPr>
          <p:cNvPr id="40" name="!!tl-d3"/>
          <p:cNvSpPr/>
          <p:nvPr/>
        </p:nvSpPr>
        <p:spPr>
          <a:xfrm>
            <a:off x="10439310" y="6062472"/>
            <a:ext cx="164592" cy="164592"/>
          </a:xfrm>
          <a:prstGeom prst="ellipse">
            <a:avLst/>
          </a:prstGeom>
          <a:solidFill>
            <a:schemeClr val="accent1"/>
          </a:solidFill>
          <a:ln w="19050">
            <a:solidFill>
              <a:schemeClr val="bg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1"/>
          <p:cNvSpPr/>
          <p:nvPr>
            <p:ph idx="111"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6"/>
                </a:solidFill>
                <a:latin typeface="Arial" pitchFamily="34" charset="0"/>
                <a:ea typeface="Arial" pitchFamily="34" charset="-122"/>
                <a:cs typeface="Arial" pitchFamily="34" charset="-120"/>
              </a:rPr>
              <a:t>07 · BILANZ</a:t>
            </a:r>
            <a:endParaRPr lang="en-US" sz="1200" dirty="0"/>
          </a:p>
        </p:txBody>
      </p:sp>
      <p:sp>
        <p:nvSpPr>
          <p:cNvPr id="3" name="Text 11"/>
          <p:cNvSpPr/>
          <p:nvPr>
            <p:ph idx="112"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Was von vier Jahren bleibt</a:t>
            </a:r>
            <a:endParaRPr lang="en-US" sz="3600" dirty="0"/>
          </a:p>
        </p:txBody>
      </p:sp>
      <p:sp>
        <p:nvSpPr>
          <p:cNvPr id="4" name="Shape 2"/>
          <p:cNvSpPr/>
          <p:nvPr/>
        </p:nvSpPr>
        <p:spPr>
          <a:xfrm>
            <a:off x="548640" y="1737360"/>
            <a:ext cx="3515258" cy="3017520"/>
          </a:xfrm>
          <a:prstGeom prst="roundRect">
            <a:avLst>
              <a:gd name="adj" fmla="val 3636"/>
            </a:avLst>
          </a:prstGeom>
          <a:solidFill>
            <a:schemeClr val="accent2"/>
          </a:solidFill>
          <a:ln/>
        </p:spPr>
      </p:sp>
      <p:sp>
        <p:nvSpPr>
          <p:cNvPr id="5" name="Text 3"/>
          <p:cNvSpPr txBox="1"/>
          <p:nvPr/>
        </p:nvSpPr>
        <p:spPr>
          <a:xfrm>
            <a:off x="822960" y="2011680"/>
            <a:ext cx="3058058" cy="228600"/>
          </a:xfrm>
          <a:prstGeom prst="rect">
            <a:avLst/>
          </a:prstGeom>
          <a:noFill/>
          <a:ln/>
        </p:spPr>
        <p:txBody>
          <a:bodyPr wrap="square" lIns="0" tIns="0" rIns="0" bIns="0" rtlCol="0" anchor="t"/>
          <a:lstStyle/>
          <a:p>
            <a:pPr indent="0" marL="0">
              <a:buNone/>
            </a:pPr>
            <a:r>
              <a:rPr lang="de-DE" altLang="en-US" sz="1200" b="1" spc="200" kern="0" dirty="0">
                <a:solidFill>
                  <a:schemeClr val="accent6"/>
                </a:solidFill>
              </a:rPr>
              <a:t>DAS LÄNGSTE ERBE</a:t>
            </a:r>
            <a:endParaRPr lang="de-DE" sz="1200" dirty="0"/>
          </a:p>
        </p:txBody>
      </p:sp>
      <p:sp>
        <p:nvSpPr>
          <p:cNvPr id="6" name="Text 4"/>
          <p:cNvSpPr txBox="1"/>
          <p:nvPr/>
        </p:nvSpPr>
        <p:spPr>
          <a:xfrm>
            <a:off x="822960" y="2304288"/>
            <a:ext cx="3058058" cy="868680"/>
          </a:xfrm>
          <a:prstGeom prst="rect">
            <a:avLst/>
          </a:prstGeom>
          <a:noFill/>
          <a:ln/>
        </p:spPr>
        <p:txBody>
          <a:bodyPr wrap="square" lIns="0" tIns="0" rIns="0" bIns="0" rtlCol="0" anchor="t"/>
          <a:lstStyle/>
          <a:p>
            <a:pPr indent="0" marL="0">
              <a:buNone/>
            </a:pPr>
            <a:r>
              <a:rPr lang="de-DE" altLang="en-US" sz="5400" b="1" dirty="0">
                <a:solidFill>
                  <a:schemeClr val="bg1"/>
                </a:solidFill>
              </a:rPr>
              <a:t>6 : 3</a:t>
            </a:r>
            <a:endParaRPr lang="de-DE" sz="5400" dirty="0"/>
          </a:p>
        </p:txBody>
      </p:sp>
      <p:sp>
        <p:nvSpPr>
          <p:cNvPr id="7" name="Text 5"/>
          <p:cNvSpPr txBox="1"/>
          <p:nvPr/>
        </p:nvSpPr>
        <p:spPr>
          <a:xfrm>
            <a:off x="822960" y="3337560"/>
            <a:ext cx="3012338" cy="1280160"/>
          </a:xfrm>
          <a:prstGeom prst="rect">
            <a:avLst/>
          </a:prstGeom>
          <a:noFill/>
          <a:ln/>
        </p:spPr>
        <p:txBody>
          <a:bodyPr wrap="square" lIns="0" tIns="0" rIns="0" bIns="0" rtlCol="0" anchor="t"/>
          <a:lstStyle/>
          <a:p>
            <a:pPr indent="0" marL="0">
              <a:buNone/>
            </a:pPr>
            <a:r>
              <a:rPr lang="de-DE" altLang="en-US" sz="1500" dirty="0">
                <a:solidFill>
                  <a:schemeClr val="accent3"/>
                </a:solidFill>
              </a:rPr>
              <a:t>Ein konservativer Supreme Court – Richter auf Lebenszeit prägen das Land noch für Jahrzehnte.</a:t>
            </a:r>
            <a:endParaRPr lang="de-DE" sz="1500" dirty="0"/>
          </a:p>
        </p:txBody>
      </p:sp>
      <p:sp>
        <p:nvSpPr>
          <p:cNvPr id="8" name="Shape 6"/>
          <p:cNvSpPr/>
          <p:nvPr/>
        </p:nvSpPr>
        <p:spPr>
          <a:xfrm>
            <a:off x="4338218" y="1737360"/>
            <a:ext cx="3515258" cy="3017520"/>
          </a:xfrm>
          <a:prstGeom prst="roundRect">
            <a:avLst>
              <a:gd name="adj" fmla="val 3636"/>
            </a:avLst>
          </a:prstGeom>
          <a:solidFill>
            <a:schemeClr val="accent2"/>
          </a:solidFill>
          <a:ln/>
        </p:spPr>
      </p:sp>
      <p:sp>
        <p:nvSpPr>
          <p:cNvPr id="9" name="Text 7"/>
          <p:cNvSpPr txBox="1"/>
          <p:nvPr/>
        </p:nvSpPr>
        <p:spPr>
          <a:xfrm>
            <a:off x="4612538" y="2011680"/>
            <a:ext cx="3058058" cy="228600"/>
          </a:xfrm>
          <a:prstGeom prst="rect">
            <a:avLst/>
          </a:prstGeom>
          <a:noFill/>
          <a:ln/>
        </p:spPr>
        <p:txBody>
          <a:bodyPr wrap="square" lIns="0" tIns="0" rIns="0" bIns="0" rtlCol="0" anchor="t"/>
          <a:lstStyle/>
          <a:p>
            <a:pPr indent="0" marL="0">
              <a:buNone/>
            </a:pPr>
            <a:r>
              <a:rPr lang="de-DE" altLang="en-US" sz="1200" b="1" spc="200" kern="0" dirty="0">
                <a:solidFill>
                  <a:schemeClr val="accent6"/>
                </a:solidFill>
              </a:rPr>
              <a:t>EIN GESPALTENES LAND</a:t>
            </a:r>
            <a:endParaRPr lang="de-DE" sz="1200" dirty="0"/>
          </a:p>
        </p:txBody>
      </p:sp>
      <p:sp>
        <p:nvSpPr>
          <p:cNvPr id="10" name="Text 8"/>
          <p:cNvSpPr txBox="1"/>
          <p:nvPr/>
        </p:nvSpPr>
        <p:spPr>
          <a:xfrm>
            <a:off x="4612538" y="2304288"/>
            <a:ext cx="3058058" cy="868680"/>
          </a:xfrm>
          <a:prstGeom prst="rect">
            <a:avLst/>
          </a:prstGeom>
          <a:noFill/>
          <a:ln/>
        </p:spPr>
        <p:txBody>
          <a:bodyPr wrap="square" lIns="0" tIns="0" rIns="0" bIns="0" rtlCol="0" anchor="t"/>
          <a:lstStyle/>
          <a:p>
            <a:pPr indent="0" marL="0">
              <a:buNone/>
            </a:pPr>
            <a:r>
              <a:rPr lang="de-DE" altLang="en-US" sz="5400" b="1" dirty="0">
                <a:solidFill>
                  <a:schemeClr val="bg1"/>
                </a:solidFill>
              </a:rPr>
              <a:t>41 %</a:t>
            </a:r>
            <a:endParaRPr lang="de-DE" sz="5400" dirty="0"/>
          </a:p>
        </p:txBody>
      </p:sp>
      <p:sp>
        <p:nvSpPr>
          <p:cNvPr id="11" name="Text 9"/>
          <p:cNvSpPr txBox="1"/>
          <p:nvPr/>
        </p:nvSpPr>
        <p:spPr>
          <a:xfrm>
            <a:off x="4612538" y="3337560"/>
            <a:ext cx="3012338" cy="1280160"/>
          </a:xfrm>
          <a:prstGeom prst="rect">
            <a:avLst/>
          </a:prstGeom>
          <a:noFill/>
          <a:ln/>
        </p:spPr>
        <p:txBody>
          <a:bodyPr wrap="square" lIns="0" tIns="0" rIns="0" bIns="0" rtlCol="0" anchor="t"/>
          <a:lstStyle/>
          <a:p>
            <a:pPr indent="0" marL="0">
              <a:buNone/>
            </a:pPr>
            <a:r>
              <a:rPr lang="de-DE" altLang="en-US" sz="1500" dirty="0">
                <a:solidFill>
                  <a:schemeClr val="accent3"/>
                </a:solidFill>
              </a:rPr>
              <a:t>Ø Zustimmung (Gallup) – Tiefstwert aller Präsidenten. Und doch: 74 Mio. Stimmen 2020, Rekord für einen Amtsinhaber.</a:t>
            </a:r>
            <a:endParaRPr lang="de-DE" sz="1500" dirty="0"/>
          </a:p>
        </p:txBody>
      </p:sp>
      <p:sp>
        <p:nvSpPr>
          <p:cNvPr id="12" name="Shape 10"/>
          <p:cNvSpPr/>
          <p:nvPr/>
        </p:nvSpPr>
        <p:spPr>
          <a:xfrm>
            <a:off x="8127797" y="1737360"/>
            <a:ext cx="3515258" cy="3017520"/>
          </a:xfrm>
          <a:prstGeom prst="roundRect">
            <a:avLst>
              <a:gd name="adj" fmla="val 3636"/>
            </a:avLst>
          </a:prstGeom>
          <a:solidFill>
            <a:schemeClr val="accent2"/>
          </a:solidFill>
          <a:ln/>
        </p:spPr>
      </p:sp>
      <p:sp>
        <p:nvSpPr>
          <p:cNvPr id="13" name="Text 11"/>
          <p:cNvSpPr txBox="1"/>
          <p:nvPr/>
        </p:nvSpPr>
        <p:spPr>
          <a:xfrm>
            <a:off x="8402117" y="2011680"/>
            <a:ext cx="3058058" cy="228600"/>
          </a:xfrm>
          <a:prstGeom prst="rect">
            <a:avLst/>
          </a:prstGeom>
          <a:noFill/>
          <a:ln/>
        </p:spPr>
        <p:txBody>
          <a:bodyPr wrap="square" lIns="0" tIns="0" rIns="0" bIns="0" rtlCol="0" anchor="t"/>
          <a:lstStyle/>
          <a:p>
            <a:pPr indent="0" marL="0">
              <a:buNone/>
            </a:pPr>
            <a:r>
              <a:rPr lang="de-DE" altLang="en-US" sz="1200" b="1" spc="200" kern="0" dirty="0">
                <a:solidFill>
                  <a:schemeClr val="accent6"/>
                </a:solidFill>
              </a:rPr>
              <a:t>EIN NEUER KURS</a:t>
            </a:r>
            <a:endParaRPr lang="de-DE" sz="1200" dirty="0"/>
          </a:p>
        </p:txBody>
      </p:sp>
      <p:sp>
        <p:nvSpPr>
          <p:cNvPr id="14" name="Text 12"/>
          <p:cNvSpPr txBox="1"/>
          <p:nvPr/>
        </p:nvSpPr>
        <p:spPr>
          <a:xfrm>
            <a:off x="8402117" y="2557145"/>
            <a:ext cx="3058058" cy="868680"/>
          </a:xfrm>
          <a:prstGeom prst="rect">
            <a:avLst/>
          </a:prstGeom>
          <a:noFill/>
          <a:ln/>
        </p:spPr>
        <p:txBody>
          <a:bodyPr wrap="square" lIns="0" tIns="0" rIns="0" bIns="0" rtlCol="0" anchor="t"/>
          <a:lstStyle/>
          <a:p>
            <a:pPr indent="0" marL="0">
              <a:buNone/>
            </a:pPr>
            <a:r>
              <a:rPr lang="de-DE" altLang="en-US" sz="3200" b="1" dirty="0">
                <a:solidFill>
                  <a:schemeClr val="bg1"/>
                </a:solidFill>
              </a:rPr>
              <a:t>America First</a:t>
            </a:r>
            <a:endParaRPr lang="de-DE" sz="3200" dirty="0"/>
          </a:p>
        </p:txBody>
      </p:sp>
      <p:sp>
        <p:nvSpPr>
          <p:cNvPr id="15" name="Text 13"/>
          <p:cNvSpPr txBox="1"/>
          <p:nvPr/>
        </p:nvSpPr>
        <p:spPr>
          <a:xfrm>
            <a:off x="8402117" y="3337560"/>
            <a:ext cx="3012338" cy="1280160"/>
          </a:xfrm>
          <a:prstGeom prst="rect">
            <a:avLst/>
          </a:prstGeom>
          <a:noFill/>
          <a:ln/>
        </p:spPr>
        <p:txBody>
          <a:bodyPr wrap="square" lIns="0" tIns="0" rIns="0" bIns="0" rtlCol="0" anchor="t"/>
          <a:lstStyle/>
          <a:p>
            <a:pPr indent="0" marL="0">
              <a:buNone/>
            </a:pPr>
            <a:r>
              <a:rPr lang="de-DE" altLang="en-US" sz="1500" dirty="0">
                <a:solidFill>
                  <a:schemeClr val="accent3"/>
                </a:solidFill>
              </a:rPr>
              <a:t>Zölle, Mauer, Ausstiege: weniger Abkommen, mehr Alleingänge und Deals.</a:t>
            </a:r>
            <a:endParaRPr lang="de-DE" sz="1500" dirty="0"/>
          </a:p>
        </p:txBody>
      </p:sp>
      <p:sp>
        <p:nvSpPr>
          <p:cNvPr id="16" name="Shape 14"/>
          <p:cNvSpPr/>
          <p:nvPr/>
        </p:nvSpPr>
        <p:spPr>
          <a:xfrm>
            <a:off x="548640" y="5029200"/>
            <a:ext cx="11094415" cy="685800"/>
          </a:xfrm>
          <a:prstGeom prst="roundRect">
            <a:avLst>
              <a:gd name="adj" fmla="val 16000"/>
            </a:avLst>
          </a:prstGeom>
          <a:solidFill>
            <a:schemeClr val="accent1"/>
          </a:solidFill>
          <a:ln/>
        </p:spPr>
      </p:sp>
      <p:sp>
        <p:nvSpPr>
          <p:cNvPr id="17" name="Text 15"/>
          <p:cNvSpPr txBox="1"/>
          <p:nvPr/>
        </p:nvSpPr>
        <p:spPr>
          <a:xfrm>
            <a:off x="868680" y="5029200"/>
            <a:ext cx="10454335" cy="685800"/>
          </a:xfrm>
          <a:prstGeom prst="rect">
            <a:avLst/>
          </a:prstGeom>
          <a:noFill/>
          <a:ln/>
        </p:spPr>
        <p:txBody>
          <a:bodyPr wrap="square" lIns="0" tIns="0" rIns="0" bIns="0" rtlCol="0" anchor="ctr"/>
          <a:lstStyle/>
          <a:p>
            <a:pPr indent="0" marL="0">
              <a:buNone/>
            </a:pPr>
            <a:r>
              <a:rPr lang="de-DE" altLang="en-US" sz="2000" b="1" dirty="0">
                <a:solidFill>
                  <a:schemeClr val="bg1"/>
                </a:solidFill>
              </a:rPr>
              <a:t>Zur Diskussion:  </a:t>
            </a:r>
            <a:pPr indent="0" marL="0">
              <a:buNone/>
            </a:pPr>
            <a:r>
              <a:rPr lang="de-DE" altLang="en-US" sz="2000" dirty="0">
                <a:solidFill>
                  <a:schemeClr val="bg1"/>
                </a:solidFill>
              </a:rPr>
              <a:t>Welche Entscheidung dieser vier Jahre wirkt am längsten nach?</a:t>
            </a:r>
            <a:endParaRPr lang="de-DE" sz="2000" dirty="0"/>
          </a:p>
        </p:txBody>
      </p:sp>
      <p:sp>
        <p:nvSpPr>
          <p:cNvPr id="18" name="!!tl-span"/>
          <p:cNvSpPr/>
          <p:nvPr/>
        </p:nvSpPr>
        <p:spPr>
          <a:xfrm>
            <a:off x="677894" y="6117336"/>
            <a:ext cx="9938952" cy="54864"/>
          </a:xfrm>
          <a:prstGeom prst="rect">
            <a:avLst/>
          </a:prstGeom>
          <a:solidFill>
            <a:schemeClr val="accent6"/>
          </a:solidFill>
          <a:ln/>
        </p:spPr>
      </p:sp>
      <p:sp>
        <p:nvSpPr>
          <p:cNvPr id="19" name="!!tl-d1"/>
          <p:cNvSpPr/>
          <p:nvPr/>
        </p:nvSpPr>
        <p:spPr>
          <a:xfrm>
            <a:off x="595598" y="6062472"/>
            <a:ext cx="164592" cy="164592"/>
          </a:xfrm>
          <a:prstGeom prst="ellipse">
            <a:avLst/>
          </a:prstGeom>
          <a:solidFill>
            <a:schemeClr val="accent6"/>
          </a:solidFill>
          <a:ln w="19050">
            <a:solidFill>
              <a:schemeClr val="tx1"/>
            </a:solidFill>
            <a:prstDash val="solid"/>
          </a:ln>
        </p:spPr>
      </p:sp>
      <p:sp>
        <p:nvSpPr>
          <p:cNvPr id="20" name="!!tl-d2"/>
          <p:cNvSpPr/>
          <p:nvPr/>
        </p:nvSpPr>
        <p:spPr>
          <a:xfrm>
            <a:off x="2881353" y="6062472"/>
            <a:ext cx="164592" cy="164592"/>
          </a:xfrm>
          <a:prstGeom prst="ellipse">
            <a:avLst/>
          </a:prstGeom>
          <a:solidFill>
            <a:schemeClr val="accent6"/>
          </a:solidFill>
          <a:ln w="19050">
            <a:solidFill>
              <a:schemeClr val="tx1"/>
            </a:solidFill>
            <a:prstDash val="solid"/>
          </a:ln>
        </p:spPr>
      </p:sp>
      <p:sp>
        <p:nvSpPr>
          <p:cNvPr id="21" name="!!tl-d3"/>
          <p:cNvSpPr/>
          <p:nvPr/>
        </p:nvSpPr>
        <p:spPr>
          <a:xfrm>
            <a:off x="8500500" y="6062472"/>
            <a:ext cx="164592" cy="164592"/>
          </a:xfrm>
          <a:prstGeom prst="ellipse">
            <a:avLst/>
          </a:prstGeom>
          <a:solidFill>
            <a:schemeClr val="accent6"/>
          </a:solidFill>
          <a:ln w="19050">
            <a:solidFill>
              <a:schemeClr val="tx1"/>
            </a:solidFill>
            <a:prstDash val="solid"/>
          </a:ln>
        </p:spPr>
      </p:sp>
      <p:sp>
        <p:nvSpPr>
          <p:cNvPr id="22" name="!!tl-d4"/>
          <p:cNvSpPr/>
          <p:nvPr/>
        </p:nvSpPr>
        <p:spPr>
          <a:xfrm>
            <a:off x="10439310" y="6062472"/>
            <a:ext cx="164592" cy="164592"/>
          </a:xfrm>
          <a:prstGeom prst="ellipse">
            <a:avLst/>
          </a:prstGeom>
          <a:solidFill>
            <a:schemeClr val="accent6"/>
          </a:solidFill>
          <a:ln w="19050">
            <a:solidFill>
              <a:schemeClr val="tx1"/>
            </a:solidFill>
            <a:prstDash val="solid"/>
          </a:ln>
        </p:spPr>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0BA"/>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latin typeface="Arial" pitchFamily="34" charset="0"/>
                <a:ea typeface="Arial" pitchFamily="34" charset="-122"/>
                <a:cs typeface="Arial" pitchFamily="34" charset="-120"/>
              </a:rPr>
              <a:t>ANHANG · AUSGEBLENDETE FOLIE</a:t>
            </a:r>
            <a:endParaRPr lang="en-US" sz="1200" dirty="0"/>
          </a:p>
        </p:txBody>
      </p:sp>
      <p:sp>
        <p:nvSpPr>
          <p:cNvPr id="3" name="Text 0"/>
          <p:cNvSpPr/>
          <p:nvPr>
            <p:ph idx="101" type="title" hasCustomPrompt="1"/>
          </p:nvPr>
        </p:nvSpPr>
        <p:spPr>
          <a:xfrm>
            <a:off x="548640" y="731520"/>
            <a:ext cx="11094415" cy="7315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Quellen</a:t>
            </a:r>
            <a:endParaRPr lang="en-US" sz="3600" dirty="0"/>
          </a:p>
        </p:txBody>
      </p:sp>
      <p:sp>
        <p:nvSpPr>
          <p:cNvPr id="4" name="Text 2"/>
          <p:cNvSpPr txBox="1"/>
          <p:nvPr/>
        </p:nvSpPr>
        <p:spPr>
          <a:xfrm>
            <a:off x="548640" y="1737360"/>
            <a:ext cx="5394960" cy="4023360"/>
          </a:xfrm>
          <a:prstGeom prst="rect">
            <a:avLst/>
          </a:prstGeom>
          <a:noFill/>
          <a:ln/>
        </p:spPr>
        <p:txBody>
          <a:bodyPr wrap="square" lIns="0" tIns="0" rIns="0" bIns="0" rtlCol="0" anchor="t"/>
          <a:lstStyle/>
          <a:p>
            <a:pPr indent="0" marL="0">
              <a:spcAft>
                <a:spcPts val="800"/>
              </a:spcAft>
              <a:buNone/>
            </a:pPr>
            <a:r>
              <a:rPr lang="de-DE" altLang="en-US" sz="1200" dirty="0">
                <a:solidFill>
                  <a:schemeClr val="tx2"/>
                </a:solidFill>
              </a:rPr>
              <a:t>Gallup (2021): Last Trump Job Approval 34%; Average Is Record-Low – news.gallup.com/poll/328637</a:t>
            </a:r>
            <a:endParaRPr lang="de-DE" sz="1200" dirty="0"/>
          </a:p>
          <a:p>
            <a:pPr indent="0" marL="0">
              <a:spcAft>
                <a:spcPts val="800"/>
              </a:spcAft>
              <a:buNone/>
            </a:pPr>
            <a:r>
              <a:rPr lang="de-DE" altLang="en-US" sz="1200" dirty="0">
                <a:solidFill>
                  <a:schemeClr val="tx2"/>
                </a:solidFill>
              </a:rPr>
              <a:t>U.S. Bureau of Labor Statistics: Arbeitslosenquote, Reihe LNS14000000 – bls.gov</a:t>
            </a:r>
            <a:endParaRPr lang="de-DE" sz="1200" dirty="0"/>
          </a:p>
          <a:p>
            <a:pPr indent="0" marL="0">
              <a:spcAft>
                <a:spcPts val="800"/>
              </a:spcAft>
              <a:buNone/>
            </a:pPr>
            <a:r>
              <a:rPr lang="de-DE" altLang="en-US" sz="1200" dirty="0">
                <a:solidFill>
                  <a:schemeClr val="tx2"/>
                </a:solidFill>
              </a:rPr>
              <a:t>Congressional Budget Office / Joint Committee on Taxation (2017): Kostenschätzung H.R. 1 – cbo.gov/publication/53312</a:t>
            </a:r>
            <a:endParaRPr lang="de-DE" sz="1200" dirty="0"/>
          </a:p>
          <a:p>
            <a:pPr indent="0" marL="0">
              <a:spcAft>
                <a:spcPts val="800"/>
              </a:spcAft>
              <a:buNone/>
            </a:pPr>
            <a:r>
              <a:rPr lang="de-DE" altLang="en-US" sz="1200" dirty="0">
                <a:solidFill>
                  <a:schemeClr val="tx2"/>
                </a:solidFill>
              </a:rPr>
              <a:t>U.S. Department of Homeland Security (05.01.2021): 450 Meilen Grenzmauer – dhs.gov</a:t>
            </a:r>
            <a:endParaRPr lang="de-DE" sz="1200" dirty="0"/>
          </a:p>
          <a:p>
            <a:pPr indent="0" marL="0">
              <a:spcAft>
                <a:spcPts val="800"/>
              </a:spcAft>
              <a:buNone/>
            </a:pPr>
            <a:r>
              <a:rPr lang="de-DE" altLang="en-US" sz="1200" dirty="0">
                <a:solidFill>
                  <a:schemeClr val="tx2"/>
                </a:solidFill>
              </a:rPr>
              <a:t>Family Reunification Task Force (Juni 2021): 3.913 getrennte Kinder – Bericht via AP</a:t>
            </a:r>
            <a:endParaRPr lang="de-DE" sz="1200" dirty="0"/>
          </a:p>
          <a:p>
            <a:pPr indent="0" marL="0">
              <a:spcAft>
                <a:spcPts val="800"/>
              </a:spcAft>
              <a:buNone/>
            </a:pPr>
            <a:r>
              <a:rPr lang="de-DE" altLang="en-US" sz="1200" dirty="0">
                <a:solidFill>
                  <a:schemeClr val="tx2"/>
                </a:solidFill>
              </a:rPr>
              <a:t>PolitiFact (2021): Bilanz der Wahlklagen 2020 – politifact.com</a:t>
            </a:r>
            <a:endParaRPr lang="de-DE" sz="1200" dirty="0"/>
          </a:p>
          <a:p>
            <a:pPr indent="0" marL="0">
              <a:spcAft>
                <a:spcPts val="800"/>
              </a:spcAft>
              <a:buNone/>
            </a:pPr>
            <a:r>
              <a:rPr lang="de-DE" altLang="en-US" sz="1200" dirty="0">
                <a:solidFill>
                  <a:schemeClr val="tx2"/>
                </a:solidFill>
              </a:rPr>
              <a:t>Reuters (2025): 234 Bundesrichter in Trumps erster Amtszeit – reuters.com</a:t>
            </a:r>
            <a:endParaRPr lang="de-DE" sz="1200" dirty="0"/>
          </a:p>
        </p:txBody>
      </p:sp>
      <p:sp>
        <p:nvSpPr>
          <p:cNvPr id="5" name="Text 3"/>
          <p:cNvSpPr txBox="1"/>
          <p:nvPr/>
        </p:nvSpPr>
        <p:spPr>
          <a:xfrm>
            <a:off x="6245352" y="1737360"/>
            <a:ext cx="5394960" cy="4023360"/>
          </a:xfrm>
          <a:prstGeom prst="rect">
            <a:avLst/>
          </a:prstGeom>
          <a:noFill/>
          <a:ln/>
        </p:spPr>
        <p:txBody>
          <a:bodyPr wrap="square" lIns="0" tIns="0" rIns="0" bIns="0" rtlCol="0" anchor="t"/>
          <a:lstStyle/>
          <a:p>
            <a:pPr indent="0" marL="0">
              <a:spcAft>
                <a:spcPts val="800"/>
              </a:spcAft>
              <a:buNone/>
            </a:pPr>
            <a:r>
              <a:rPr lang="de-DE" altLang="en-US" sz="1200" dirty="0">
                <a:solidFill>
                  <a:schemeClr val="tx2"/>
                </a:solidFill>
              </a:rPr>
              <a:t>NPR (10.02.2021): Trumps Rede vom 6. Januar 2021 im Wortlaut – npr.org</a:t>
            </a:r>
            <a:endParaRPr lang="de-DE" sz="1200" dirty="0"/>
          </a:p>
          <a:p>
            <a:pPr indent="0" marL="0">
              <a:spcAft>
                <a:spcPts val="800"/>
              </a:spcAft>
              <a:buNone/>
            </a:pPr>
            <a:r>
              <a:rPr lang="de-DE" altLang="en-US" sz="1200" dirty="0">
                <a:solidFill>
                  <a:schemeClr val="tx2"/>
                </a:solidFill>
              </a:rPr>
              <a:t>Amtsantrittsrede vom 20.01.2017, Transkript – npr.org / pbs.org</a:t>
            </a:r>
            <a:endParaRPr lang="de-DE" sz="1200" dirty="0"/>
          </a:p>
          <a:p>
            <a:pPr indent="0" marL="0">
              <a:spcAft>
                <a:spcPts val="800"/>
              </a:spcAft>
              <a:buNone/>
            </a:pPr>
            <a:r>
              <a:rPr lang="de-DE" altLang="en-US" sz="1200" dirty="0">
                <a:solidFill>
                  <a:schemeClr val="tx2"/>
                </a:solidFill>
              </a:rPr>
              <a:t>Federal Election Commission: offizielle Ergebnisse 2016 und 2020 – fec.gov</a:t>
            </a:r>
            <a:endParaRPr lang="de-DE" sz="1200" dirty="0"/>
          </a:p>
          <a:p>
            <a:pPr indent="0" marL="0">
              <a:spcAft>
                <a:spcPts val="800"/>
              </a:spcAft>
              <a:buNone/>
            </a:pPr>
            <a:r>
              <a:rPr lang="de-DE" altLang="en-US" sz="1200" dirty="0">
                <a:solidFill>
                  <a:schemeClr val="tx2"/>
                </a:solidFill>
              </a:rPr>
              <a:t>U.S. Senate: Abstimmungen zu Impeachments und Richterbestätigungen – senate.gov</a:t>
            </a:r>
            <a:endParaRPr lang="de-DE" sz="1200" dirty="0"/>
          </a:p>
          <a:p>
            <a:pPr indent="0" marL="0">
              <a:spcAft>
                <a:spcPts val="800"/>
              </a:spcAft>
              <a:buNone/>
            </a:pPr>
            <a:r>
              <a:rPr lang="de-DE" altLang="en-US" sz="1200" dirty="0">
                <a:solidFill>
                  <a:schemeClr val="tx2"/>
                </a:solidFill>
              </a:rPr>
              <a:t>Johns Hopkins University via AP (19.01.2021): 400.000 Corona-Tote in den USA</a:t>
            </a:r>
            <a:endParaRPr lang="de-DE" sz="1200" dirty="0"/>
          </a:p>
          <a:p>
            <a:pPr indent="0" marL="0">
              <a:spcAft>
                <a:spcPts val="800"/>
              </a:spcAft>
              <a:buNone/>
            </a:pPr>
            <a:r>
              <a:rPr lang="de-DE" altLang="en-US" sz="1200" dirty="0">
                <a:solidFill>
                  <a:schemeClr val="tx2"/>
                </a:solidFill>
              </a:rPr>
              <a:t>Bob Woodward: Rage (2020), Interview vom 19.03.2020</a:t>
            </a:r>
            <a:endParaRPr lang="de-DE" sz="1200" dirty="0"/>
          </a:p>
          <a:p>
            <a:pPr indent="0" marL="0">
              <a:spcAft>
                <a:spcPts val="800"/>
              </a:spcAft>
              <a:buNone/>
            </a:pPr>
            <a:r>
              <a:rPr lang="de-DE" altLang="en-US" sz="1200" dirty="0">
                <a:solidFill>
                  <a:schemeClr val="tx2"/>
                </a:solidFill>
              </a:rPr>
              <a:t>Columbia Sabin Center: Austritt aus dem Pariser Abkommen (wirksam 04.11.2020)</a:t>
            </a:r>
            <a:endParaRPr lang="de-DE" sz="1200" dirty="0"/>
          </a:p>
        </p:txBody>
      </p:sp>
      <p:sp>
        <p:nvSpPr>
          <p:cNvPr id="25" name="Slide Number Placeholder 0"/>
          <p:cNvSpPr>
            <a:spLocks noGrp="1"/>
          </p:cNvSpPr>
          <p:nvPr>
            <p:ph type="sldNum" sz="quarter" idx="4294967295"/>
          </p:nvPr>
        </p:nvSpPr>
        <p:spPr>
          <a:xfrm>
            <a:off x="11091672" y="60350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48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Erste Amtszeit">
  <a:themeElements>
    <a:clrScheme name="Erste Amtszeit">
      <a:dk1>
        <a:srgbClr val="0B1E3B"/>
      </a:dk1>
      <a:lt1>
        <a:srgbClr val="FFFFFF"/>
      </a:lt1>
      <a:dk2>
        <a:srgbClr val="55607A"/>
      </a:dk2>
      <a:lt2>
        <a:srgbClr val="EEF1F6"/>
      </a:lt2>
      <a:accent1>
        <a:srgbClr val="E81B23"/>
      </a:accent1>
      <a:accent2>
        <a:srgbClr val="152B50"/>
      </a:accent2>
      <a:accent3>
        <a:srgbClr val="B8C4D6"/>
      </a:accent3>
      <a:accent4>
        <a:srgbClr val="8A97AD"/>
      </a:accent4>
      <a:accent5>
        <a:srgbClr val="2F6DB5"/>
      </a:accent5>
      <a:accent6>
        <a:srgbClr val="FF4D57"/>
      </a:accent6>
      <a:hlink>
        <a:srgbClr val="E81B23"/>
      </a:hlink>
      <a:folHlink>
        <a:srgbClr val="B5121B"/>
      </a:folHlink>
    </a:clrScheme>
    <a:fontScheme name="Erste Amtsze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Donald J. Trump – Die erste Amtszeit (2017–2021)</dc:title>
  <dc:subject>Präsentation: die wichtigsten Ereignisse der ersten Amtszeit 2017–2021</dc:subject>
  <dc:creator>PptxGenJS</dc:creator>
  <cp:lastModifiedBy>PptxGenJS</cp:lastModifiedBy>
  <cp:revision>1</cp:revision>
  <dcterms:created xsi:type="dcterms:W3CDTF">2026-10-12T18:47:29Z</dcterms:created>
  <dcterms:modified xsi:type="dcterms:W3CDTF">2026-10-12T18:47:29Z</dcterms:modified>
</cp:coreProperties>
</file>