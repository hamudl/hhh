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ea8ffa-9524-2e77-8278-029fac662a02}">
          <p14:sldIdLst>
            <p14:sldId id="256"/>
            <p14:sldId id="257"/>
          </p14:sldIdLst>
        </p14:section>
        <p14:section name="Key events" id="{d80eb29d-4e50-ac88-1348-59fabadcb1d5}">
          <p14:sldIdLst>
            <p14:sldId id="258"/>
            <p14:sldId id="259"/>
            <p14:sldId id="260"/>
            <p14:sldId id="261"/>
            <p14:sldId id="262"/>
          </p14:sldIdLst>
        </p14:section>
        <p14:section name="Legacy" id="{7182943a-22e9-7985-cd39-3656efbe743e}">
          <p14:sldIdLst>
            <p14:sldId id="263"/>
          </p14:sldIdLst>
        </p14:section>
        <p14:section name="Appendix" id="{493ea236-8cea-3783-6cf0-e1e8adeaf2d4}">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6"/>
          <c:y val="0.07"/>
          <c:w val="0.84"/>
          <c:h val="0.8"/>
        </c:manualLayout>
      </c:layout>
      <c:lineChart>
        <c:varyColors val="0"/>
        <c:ser>
          <c:idx val="0"/>
          <c:order val="0"/>
          <c:tx>
            <c:strRef>
              <c:f>Sheet1!$B$1</c:f>
              <c:strCache>
                <c:ptCount val="1"/>
                <c:pt idx="0">
                  <c:v>Unemployment rate (%)</c:v>
                </c:pt>
              </c:strCache>
            </c:strRef>
          </c:tx>
          <c:spPr>
            <a:solidFill>
              <a:srgbClr val="0B1E3B"/>
            </a:solidFill>
            <a:ln w="25400" cap="flat">
              <a:solidFill>
                <a:srgbClr val="0B1E3B"/>
              </a:solidFill>
              <a:prstDash val="solid"/>
              <a:round/>
            </a:ln>
            <a:effectLst/>
          </c:spPr>
          <c:marker>
            <c:symbol val="none"/>
          </c:marker>
          <c:dPt>
            <c:idx val="37"/>
            <c:marker>
              <c:symbol val="circle"/>
              <c:size val="8"/>
              <c:spPr>
                <a:solidFill>
                  <a:srgbClr val="0B1E3B"/>
                </a:solidFill>
                <a:ln w="19050">
                  <a:solidFill>
                    <a:srgbClr val="FFFFFF"/>
                  </a:solidFill>
                </a:ln>
              </c:spPr>
            </c:marker>
            <c:bubble3D val="0"/>
          </c:dPt>
          <c:dPt>
            <c:idx val="39"/>
            <c:marker>
              <c:symbol val="circle"/>
              <c:size val="8"/>
              <c:spPr>
                <a:solidFill>
                  <a:srgbClr val="E81B23"/>
                </a:solidFill>
                <a:ln w="19050">
                  <a:solidFill>
                    <a:srgbClr val="FFFFFF"/>
                  </a:solidFill>
                </a:ln>
              </c:spPr>
            </c:marker>
            <c:bubble3D val="0"/>
          </c:dPt>
          <c:dPt>
            <c:idx val="47"/>
            <c:marker>
              <c:symbol val="circle"/>
              <c:size val="8"/>
              <c:spPr>
                <a:solidFill>
                  <a:srgbClr val="0B1E3B"/>
                </a:solidFill>
                <a:ln w="19050">
                  <a:solidFill>
                    <a:srgbClr val="FFFFFF"/>
                  </a:solidFill>
                </a:ln>
              </c:spPr>
            </c:marker>
            <c:bubble3D val="0"/>
          </c:dPt>
          <c:dLbls>
            <c:dLbl>
              <c:idx val="37"/>
              <c:layout/>
              <c:tx>
                <c:rich>
                  <a:bodyPr wrap="none"/>
                  <a:lstStyle/>
                  <a:p>
                    <a:pPr>
                      <a:defRPr sz="1100" b="1"/>
                    </a:pPr>
                    <a:r>
                      <a:rPr lang="en-US" sz="1100" b="1">
                        <a:solidFill>
                          <a:srgbClr val="0B1E3B"/>
                        </a:solidFill>
                        <a:latin typeface="Arial"/>
                      </a:rPr>
                      <a:t>3.5% · 50-year low</a:t>
                    </a:r>
                  </a:p>
                </c:rich>
              </c:tx>
              <c:spPr>
                <a:noFill/>
                <a:ln>
                  <a:noFill/>
                </a:ln>
              </c:spPr>
              <c:dLblPos val="b"/>
              <c:showLegendKey val="0"/>
              <c:showVal val="1"/>
              <c:showCatName val="0"/>
              <c:showSerName val="0"/>
              <c:showPercent val="0"/>
              <c:showBubbleSize val="0"/>
            </c:dLbl>
            <c:dLbl>
              <c:idx val="39"/>
              <c:layout/>
              <c:tx>
                <c:rich>
                  <a:bodyPr wrap="none"/>
                  <a:lstStyle/>
                  <a:p>
                    <a:pPr>
                      <a:defRPr sz="1100" b="1"/>
                    </a:pPr>
                    <a:r>
                      <a:rPr lang="en-US" sz="1100" b="1">
                        <a:solidFill>
                          <a:srgbClr val="0B1E3B"/>
                        </a:solidFill>
                        <a:latin typeface="Arial"/>
                      </a:rPr>
                      <a:t>14.8% · highest since 1948</a:t>
                    </a:r>
                  </a:p>
                </c:rich>
              </c:tx>
              <c:spPr>
                <a:noFill/>
                <a:ln>
                  <a:noFill/>
                </a:ln>
              </c:spPr>
              <c:dLblPos val="l"/>
              <c:showLegendKey val="0"/>
              <c:showVal val="1"/>
              <c:showCatName val="0"/>
              <c:showSerName val="0"/>
              <c:showPercent val="0"/>
              <c:showBubbleSize val="0"/>
            </c:dLbl>
            <c:dLbl>
              <c:idx val="47"/>
              <c:layout/>
              <c:tx>
                <c:rich>
                  <a:bodyPr wrap="none"/>
                  <a:lstStyle/>
                  <a:p>
                    <a:pPr>
                      <a:defRPr sz="1100" b="0"/>
                    </a:pPr>
                    <a:r>
                      <a:rPr lang="en-US" sz="1100" b="0">
                        <a:solidFill>
                          <a:srgbClr val="0B1E3B"/>
                        </a:solidFill>
                        <a:latin typeface="Arial"/>
                      </a:rPr>
                      <a:t>6.7%</a:t>
                    </a:r>
                  </a:p>
                </c:rich>
              </c:tx>
              <c:spPr>
                <a:noFill/>
                <a:ln>
                  <a:noFill/>
                </a:ln>
              </c:spPr>
              <c:dLblPos val="r"/>
              <c:showLegendKey val="0"/>
              <c:showVal val="1"/>
              <c:showCatName val="0"/>
              <c:showSerName val="0"/>
              <c:showPercent val="0"/>
              <c:showBubbleSize val="0"/>
            </c:dLbl>
            <c:spPr>
              <a:noFill/>
              <a:ln>
                <a:noFill/>
              </a:ln>
            </c:spPr>
            <c:showLegendKey val="0"/>
            <c:showVal val="0"/>
            <c:showCatName val="0"/>
            <c:showSerName val="0"/>
            <c:showPercent val="0"/>
            <c:showBubbleSize val="0"/>
          </c:dLbls>
          <c:cat>
            <c:multiLvlStrRef>
              <c:f>Sheet1!$A$2:$A$49</c:f>
              <c:multiLvlStrCache>
                <c:ptCount val="48"/>
                <c:lvl>
                  <c:pt idx="0">
                    <c:v>2017</c:v>
                  </c:pt>
                  <c:pt idx="1">
                    <c:v/>
                  </c:pt>
                  <c:pt idx="2">
                    <c:v/>
                  </c:pt>
                  <c:pt idx="3">
                    <c:v/>
                  </c:pt>
                  <c:pt idx="4">
                    <c:v/>
                  </c:pt>
                  <c:pt idx="5">
                    <c:v/>
                  </c:pt>
                  <c:pt idx="6">
                    <c:v/>
                  </c:pt>
                  <c:pt idx="7">
                    <c:v/>
                  </c:pt>
                  <c:pt idx="8">
                    <c:v/>
                  </c:pt>
                  <c:pt idx="9">
                    <c:v/>
                  </c:pt>
                  <c:pt idx="10">
                    <c:v/>
                  </c:pt>
                  <c:pt idx="11">
                    <c:v/>
                  </c:pt>
                  <c:pt idx="12">
                    <c:v>2018</c:v>
                  </c:pt>
                  <c:pt idx="13">
                    <c:v/>
                  </c:pt>
                  <c:pt idx="14">
                    <c:v/>
                  </c:pt>
                  <c:pt idx="15">
                    <c:v/>
                  </c:pt>
                  <c:pt idx="16">
                    <c:v/>
                  </c:pt>
                  <c:pt idx="17">
                    <c:v/>
                  </c:pt>
                  <c:pt idx="18">
                    <c:v/>
                  </c:pt>
                  <c:pt idx="19">
                    <c:v/>
                  </c:pt>
                  <c:pt idx="20">
                    <c:v/>
                  </c:pt>
                  <c:pt idx="21">
                    <c:v/>
                  </c:pt>
                  <c:pt idx="22">
                    <c:v/>
                  </c:pt>
                  <c:pt idx="23">
                    <c:v/>
                  </c:pt>
                  <c:pt idx="24">
                    <c:v>2019</c:v>
                  </c:pt>
                  <c:pt idx="25">
                    <c:v/>
                  </c:pt>
                  <c:pt idx="26">
                    <c:v/>
                  </c:pt>
                  <c:pt idx="27">
                    <c:v/>
                  </c:pt>
                  <c:pt idx="28">
                    <c:v/>
                  </c:pt>
                  <c:pt idx="29">
                    <c:v/>
                  </c:pt>
                  <c:pt idx="30">
                    <c:v/>
                  </c:pt>
                  <c:pt idx="31">
                    <c:v/>
                  </c:pt>
                  <c:pt idx="32">
                    <c:v/>
                  </c:pt>
                  <c:pt idx="33">
                    <c:v/>
                  </c:pt>
                  <c:pt idx="34">
                    <c:v/>
                  </c:pt>
                  <c:pt idx="35">
                    <c:v/>
                  </c:pt>
                  <c:pt idx="36">
                    <c:v>2020</c:v>
                  </c:pt>
                  <c:pt idx="37">
                    <c:v/>
                  </c:pt>
                  <c:pt idx="38">
                    <c:v/>
                  </c:pt>
                  <c:pt idx="39">
                    <c:v/>
                  </c:pt>
                  <c:pt idx="40">
                    <c:v/>
                  </c:pt>
                  <c:pt idx="41">
                    <c:v/>
                  </c:pt>
                  <c:pt idx="42">
                    <c:v/>
                  </c:pt>
                  <c:pt idx="43">
                    <c:v/>
                  </c:pt>
                  <c:pt idx="44">
                    <c:v/>
                  </c:pt>
                  <c:pt idx="45">
                    <c:v/>
                  </c:pt>
                  <c:pt idx="46">
                    <c:v/>
                  </c:pt>
                  <c:pt idx="47">
                    <c:v/>
                  </c:pt>
                </c:lvl>
              </c:multiLvlStrCache>
            </c:multiLvlStrRef>
          </c:cat>
          <c:val>
            <c:numRef>
              <c:f>Sheet1!$B$2:$B$49</c:f>
              <c:numCache>
                <c:formatCode>General</c:formatCode>
                <c:ptCount val="48"/>
                <c:pt idx="0">
                  <c:v>4.7</c:v>
                </c:pt>
                <c:pt idx="1">
                  <c:v>4.6</c:v>
                </c:pt>
                <c:pt idx="2">
                  <c:v>4.4</c:v>
                </c:pt>
                <c:pt idx="3">
                  <c:v>4.4</c:v>
                </c:pt>
                <c:pt idx="4">
                  <c:v>4.4</c:v>
                </c:pt>
                <c:pt idx="5">
                  <c:v>4.3</c:v>
                </c:pt>
                <c:pt idx="6">
                  <c:v>4.3</c:v>
                </c:pt>
                <c:pt idx="7">
                  <c:v>4.4</c:v>
                </c:pt>
                <c:pt idx="8">
                  <c:v>4.3</c:v>
                </c:pt>
                <c:pt idx="9">
                  <c:v>4.2</c:v>
                </c:pt>
                <c:pt idx="10">
                  <c:v>4.2</c:v>
                </c:pt>
                <c:pt idx="11">
                  <c:v>4.1</c:v>
                </c:pt>
                <c:pt idx="12">
                  <c:v>4</c:v>
                </c:pt>
                <c:pt idx="13">
                  <c:v>4.1</c:v>
                </c:pt>
                <c:pt idx="14">
                  <c:v>4</c:v>
                </c:pt>
                <c:pt idx="15">
                  <c:v>4</c:v>
                </c:pt>
                <c:pt idx="16">
                  <c:v>3.8</c:v>
                </c:pt>
                <c:pt idx="17">
                  <c:v>4</c:v>
                </c:pt>
                <c:pt idx="18">
                  <c:v>3.8</c:v>
                </c:pt>
                <c:pt idx="19">
                  <c:v>3.8</c:v>
                </c:pt>
                <c:pt idx="20">
                  <c:v>3.7</c:v>
                </c:pt>
                <c:pt idx="21">
                  <c:v>3.8</c:v>
                </c:pt>
                <c:pt idx="22">
                  <c:v>3.8</c:v>
                </c:pt>
                <c:pt idx="23">
                  <c:v>3.9</c:v>
                </c:pt>
                <c:pt idx="24">
                  <c:v>4</c:v>
                </c:pt>
                <c:pt idx="25">
                  <c:v>3.8</c:v>
                </c:pt>
                <c:pt idx="26">
                  <c:v>3.8</c:v>
                </c:pt>
                <c:pt idx="27">
                  <c:v>3.7</c:v>
                </c:pt>
                <c:pt idx="28">
                  <c:v>3.6</c:v>
                </c:pt>
                <c:pt idx="29">
                  <c:v>3.6</c:v>
                </c:pt>
                <c:pt idx="30">
                  <c:v>3.7</c:v>
                </c:pt>
                <c:pt idx="31">
                  <c:v>3.6</c:v>
                </c:pt>
                <c:pt idx="32">
                  <c:v>3.5</c:v>
                </c:pt>
                <c:pt idx="33">
                  <c:v>3.6</c:v>
                </c:pt>
                <c:pt idx="34">
                  <c:v>3.6</c:v>
                </c:pt>
                <c:pt idx="35">
                  <c:v>3.6</c:v>
                </c:pt>
                <c:pt idx="36">
                  <c:v>3.5</c:v>
                </c:pt>
                <c:pt idx="37">
                  <c:v>3.5</c:v>
                </c:pt>
                <c:pt idx="38">
                  <c:v>4.4</c:v>
                </c:pt>
                <c:pt idx="39">
                  <c:v>14.8</c:v>
                </c:pt>
                <c:pt idx="40">
                  <c:v>13.2</c:v>
                </c:pt>
                <c:pt idx="41">
                  <c:v>11</c:v>
                </c:pt>
                <c:pt idx="42">
                  <c:v>10.2</c:v>
                </c:pt>
                <c:pt idx="43">
                  <c:v>8.4</c:v>
                </c:pt>
                <c:pt idx="44">
                  <c:v>7.8</c:v>
                </c:pt>
                <c:pt idx="45">
                  <c:v>6.8</c:v>
                </c:pt>
                <c:pt idx="46">
                  <c:v>6.7</c:v>
                </c:pt>
                <c:pt idx="47">
                  <c:v>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C3CBD8"/>
            </a:solidFill>
            <a:prstDash val="solid"/>
            <a:round/>
          </a:ln>
        </c:spPr>
        <c:txPr>
          <a:bodyPr/>
          <a:lstStyle/>
          <a:p>
            <a:pPr>
              <a:defRPr sz="1000" b="0" i="0" u="none" strike="noStrike">
                <a:solidFill>
                  <a:srgbClr val="6B7488"/>
                </a:solidFill>
                <a:latin typeface="+mn-lt"/>
              </a:defRPr>
            </a:pPr>
            <a:endParaRPr lang="en-US"/>
          </a:p>
        </c:txPr>
        <c:crossAx val="2094734552"/>
        <c:crosses val="autoZero"/>
        <c:auto val="1"/>
        <c:lblAlgn val="ctr"/>
        <c:noMultiLvlLbl val="1"/>
        <c:tickLblSkip val="12"/>
      </c:catAx>
      <c:valAx>
        <c:axId val="2094734552"/>
        <c:scaling>
          <c:orientation val="minMax"/>
          <c:max val="20"/>
          <c:min val="0"/>
        </c:scaling>
        <c:delete val="0"/>
        <c:axPos val="l"/>
        <c:majorGridlines>
          <c:spPr>
            <a:ln w="9525" cap="flat">
              <a:solidFill>
                <a:srgbClr val="E3E7EE"/>
              </a:solidFill>
              <a:prstDash val="solid"/>
              <a:round/>
            </a:ln>
          </c:spPr>
        </c:majorGridlines>
        <c:numFmt formatCode="0" sourceLinked="0"/>
        <c:majorTickMark val="none"/>
        <c:minorTickMark val="none"/>
        <c:tickLblPos val="nextTo"/>
        <c:spPr>
          <a:ln w="12700" cap="flat">
            <a:noFill/>
            <a:prstDash val="solid"/>
            <a:round/>
          </a:ln>
        </c:spPr>
        <c:txPr>
          <a:bodyPr/>
          <a:lstStyle/>
          <a:p>
            <a:pPr>
              <a:defRPr sz="1000" b="0" i="0" u="none" strike="noStrike">
                <a:solidFill>
                  <a:srgbClr val="6B7488"/>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I’m talking about Donald Trump’s first term – the four years from January 2017 to January 2021, when he was the 45th President of the United States.
First, a quick look at his background. Then we’ll go through the events that defined these four years, and at the end I’ll sum up what they left behind.
The timeline at the bottom of each slide shows where we are in his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Donald Trump was born in New York City in 1946. In 1971 he took over his father’s real-estate business and built it into the Trump Organization – skyscrapers like Trump Tower, hotels, casinos and golf courses. Not everything worked out: several of his companies, mostly casinos, went bankrupt. He became a household name on TV, hosting the reality show “The Apprentice” from 2004 to 2015 – “You’re fired!” became his catchphrase.
In 2015 he ran for president as a Republican with the slogan “Make America Great Again”. He beat 16 rivals in the primaries and then Hillary Clinton in November 2016.
The map shows the result: 304 to 227 electoral votes. Pennsylvania, Michigan and Wisconsin – outlined here – decided the race, and Trump won them by only about 78,000 votes combined. Nationwide, Clinton actually got almost 2.9 million more votes; the Electoral College makes that possible.
When he was sworn in on January 20, 2017, he was the first president without any prior political office or military service – and, at 70, the oldest president ever inaugurated at that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economy. Trump’s approach fits into four words: taxes down, tariffs up.
On the left: in December 2017 he signed the Tax Cuts and Jobs Act, the biggest tax overhaul since 1986. At its core, the corporate tax rate fell from 35 to 21 percent. Individuals got tax cuts too – the top rate dropped from 39.6 to 37 percent. Supporters argued that companies would invest more in the U.S. and create jobs. Critics said the main winners were corporations and the wealthy – and Congress estimated the law would add about 1.5 trillion dollars to the deficit over ten years.
On the right: at the same time, Trump broke with decades of free-trade policy. From 2018 he imposed tariffs – on steel and aluminum, which also hit the EU and Germany, and above all on goods from China. In the end, about 370 billion dollars’ worth of Chinese imports were affected. His goals: shrink the trade deficit and force China to play by fairer rules. China hit back, for example with tariffs on soybeans. That hurt American farmers so badly that the government paid them around 28 billion dollars in aid. In January 2020 both sides agreed to a truce: in the “Phase One” deal, China promised to buy an extra 200 billion dollars of American goods. Trump also replaced NAFTA, the trade deal with Canada and Mexico, with the new USMCA.
By early 2020 the economy was strong: in February, unemployment was just 3.5 percent – a 50-year low. We’ll see in a moment how quickly that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area with probably the longest-lasting impact: the courts. The Supreme Court is the highest court in the United States. Its nine justices are nominated by the president, confirmed by the Senate – and serve for life. The court decides the country’s biggest disputes, such as abortion, gun rights and voting rights.
Trump filled three seats in a single term. The graphic shows how the court changed. Top row – when he took office, one seat was empty: conservative justice Antonin Scalia had died in 2016, and the Republican-led Senate had refused to even vote on Obama’s nominee. Trump filled that seat with Neil Gorsuch in 2017.
In 2018 Anthony Kennedy retired – a conservative who often sided with the liberals, the court’s swing vote. His successor, Brett Kavanaugh, faced sexual assault allegations, which he denied, and was confirmed by just 50 to 48. Then, in September 2020, liberal justice Ruth Bader Ginsburg died. Amy Coney Barrett replaced her only eight days before the presidential election.
The result is in the bottom row: a closely balanced court became a clear 6–3 conservative majority. Since the three new justices were only about 50 years old on average, that majority can last for decades. In total, Trump appointed 234 federal judges – all for life.
(Optional outlook: How big this influence is became clear in 2022, when this court overturned Roe v. Wade, the nationwide right to abortion.)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 First” – Trump used this phrase in his inaugural address, and it became the guiding idea of his presidency, at the border and around the world.
Top row, the border: immigration was his central campaign issue. One week into his term, he banned travel from seven mostly Muslim countries. Courts blocked the first version; a revised version was upheld by the Supreme Court in 2018. For the wall he had promised on the border with Mexico, he demanded 5.7 billion dollars from Congress. Democrats refused, and the result was the longest government shutdown in U.S. history: 35 days, with around 800,000 federal employees going without pay. By 2021 about 450 miles of wall had been built, mostly replacing older fencing. The most controversial policy was “zero tolerance” in 2018: people who crossed the border illegally were prosecuted, and children were separated from their parents. After nationwide protests Trump ended the practice; a later government task force counted at least 3,900 separated children.
Bottom row, the world: Trump announced that the U.S. would leave the Paris climate agreement, and he pulled out of the nuclear deal with Iran. He repeatedly pressured NATO allies – Germany included – to spend much more on defense. At the same time, he went for unusual deals: in 2018 in Singapore he became the first sitting U.S. president to meet North Korea’s leader, Kim Jong-un – but real nuclear disarmament never followed. In the Middle East he moved the U.S. embassy to Jerusalem and brokered the 2020 Abraham Accords, in which Israel established relations with the United Arab Emirates and Bahrain; Morocco and Sudan later agreed to follow. Even many of his critics see these accords as a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came 2020 – and with COVID-19 the biggest crisis of his term. The chart shows the unemployment rate. For three years it keeps falling; in February 2020 it is at 3.5 percent, a 50-year low. Then the virus hits, and within two months the rate jumps to 14.8 percent – the highest since records began in 1948. In April 2020 alone, more than 20 million jobs were lost.
The government responded with enormous sums. In late March Trump signed the CARES Act – at 2.2 trillion dollars the largest relief package in U.S. history. Most adults received a check for 1,200 dollars. A clear success was Operation Warp Speed: the government invested billions in developing and producing vaccines. The first vaccine was approved on December 11, 2020 – less than a year into the pandemic. By the way, it came from the German company BioNTech and its partner Pfizer.
But Trump’s handling of the crisis was also heavily criticized. In public he downplayed the danger for a long time. In March 2020 he told journalist Bob Woodward: “I wanted to always play it down.” He said he didn’t want to create a panic. Masks and lockdowns became political battlegrounds, and in October Trump himself caught the virus and was hospitalized. By the end of his term, about 400,000 Americans had died of COVID-19.
[Note: The April 2020 rate was first reported as 14.7% and later revised to 14.8%.]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dramatic end of his term – which really starts in late 2019.
In December 2019 the House of Representatives impeached Trump. The charge: he had pressured Ukraine’s president, Zelensky, to investigate his political rival Joe Biden, while holding back about 390 million dollars in military aid. Trump called it a “perfect” phone call. In February 2020 the Republican-controlled Senate acquitted him.
In November 2020 Trump lost the election to Joe Biden – 232 to 306 electoral votes, and about seven million votes behind. He refused to concede and claimed the election had been stolen. More than 60 lawsuits by him and his allies failed, including before judges he had appointed himself. Even his own attorney general, William Barr, said there was no fraud on a scale that could have changed the outcome.
On January 6, 2021, Congress met to certify Biden’s victory. Beforehand, Trump spoke to thousands of supporters. At the top you can see two lines from that speech: he told the crowd to “peacefully and patriotically make your voices heard” – but he also said “we fight like hell.” Afterwards, supporters forced their way into the Capitol. Lawmakers had to flee, people died, and about 140 police officers were injured. That same night, Congress certified the result.
A week later, Trump became the first president ever to be impeached twice, this time for “incitement of insurrection.” Ten House Republicans voted in favor. In the Senate, 57 senators voted to convict, including seven Republicans – but 67 votes were needed. His term ended on January 20, 2021, and Trump stayed away from his successor’s inauguration – something no president had done in more than 150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these four years leave behind? Three points.
First: the longest-lasting legacy is the Supreme Court. With three justices appointed for life, Trump shaped American law for decades.
Second: few presidents have divided the country this much. On average, only 41 percent of Americans approved of the job he was doing – the lowest average Gallup has ever measured. And yet in 2020 he won more than 74 million votes, more than any sitting president before him. To his supporters he was the outsider finally taking on the establishment; to his opponents, a threat to democracy.
Third: with “America First”, Trump changed America’s role in the world – away from international agreements, toward tariffs and deals.
I’ll finish with a question for you: which decision from these four years do you think will have the longest-lasting impact?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hidden and does not appear in the slide show. It lists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6144768"/>
            <a:ext cx="10149840" cy="0"/>
          </a:xfrm>
          <a:prstGeom prst="line">
            <a:avLst/>
          </a:prstGeom>
          <a:noFill/>
          <a:ln w="12700">
            <a:solidFill>
              <a:srgbClr val="33496E"/>
            </a:solidFill>
            <a:prstDash val="solid"/>
          </a:ln>
        </p:spPr>
      </p:sp>
      <p:sp>
        <p:nvSpPr>
          <p:cNvPr id="3" name="Shape 1"/>
          <p:cNvSpPr/>
          <p:nvPr/>
        </p:nvSpPr>
        <p:spPr>
          <a:xfrm>
            <a:off x="548640" y="6080760"/>
            <a:ext cx="0" cy="128016"/>
          </a:xfrm>
          <a:prstGeom prst="line">
            <a:avLst/>
          </a:prstGeom>
          <a:noFill/>
          <a:ln w="12700">
            <a:solidFill>
              <a:srgbClr val="33496E"/>
            </a:solidFill>
            <a:prstDash val="solid"/>
          </a:ln>
        </p:spPr>
      </p:sp>
      <p:sp>
        <p:nvSpPr>
          <p:cNvPr id="4" name="Text 2"/>
          <p:cNvSpPr/>
          <p:nvPr/>
        </p:nvSpPr>
        <p:spPr>
          <a:xfrm>
            <a:off x="612648"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2017</a:t>
            </a:r>
            <a:endParaRPr lang="en-US" sz="1000" dirty="0"/>
          </a:p>
        </p:txBody>
      </p:sp>
      <p:sp>
        <p:nvSpPr>
          <p:cNvPr id="5" name="Shape 3"/>
          <p:cNvSpPr/>
          <p:nvPr/>
        </p:nvSpPr>
        <p:spPr>
          <a:xfrm>
            <a:off x="3031677" y="6080760"/>
            <a:ext cx="0" cy="128016"/>
          </a:xfrm>
          <a:prstGeom prst="line">
            <a:avLst/>
          </a:prstGeom>
          <a:noFill/>
          <a:ln w="12700">
            <a:solidFill>
              <a:srgbClr val="33496E"/>
            </a:solidFill>
            <a:prstDash val="solid"/>
          </a:ln>
        </p:spPr>
      </p:sp>
      <p:sp>
        <p:nvSpPr>
          <p:cNvPr id="6" name="Text 4"/>
          <p:cNvSpPr/>
          <p:nvPr/>
        </p:nvSpPr>
        <p:spPr>
          <a:xfrm>
            <a:off x="3095685"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2018</a:t>
            </a:r>
            <a:endParaRPr lang="en-US" sz="1000" dirty="0"/>
          </a:p>
        </p:txBody>
      </p:sp>
      <p:sp>
        <p:nvSpPr>
          <p:cNvPr id="7" name="Shape 5"/>
          <p:cNvSpPr/>
          <p:nvPr/>
        </p:nvSpPr>
        <p:spPr>
          <a:xfrm>
            <a:off x="5514715" y="6080760"/>
            <a:ext cx="0" cy="128016"/>
          </a:xfrm>
          <a:prstGeom prst="line">
            <a:avLst/>
          </a:prstGeom>
          <a:noFill/>
          <a:ln w="12700">
            <a:solidFill>
              <a:srgbClr val="33496E"/>
            </a:solidFill>
            <a:prstDash val="solid"/>
          </a:ln>
        </p:spPr>
      </p:sp>
      <p:sp>
        <p:nvSpPr>
          <p:cNvPr id="8" name="Text 6"/>
          <p:cNvSpPr/>
          <p:nvPr/>
        </p:nvSpPr>
        <p:spPr>
          <a:xfrm>
            <a:off x="5578723"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2019</a:t>
            </a:r>
            <a:endParaRPr lang="en-US" sz="1000" dirty="0"/>
          </a:p>
        </p:txBody>
      </p:sp>
      <p:sp>
        <p:nvSpPr>
          <p:cNvPr id="9" name="Shape 7"/>
          <p:cNvSpPr/>
          <p:nvPr/>
        </p:nvSpPr>
        <p:spPr>
          <a:xfrm>
            <a:off x="7997752" y="6080760"/>
            <a:ext cx="0" cy="128016"/>
          </a:xfrm>
          <a:prstGeom prst="line">
            <a:avLst/>
          </a:prstGeom>
          <a:noFill/>
          <a:ln w="12700">
            <a:solidFill>
              <a:srgbClr val="33496E"/>
            </a:solidFill>
            <a:prstDash val="solid"/>
          </a:ln>
        </p:spPr>
      </p:sp>
      <p:sp>
        <p:nvSpPr>
          <p:cNvPr id="10" name="Text 8"/>
          <p:cNvSpPr/>
          <p:nvPr/>
        </p:nvSpPr>
        <p:spPr>
          <a:xfrm>
            <a:off x="806176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2020</a:t>
            </a:r>
            <a:endParaRPr lang="en-US" sz="1000" dirty="0"/>
          </a:p>
        </p:txBody>
      </p:sp>
      <p:sp>
        <p:nvSpPr>
          <p:cNvPr id="11" name="Shape 9"/>
          <p:cNvSpPr/>
          <p:nvPr/>
        </p:nvSpPr>
        <p:spPr>
          <a:xfrm>
            <a:off x="10487592" y="6080760"/>
            <a:ext cx="0" cy="128016"/>
          </a:xfrm>
          <a:prstGeom prst="line">
            <a:avLst/>
          </a:prstGeom>
          <a:noFill/>
          <a:ln w="12700">
            <a:solidFill>
              <a:srgbClr val="33496E"/>
            </a:solidFill>
            <a:prstDash val="solid"/>
          </a:ln>
        </p:spPr>
      </p:sp>
      <p:sp>
        <p:nvSpPr>
          <p:cNvPr id="12" name="Text 10"/>
          <p:cNvSpPr/>
          <p:nvPr/>
        </p:nvSpPr>
        <p:spPr>
          <a:xfrm>
            <a:off x="1055160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2021</a:t>
            </a:r>
            <a:endParaRPr lang="en-US" sz="1000" dirty="0"/>
          </a:p>
        </p:txBody>
      </p:sp>
      <p:sp>
        <p:nvSpPr>
          <p:cNvPr id="13" name="Text 11"/>
          <p:cNvSpPr/>
          <p:nvPr>
            <p:ph idx="111" type="body" hasCustomPrompt="1"/>
          </p:nvPr>
        </p:nvSpPr>
        <p:spPr>
          <a:xfrm>
            <a:off x="548640" y="1600200"/>
            <a:ext cx="6035040" cy="274320"/>
          </a:xfrm>
          <a:prstGeom prst="rect">
            <a:avLst/>
          </a:prstGeom>
          <a:noFill/>
          <a:ln/>
        </p:spPr>
        <p:txBody>
          <a:bodyPr wrap="square" rtlCol="0"/>
          <a:lstStyle>
            <a:lvl1pPr algn="l" indent="0" marL="0">
              <a:buNone/>
              <a:defRPr lang="en-US" sz="1300" b="1" spc="250" kern="0" dirty="0">
                <a:solidFill>
                  <a:schemeClr val="accent6"/>
                </a:solidFill>
                <a:latin typeface="Arial" pitchFamily="34" charset="0"/>
                <a:ea typeface="Arial" pitchFamily="34" charset="-122"/>
                <a:cs typeface="Arial" pitchFamily="34" charset="-120"/>
              </a:defRPr>
            </a:lvl1pPr>
          </a:lstStyle>
          <a:p>
            <a:pPr algn="l" indent="0" marL="0">
              <a:buNone/>
            </a:pPr>
            <a:endParaRPr lang="en-US" sz="1300" dirty="0"/>
          </a:p>
        </p:txBody>
      </p:sp>
      <p:sp>
        <p:nvSpPr>
          <p:cNvPr id="14" name="Text 11"/>
          <p:cNvSpPr/>
          <p:nvPr>
            <p:ph idx="112" type="title" hasCustomPrompt="1"/>
          </p:nvPr>
        </p:nvSpPr>
        <p:spPr>
          <a:xfrm>
            <a:off x="548640" y="2011680"/>
            <a:ext cx="6400800" cy="10515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15" name="Text 11"/>
          <p:cNvSpPr/>
          <p:nvPr>
            <p:ph idx="113" type="body" hasCustomPrompt="1"/>
          </p:nvPr>
        </p:nvSpPr>
        <p:spPr>
          <a:xfrm>
            <a:off x="548640" y="3154680"/>
            <a:ext cx="6217920" cy="548640"/>
          </a:xfrm>
          <a:prstGeom prst="rect">
            <a:avLst/>
          </a:prstGeom>
          <a:noFill/>
          <a:ln/>
        </p:spPr>
        <p:txBody>
          <a:bodyPr wrap="square" rtlCol="0"/>
          <a:lstStyle>
            <a:lvl1pPr algn="l" indent="0" marL="0">
              <a:buNone/>
              <a:defRPr lang="en-US" sz="3000" dirty="0">
                <a:solidFill>
                  <a:schemeClr val="accent3"/>
                </a:solidFill>
                <a:latin typeface="Cambria" pitchFamily="34" charset="0"/>
                <a:ea typeface="Cambria" pitchFamily="34" charset="-122"/>
                <a:cs typeface="Cambria" pitchFamily="34" charset="-120"/>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48640" y="6144768"/>
            <a:ext cx="10149840" cy="0"/>
          </a:xfrm>
          <a:prstGeom prst="line">
            <a:avLst/>
          </a:prstGeom>
          <a:noFill/>
          <a:ln w="12700">
            <a:solidFill>
              <a:srgbClr val="C3CBD8"/>
            </a:solidFill>
            <a:prstDash val="solid"/>
          </a:ln>
        </p:spPr>
      </p:sp>
      <p:sp>
        <p:nvSpPr>
          <p:cNvPr id="3" name="Shape 1"/>
          <p:cNvSpPr/>
          <p:nvPr/>
        </p:nvSpPr>
        <p:spPr>
          <a:xfrm>
            <a:off x="548640" y="6080760"/>
            <a:ext cx="0" cy="128016"/>
          </a:xfrm>
          <a:prstGeom prst="line">
            <a:avLst/>
          </a:prstGeom>
          <a:noFill/>
          <a:ln w="12700">
            <a:solidFill>
              <a:srgbClr val="C3CBD8"/>
            </a:solidFill>
            <a:prstDash val="solid"/>
          </a:ln>
        </p:spPr>
      </p:sp>
      <p:sp>
        <p:nvSpPr>
          <p:cNvPr id="4" name="Text 2"/>
          <p:cNvSpPr/>
          <p:nvPr/>
        </p:nvSpPr>
        <p:spPr>
          <a:xfrm>
            <a:off x="612648"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2017</a:t>
            </a:r>
            <a:endParaRPr lang="en-US" sz="1000" dirty="0"/>
          </a:p>
        </p:txBody>
      </p:sp>
      <p:sp>
        <p:nvSpPr>
          <p:cNvPr id="5" name="Shape 3"/>
          <p:cNvSpPr/>
          <p:nvPr/>
        </p:nvSpPr>
        <p:spPr>
          <a:xfrm>
            <a:off x="3031677" y="6080760"/>
            <a:ext cx="0" cy="128016"/>
          </a:xfrm>
          <a:prstGeom prst="line">
            <a:avLst/>
          </a:prstGeom>
          <a:noFill/>
          <a:ln w="12700">
            <a:solidFill>
              <a:srgbClr val="C3CBD8"/>
            </a:solidFill>
            <a:prstDash val="solid"/>
          </a:ln>
        </p:spPr>
      </p:sp>
      <p:sp>
        <p:nvSpPr>
          <p:cNvPr id="6" name="Text 4"/>
          <p:cNvSpPr/>
          <p:nvPr/>
        </p:nvSpPr>
        <p:spPr>
          <a:xfrm>
            <a:off x="3095685"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2018</a:t>
            </a:r>
            <a:endParaRPr lang="en-US" sz="1000" dirty="0"/>
          </a:p>
        </p:txBody>
      </p:sp>
      <p:sp>
        <p:nvSpPr>
          <p:cNvPr id="7" name="Shape 5"/>
          <p:cNvSpPr/>
          <p:nvPr/>
        </p:nvSpPr>
        <p:spPr>
          <a:xfrm>
            <a:off x="5514715" y="6080760"/>
            <a:ext cx="0" cy="128016"/>
          </a:xfrm>
          <a:prstGeom prst="line">
            <a:avLst/>
          </a:prstGeom>
          <a:noFill/>
          <a:ln w="12700">
            <a:solidFill>
              <a:srgbClr val="C3CBD8"/>
            </a:solidFill>
            <a:prstDash val="solid"/>
          </a:ln>
        </p:spPr>
      </p:sp>
      <p:sp>
        <p:nvSpPr>
          <p:cNvPr id="8" name="Text 6"/>
          <p:cNvSpPr/>
          <p:nvPr/>
        </p:nvSpPr>
        <p:spPr>
          <a:xfrm>
            <a:off x="5578723"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2019</a:t>
            </a:r>
            <a:endParaRPr lang="en-US" sz="1000" dirty="0"/>
          </a:p>
        </p:txBody>
      </p:sp>
      <p:sp>
        <p:nvSpPr>
          <p:cNvPr id="9" name="Shape 7"/>
          <p:cNvSpPr/>
          <p:nvPr/>
        </p:nvSpPr>
        <p:spPr>
          <a:xfrm>
            <a:off x="7997752" y="6080760"/>
            <a:ext cx="0" cy="128016"/>
          </a:xfrm>
          <a:prstGeom prst="line">
            <a:avLst/>
          </a:prstGeom>
          <a:noFill/>
          <a:ln w="12700">
            <a:solidFill>
              <a:srgbClr val="C3CBD8"/>
            </a:solidFill>
            <a:prstDash val="solid"/>
          </a:ln>
        </p:spPr>
      </p:sp>
      <p:sp>
        <p:nvSpPr>
          <p:cNvPr id="10" name="Text 8"/>
          <p:cNvSpPr/>
          <p:nvPr/>
        </p:nvSpPr>
        <p:spPr>
          <a:xfrm>
            <a:off x="8061760"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2020</a:t>
            </a:r>
            <a:endParaRPr lang="en-US" sz="1000" dirty="0"/>
          </a:p>
        </p:txBody>
      </p:sp>
      <p:sp>
        <p:nvSpPr>
          <p:cNvPr id="11" name="Shape 9"/>
          <p:cNvSpPr/>
          <p:nvPr/>
        </p:nvSpPr>
        <p:spPr>
          <a:xfrm>
            <a:off x="10487592" y="6080760"/>
            <a:ext cx="0" cy="128016"/>
          </a:xfrm>
          <a:prstGeom prst="line">
            <a:avLst/>
          </a:prstGeom>
          <a:noFill/>
          <a:ln w="12700">
            <a:solidFill>
              <a:srgbClr val="C3CBD8"/>
            </a:solidFill>
            <a:prstDash val="solid"/>
          </a:ln>
        </p:spPr>
      </p:sp>
      <p:sp>
        <p:nvSpPr>
          <p:cNvPr id="12" name="Text 10"/>
          <p:cNvSpPr/>
          <p:nvPr/>
        </p:nvSpPr>
        <p:spPr>
          <a:xfrm>
            <a:off x="10551600"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2021</a:t>
            </a:r>
            <a:endParaRPr lang="en-US" sz="1000" dirty="0"/>
          </a:p>
        </p:txBody>
      </p:sp>
      <p:sp>
        <p:nvSpPr>
          <p:cNvPr id="13" name="Text 11"/>
          <p:cNvSpPr/>
          <p:nvPr>
            <p:ph idx="111" type="body" hasCustomPrompt="1"/>
          </p:nvPr>
        </p:nvSpPr>
        <p:spPr>
          <a:xfrm>
            <a:off x="548640" y="457200"/>
            <a:ext cx="9144000" cy="274320"/>
          </a:xfrm>
          <a:prstGeom prst="rect">
            <a:avLst/>
          </a:prstGeom>
          <a:noFill/>
          <a:ln/>
        </p:spPr>
        <p:txBody>
          <a:bodyPr wrap="square" rtlCol="0"/>
          <a:lstStyle>
            <a:lvl1pPr algn="l" indent="0" marL="0">
              <a:buNone/>
              <a:defRPr lang="en-US" sz="1200" b="1" spc="200" kern="0" dirty="0">
                <a:solidFill>
                  <a:schemeClr val="accent1"/>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14" name="Text 11"/>
          <p:cNvSpPr/>
          <p:nvPr>
            <p:ph idx="112" type="title" hasCustomPrompt="1"/>
          </p:nvPr>
        </p:nvSpPr>
        <p:spPr>
          <a:xfrm>
            <a:off x="548640" y="731520"/>
            <a:ext cx="11094415" cy="73152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6144768"/>
            <a:ext cx="10149840" cy="0"/>
          </a:xfrm>
          <a:prstGeom prst="line">
            <a:avLst/>
          </a:prstGeom>
          <a:noFill/>
          <a:ln w="12700">
            <a:solidFill>
              <a:srgbClr val="33496E"/>
            </a:solidFill>
            <a:prstDash val="solid"/>
          </a:ln>
        </p:spPr>
      </p:sp>
      <p:sp>
        <p:nvSpPr>
          <p:cNvPr id="3" name="Shape 1"/>
          <p:cNvSpPr/>
          <p:nvPr/>
        </p:nvSpPr>
        <p:spPr>
          <a:xfrm>
            <a:off x="548640" y="6080760"/>
            <a:ext cx="0" cy="128016"/>
          </a:xfrm>
          <a:prstGeom prst="line">
            <a:avLst/>
          </a:prstGeom>
          <a:noFill/>
          <a:ln w="12700">
            <a:solidFill>
              <a:srgbClr val="33496E"/>
            </a:solidFill>
            <a:prstDash val="solid"/>
          </a:ln>
        </p:spPr>
      </p:sp>
      <p:sp>
        <p:nvSpPr>
          <p:cNvPr id="4" name="Text 2"/>
          <p:cNvSpPr/>
          <p:nvPr/>
        </p:nvSpPr>
        <p:spPr>
          <a:xfrm>
            <a:off x="612648"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2017</a:t>
            </a:r>
            <a:endParaRPr lang="en-US" sz="1000" dirty="0"/>
          </a:p>
        </p:txBody>
      </p:sp>
      <p:sp>
        <p:nvSpPr>
          <p:cNvPr id="5" name="Shape 3"/>
          <p:cNvSpPr/>
          <p:nvPr/>
        </p:nvSpPr>
        <p:spPr>
          <a:xfrm>
            <a:off x="3031677" y="6080760"/>
            <a:ext cx="0" cy="128016"/>
          </a:xfrm>
          <a:prstGeom prst="line">
            <a:avLst/>
          </a:prstGeom>
          <a:noFill/>
          <a:ln w="12700">
            <a:solidFill>
              <a:srgbClr val="33496E"/>
            </a:solidFill>
            <a:prstDash val="solid"/>
          </a:ln>
        </p:spPr>
      </p:sp>
      <p:sp>
        <p:nvSpPr>
          <p:cNvPr id="6" name="Text 4"/>
          <p:cNvSpPr/>
          <p:nvPr/>
        </p:nvSpPr>
        <p:spPr>
          <a:xfrm>
            <a:off x="3095685"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2018</a:t>
            </a:r>
            <a:endParaRPr lang="en-US" sz="1000" dirty="0"/>
          </a:p>
        </p:txBody>
      </p:sp>
      <p:sp>
        <p:nvSpPr>
          <p:cNvPr id="7" name="Shape 5"/>
          <p:cNvSpPr/>
          <p:nvPr/>
        </p:nvSpPr>
        <p:spPr>
          <a:xfrm>
            <a:off x="5514715" y="6080760"/>
            <a:ext cx="0" cy="128016"/>
          </a:xfrm>
          <a:prstGeom prst="line">
            <a:avLst/>
          </a:prstGeom>
          <a:noFill/>
          <a:ln w="12700">
            <a:solidFill>
              <a:srgbClr val="33496E"/>
            </a:solidFill>
            <a:prstDash val="solid"/>
          </a:ln>
        </p:spPr>
      </p:sp>
      <p:sp>
        <p:nvSpPr>
          <p:cNvPr id="8" name="Text 6"/>
          <p:cNvSpPr/>
          <p:nvPr/>
        </p:nvSpPr>
        <p:spPr>
          <a:xfrm>
            <a:off x="5578723"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2019</a:t>
            </a:r>
            <a:endParaRPr lang="en-US" sz="1000" dirty="0"/>
          </a:p>
        </p:txBody>
      </p:sp>
      <p:sp>
        <p:nvSpPr>
          <p:cNvPr id="9" name="Shape 7"/>
          <p:cNvSpPr/>
          <p:nvPr/>
        </p:nvSpPr>
        <p:spPr>
          <a:xfrm>
            <a:off x="7997752" y="6080760"/>
            <a:ext cx="0" cy="128016"/>
          </a:xfrm>
          <a:prstGeom prst="line">
            <a:avLst/>
          </a:prstGeom>
          <a:noFill/>
          <a:ln w="12700">
            <a:solidFill>
              <a:srgbClr val="33496E"/>
            </a:solidFill>
            <a:prstDash val="solid"/>
          </a:ln>
        </p:spPr>
      </p:sp>
      <p:sp>
        <p:nvSpPr>
          <p:cNvPr id="10" name="Text 8"/>
          <p:cNvSpPr/>
          <p:nvPr/>
        </p:nvSpPr>
        <p:spPr>
          <a:xfrm>
            <a:off x="806176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2020</a:t>
            </a:r>
            <a:endParaRPr lang="en-US" sz="1000" dirty="0"/>
          </a:p>
        </p:txBody>
      </p:sp>
      <p:sp>
        <p:nvSpPr>
          <p:cNvPr id="11" name="Shape 9"/>
          <p:cNvSpPr/>
          <p:nvPr/>
        </p:nvSpPr>
        <p:spPr>
          <a:xfrm>
            <a:off x="10487592" y="6080760"/>
            <a:ext cx="0" cy="128016"/>
          </a:xfrm>
          <a:prstGeom prst="line">
            <a:avLst/>
          </a:prstGeom>
          <a:noFill/>
          <a:ln w="12700">
            <a:solidFill>
              <a:srgbClr val="33496E"/>
            </a:solidFill>
            <a:prstDash val="solid"/>
          </a:ln>
        </p:spPr>
      </p:sp>
      <p:sp>
        <p:nvSpPr>
          <p:cNvPr id="12" name="Text 10"/>
          <p:cNvSpPr/>
          <p:nvPr/>
        </p:nvSpPr>
        <p:spPr>
          <a:xfrm>
            <a:off x="1055160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2021</a:t>
            </a:r>
            <a:endParaRPr lang="en-US" sz="1000" dirty="0"/>
          </a:p>
        </p:txBody>
      </p:sp>
      <p:sp>
        <p:nvSpPr>
          <p:cNvPr id="13" name="Text 11"/>
          <p:cNvSpPr/>
          <p:nvPr>
            <p:ph idx="111" type="body" hasCustomPrompt="1"/>
          </p:nvPr>
        </p:nvSpPr>
        <p:spPr>
          <a:xfrm>
            <a:off x="548640" y="457200"/>
            <a:ext cx="9144000" cy="274320"/>
          </a:xfrm>
          <a:prstGeom prst="rect">
            <a:avLst/>
          </a:prstGeom>
          <a:noFill/>
          <a:ln/>
        </p:spPr>
        <p:txBody>
          <a:bodyPr wrap="square" rtlCol="0"/>
          <a:lstStyle>
            <a:lvl1pPr algn="l" indent="0" marL="0">
              <a:buNone/>
              <a:defRPr lang="en-US" sz="1200" b="1" spc="200" kern="0" dirty="0">
                <a:solidFill>
                  <a:schemeClr val="accent6"/>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14" name="Text 11"/>
          <p:cNvSpPr/>
          <p:nvPr>
            <p:ph idx="112" type="title" hasCustomPrompt="1"/>
          </p:nvPr>
        </p:nvSpPr>
        <p:spPr>
          <a:xfrm>
            <a:off x="548640" y="731520"/>
            <a:ext cx="11094415" cy="7315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0BA"/>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PPENDIX_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9144000" cy="274320"/>
          </a:xfrm>
          <a:prstGeom prst="rect">
            <a:avLst/>
          </a:prstGeom>
          <a:noFill/>
          <a:ln/>
        </p:spPr>
        <p:txBody>
          <a:bodyPr wrap="square" rtlCol="0"/>
          <a:lstStyle>
            <a:lvl1pPr algn="l" indent="0" marL="0">
              <a:buNone/>
              <a:defRPr lang="en-US" sz="1200" b="1" spc="200" kern="0" dirty="0">
                <a:solidFill>
                  <a:schemeClr val="accent1"/>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1"/>
          <p:cNvSpPr/>
          <p:nvPr>
            <p:ph idx="111" type="body" hasCustomPrompt="1"/>
          </p:nvPr>
        </p:nvSpPr>
        <p:spPr>
          <a:xfrm>
            <a:off x="548640" y="1600200"/>
            <a:ext cx="6035040" cy="274320"/>
          </a:xfrm>
          <a:prstGeom prst="rect">
            <a:avLst/>
          </a:prstGeom>
          <a:noFill/>
          <a:ln/>
        </p:spPr>
        <p:txBody>
          <a:bodyPr wrap="square" lIns="0" tIns="0" rIns="0" bIns="0" rtlCol="0" anchor="t"/>
          <a:lstStyle/>
          <a:p>
            <a:pPr algn="l" indent="0" marL="0">
              <a:buNone/>
            </a:pPr>
            <a:r>
              <a:rPr lang="en-US" sz="1300" b="1" spc="250" kern="0" dirty="0">
                <a:solidFill>
                  <a:schemeClr val="accent6"/>
                </a:solidFill>
                <a:latin typeface="Arial" pitchFamily="34" charset="0"/>
                <a:ea typeface="Arial" pitchFamily="34" charset="-122"/>
                <a:cs typeface="Arial" pitchFamily="34" charset="-120"/>
              </a:rPr>
              <a:t>FOUR YEARS THAT SHAPED AMERICA</a:t>
            </a:r>
            <a:endParaRPr lang="en-US" sz="1300" dirty="0"/>
          </a:p>
        </p:txBody>
      </p:sp>
      <p:sp>
        <p:nvSpPr>
          <p:cNvPr id="3" name="Text 11"/>
          <p:cNvSpPr/>
          <p:nvPr>
            <p:ph idx="112" type="title" hasCustomPrompt="1"/>
          </p:nvPr>
        </p:nvSpPr>
        <p:spPr>
          <a:xfrm>
            <a:off x="548640" y="2011680"/>
            <a:ext cx="6400800" cy="105156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Donald J. Trump</a:t>
            </a:r>
            <a:endParaRPr lang="en-US" sz="5400" dirty="0"/>
          </a:p>
        </p:txBody>
      </p:sp>
      <p:sp>
        <p:nvSpPr>
          <p:cNvPr id="4" name="Text 11"/>
          <p:cNvSpPr/>
          <p:nvPr>
            <p:ph idx="113" type="body" hasCustomPrompt="1"/>
          </p:nvPr>
        </p:nvSpPr>
        <p:spPr>
          <a:xfrm>
            <a:off x="548640" y="3154680"/>
            <a:ext cx="6217920" cy="548640"/>
          </a:xfrm>
          <a:prstGeom prst="rect">
            <a:avLst/>
          </a:prstGeom>
          <a:noFill/>
          <a:ln/>
        </p:spPr>
        <p:txBody>
          <a:bodyPr wrap="square" lIns="0" tIns="0" rIns="0" bIns="0" rtlCol="0" anchor="t"/>
          <a:lstStyle/>
          <a:p>
            <a:pPr algn="l" indent="0" marL="0">
              <a:buNone/>
            </a:pPr>
            <a:r>
              <a:rPr lang="en-US" sz="3000" dirty="0">
                <a:solidFill>
                  <a:schemeClr val="accent3"/>
                </a:solidFill>
                <a:latin typeface="Cambria" pitchFamily="34" charset="0"/>
                <a:ea typeface="Cambria" pitchFamily="34" charset="-122"/>
                <a:cs typeface="Cambria" pitchFamily="34" charset="-120"/>
              </a:rPr>
              <a:t>The First Term  </a:t>
            </a:r>
            <a:pPr algn="l" indent="0" marL="0">
              <a:buNone/>
            </a:pPr>
            <a:r>
              <a:rPr lang="en-US" sz="3000" b="1" dirty="0">
                <a:solidFill>
                  <a:schemeClr val="accent6"/>
                </a:solidFill>
                <a:latin typeface="Cambria" pitchFamily="34" charset="0"/>
                <a:ea typeface="Cambria" pitchFamily="34" charset="-122"/>
                <a:cs typeface="Cambria" pitchFamily="34" charset="-120"/>
              </a:rPr>
              <a:t>2017 – 2021</a:t>
            </a:r>
            <a:endParaRPr lang="en-US" sz="3000" dirty="0"/>
          </a:p>
        </p:txBody>
      </p:sp>
      <p:sp>
        <p:nvSpPr>
          <p:cNvPr id="5" name="Text 3"/>
          <p:cNvSpPr txBox="1"/>
          <p:nvPr/>
        </p:nvSpPr>
        <p:spPr>
          <a:xfrm>
            <a:off x="548640" y="4069080"/>
            <a:ext cx="6217920" cy="320040"/>
          </a:xfrm>
          <a:prstGeom prst="rect">
            <a:avLst/>
          </a:prstGeom>
          <a:noFill/>
          <a:ln/>
        </p:spPr>
        <p:txBody>
          <a:bodyPr wrap="square" lIns="0" tIns="0" rIns="0" bIns="0" rtlCol="0" anchor="t"/>
          <a:lstStyle/>
          <a:p>
            <a:pPr indent="0" marL="0">
              <a:buNone/>
            </a:pPr>
            <a:r>
              <a:rPr lang="en-US" altLang="en-US" sz="1600" dirty="0">
                <a:solidFill>
                  <a:schemeClr val="accent3"/>
                </a:solidFill>
              </a:rPr>
              <a:t>Background  ·  Key events  ·  Legacy</a:t>
            </a:r>
            <a:endParaRPr lang="en-US" sz="1600" dirty="0"/>
          </a:p>
        </p:txBody>
      </p:sp>
      <p:sp>
        <p:nvSpPr>
          <p:cNvPr id="6" name="!!n45"/>
          <p:cNvSpPr txBox="1"/>
          <p:nvPr/>
        </p:nvSpPr>
        <p:spPr>
          <a:xfrm>
            <a:off x="6172200" y="320040"/>
            <a:ext cx="5486400" cy="4846320"/>
          </a:xfrm>
          <a:prstGeom prst="rect">
            <a:avLst/>
          </a:prstGeom>
          <a:noFill/>
          <a:ln/>
        </p:spPr>
        <p:txBody>
          <a:bodyPr wrap="square" lIns="0" tIns="0" rIns="0" bIns="0" rtlCol="0" anchor="ctr"/>
          <a:lstStyle/>
          <a:p>
            <a:pPr algn="r" indent="0" marL="0">
              <a:buNone/>
            </a:pPr>
            <a:r>
              <a:rPr lang="en-US" altLang="en-US" sz="33000" b="1" dirty="0">
                <a:solidFill>
                  <a:schemeClr val="accent1"/>
                </a:solidFill>
              </a:rPr>
              <a:t>45</a:t>
            </a:r>
            <a:endParaRPr lang="en-US" sz="33000" dirty="0"/>
          </a:p>
        </p:txBody>
      </p:sp>
      <p:sp>
        <p:nvSpPr>
          <p:cNvPr id="7" name="Text 5"/>
          <p:cNvSpPr txBox="1"/>
          <p:nvPr/>
        </p:nvSpPr>
        <p:spPr>
          <a:xfrm>
            <a:off x="7498080" y="4572000"/>
            <a:ext cx="4069080" cy="274320"/>
          </a:xfrm>
          <a:prstGeom prst="rect">
            <a:avLst/>
          </a:prstGeom>
          <a:noFill/>
          <a:ln/>
        </p:spPr>
        <p:txBody>
          <a:bodyPr wrap="square" lIns="0" tIns="0" rIns="0" bIns="0" rtlCol="0" anchor="t"/>
          <a:lstStyle/>
          <a:p>
            <a:pPr algn="r" indent="0" marL="0">
              <a:buNone/>
            </a:pPr>
            <a:r>
              <a:rPr lang="en-US" altLang="en-US" sz="1400" dirty="0">
                <a:solidFill>
                  <a:schemeClr val="accent3"/>
                </a:solidFill>
              </a:rPr>
              <a:t>45th President of the United States</a:t>
            </a:r>
            <a:endParaRPr lang="en-US" sz="1400" dirty="0"/>
          </a:p>
        </p:txBody>
      </p:sp>
      <p:sp>
        <p:nvSpPr>
          <p:cNvPr id="8" name="!!tl-span"/>
          <p:cNvSpPr/>
          <p:nvPr/>
        </p:nvSpPr>
        <p:spPr>
          <a:xfrm>
            <a:off x="677894" y="6117336"/>
            <a:ext cx="18288" cy="54864"/>
          </a:xfrm>
          <a:prstGeom prst="rect">
            <a:avLst/>
          </a:prstGeom>
          <a:solidFill>
            <a:schemeClr val="accent6"/>
          </a:solidFill>
          <a:ln/>
        </p:spPr>
      </p:sp>
      <p:sp>
        <p:nvSpPr>
          <p:cNvPr id="9" name="!!tl-d1"/>
          <p:cNvSpPr/>
          <p:nvPr/>
        </p:nvSpPr>
        <p:spPr>
          <a:xfrm>
            <a:off x="595598" y="6062472"/>
            <a:ext cx="164592" cy="164592"/>
          </a:xfrm>
          <a:prstGeom prst="ellipse">
            <a:avLst/>
          </a:prstGeom>
          <a:solidFill>
            <a:schemeClr val="accent6"/>
          </a:solidFill>
          <a:ln w="19050">
            <a:solidFill>
              <a:schemeClr val="tx1"/>
            </a:solidFill>
            <a:prstDash val="solid"/>
          </a:ln>
        </p:spPr>
      </p:sp>
      <p:sp>
        <p:nvSpPr>
          <p:cNvPr id="10" name="!!tl-label"/>
          <p:cNvSpPr txBox="1"/>
          <p:nvPr/>
        </p:nvSpPr>
        <p:spPr>
          <a:xfrm>
            <a:off x="659606" y="5815584"/>
            <a:ext cx="1371600" cy="201168"/>
          </a:xfrm>
          <a:prstGeom prst="rect">
            <a:avLst/>
          </a:prstGeom>
          <a:noFill/>
          <a:ln/>
        </p:spPr>
        <p:txBody>
          <a:bodyPr wrap="square" lIns="0" tIns="0" rIns="0" bIns="0" rtlCol="0" anchor="t"/>
          <a:lstStyle/>
          <a:p>
            <a:pPr indent="0" marL="0">
              <a:buNone/>
            </a:pPr>
            <a:r>
              <a:rPr lang="en-US" altLang="en-US" sz="1000" dirty="0">
                <a:solidFill>
                  <a:srgbClr val="8FA0BA"/>
                </a:solidFill>
              </a:rPr>
              <a:t>Inauguration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01 · BACKGROUND</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From Real-Estate Tycoon to the White House</a:t>
            </a:r>
            <a:endParaRPr lang="en-US" sz="3600" dirty="0"/>
          </a:p>
        </p:txBody>
      </p:sp>
      <p:sp>
        <p:nvSpPr>
          <p:cNvPr id="4" name="Shape 2"/>
          <p:cNvSpPr/>
          <p:nvPr/>
        </p:nvSpPr>
        <p:spPr>
          <a:xfrm>
            <a:off x="548640" y="1737360"/>
            <a:ext cx="5257800" cy="1097280"/>
          </a:xfrm>
          <a:prstGeom prst="roundRect">
            <a:avLst>
              <a:gd name="adj" fmla="val 10000"/>
            </a:avLst>
          </a:prstGeom>
          <a:solidFill>
            <a:schemeClr val="accent1"/>
          </a:solidFill>
          <a:ln/>
        </p:spPr>
      </p:sp>
      <p:sp>
        <p:nvSpPr>
          <p:cNvPr id="5" name="!!n45"/>
          <p:cNvSpPr txBox="1"/>
          <p:nvPr/>
        </p:nvSpPr>
        <p:spPr>
          <a:xfrm>
            <a:off x="777240" y="1783080"/>
            <a:ext cx="1234440" cy="1005840"/>
          </a:xfrm>
          <a:prstGeom prst="rect">
            <a:avLst/>
          </a:prstGeom>
          <a:noFill/>
          <a:ln/>
        </p:spPr>
        <p:txBody>
          <a:bodyPr wrap="square" lIns="0" tIns="0" rIns="0" bIns="0" rtlCol="0" anchor="ctr"/>
          <a:lstStyle/>
          <a:p>
            <a:pPr indent="0" marL="0">
              <a:buNone/>
            </a:pPr>
            <a:r>
              <a:rPr lang="en-US" altLang="en-US" sz="6000" b="1" dirty="0">
                <a:solidFill>
                  <a:schemeClr val="bg1"/>
                </a:solidFill>
              </a:rPr>
              <a:t>45</a:t>
            </a:r>
            <a:endParaRPr lang="en-US" sz="6000" dirty="0"/>
          </a:p>
        </p:txBody>
      </p:sp>
      <p:sp>
        <p:nvSpPr>
          <p:cNvPr id="6" name="Text 4"/>
          <p:cNvSpPr txBox="1"/>
          <p:nvPr/>
        </p:nvSpPr>
        <p:spPr>
          <a:xfrm>
            <a:off x="2103120" y="2011680"/>
            <a:ext cx="3520440" cy="292608"/>
          </a:xfrm>
          <a:prstGeom prst="rect">
            <a:avLst/>
          </a:prstGeom>
          <a:noFill/>
          <a:ln/>
        </p:spPr>
        <p:txBody>
          <a:bodyPr wrap="square" lIns="0" tIns="0" rIns="0" bIns="0" rtlCol="0" anchor="t"/>
          <a:lstStyle/>
          <a:p>
            <a:pPr indent="0" marL="0">
              <a:buNone/>
            </a:pPr>
            <a:r>
              <a:rPr lang="en-US" altLang="en-US" sz="1800" b="1" dirty="0">
                <a:solidFill>
                  <a:schemeClr val="bg1"/>
                </a:solidFill>
              </a:rPr>
              <a:t>45th President · 2017–2021</a:t>
            </a:r>
            <a:endParaRPr lang="en-US" sz="1800" dirty="0"/>
          </a:p>
        </p:txBody>
      </p:sp>
      <p:sp>
        <p:nvSpPr>
          <p:cNvPr id="7" name="Text 5"/>
          <p:cNvSpPr txBox="1"/>
          <p:nvPr/>
        </p:nvSpPr>
        <p:spPr>
          <a:xfrm>
            <a:off x="2103120" y="2350008"/>
            <a:ext cx="3566160" cy="228600"/>
          </a:xfrm>
          <a:prstGeom prst="rect">
            <a:avLst/>
          </a:prstGeom>
          <a:noFill/>
          <a:ln/>
        </p:spPr>
        <p:txBody>
          <a:bodyPr wrap="square" lIns="0" tIns="0" rIns="0" bIns="0" rtlCol="0" anchor="t"/>
          <a:lstStyle/>
          <a:p>
            <a:pPr indent="0" marL="0">
              <a:buNone/>
            </a:pPr>
            <a:r>
              <a:rPr lang="en-US" altLang="en-US" sz="1400" dirty="0">
                <a:solidFill>
                  <a:schemeClr val="bg1"/>
                </a:solidFill>
              </a:rPr>
              <a:t>Vice President: Mike Pence</a:t>
            </a:r>
            <a:endParaRPr lang="en-US" sz="1400" dirty="0"/>
          </a:p>
        </p:txBody>
      </p:sp>
      <p:sp>
        <p:nvSpPr>
          <p:cNvPr id="8" name="Text 6"/>
          <p:cNvSpPr txBox="1"/>
          <p:nvPr/>
        </p:nvSpPr>
        <p:spPr>
          <a:xfrm>
            <a:off x="548640" y="3054096"/>
            <a:ext cx="1554480" cy="228600"/>
          </a:xfrm>
          <a:prstGeom prst="rect">
            <a:avLst/>
          </a:prstGeom>
          <a:noFill/>
          <a:ln/>
        </p:spPr>
        <p:txBody>
          <a:bodyPr wrap="square" lIns="0" tIns="0" rIns="0" bIns="0" rtlCol="0" anchor="t"/>
          <a:lstStyle/>
          <a:p>
            <a:pPr indent="0" marL="0">
              <a:buNone/>
            </a:pPr>
            <a:r>
              <a:rPr lang="en-US" altLang="en-US" sz="1100" b="1" spc="150" kern="0" dirty="0">
                <a:solidFill>
                  <a:schemeClr val="accent1"/>
                </a:solidFill>
              </a:rPr>
              <a:t>BORN</a:t>
            </a:r>
            <a:endParaRPr lang="en-US" sz="1100" dirty="0"/>
          </a:p>
        </p:txBody>
      </p:sp>
      <p:sp>
        <p:nvSpPr>
          <p:cNvPr id="9" name="Text 7"/>
          <p:cNvSpPr txBox="1"/>
          <p:nvPr/>
        </p:nvSpPr>
        <p:spPr>
          <a:xfrm>
            <a:off x="2194560" y="3017520"/>
            <a:ext cx="3611880" cy="457200"/>
          </a:xfrm>
          <a:prstGeom prst="rect">
            <a:avLst/>
          </a:prstGeom>
          <a:noFill/>
          <a:ln/>
        </p:spPr>
        <p:txBody>
          <a:bodyPr wrap="square" lIns="0" tIns="0" rIns="0" bIns="0" rtlCol="0" anchor="t"/>
          <a:lstStyle/>
          <a:p>
            <a:pPr indent="0" marL="0">
              <a:buNone/>
            </a:pPr>
            <a:r>
              <a:rPr lang="en-US" altLang="en-US" sz="1400" dirty="0">
                <a:solidFill>
                  <a:schemeClr val="tx1"/>
                </a:solidFill>
              </a:rPr>
              <a:t>June 14, 1946, New York City</a:t>
            </a:r>
            <a:endParaRPr lang="en-US" sz="1400" dirty="0"/>
          </a:p>
        </p:txBody>
      </p:sp>
      <p:sp>
        <p:nvSpPr>
          <p:cNvPr id="10" name="Shape 8"/>
          <p:cNvSpPr/>
          <p:nvPr/>
        </p:nvSpPr>
        <p:spPr>
          <a:xfrm>
            <a:off x="548640" y="3502152"/>
            <a:ext cx="5257800" cy="0"/>
          </a:xfrm>
          <a:prstGeom prst="line">
            <a:avLst/>
          </a:prstGeom>
          <a:noFill/>
          <a:ln w="9525">
            <a:solidFill>
              <a:srgbClr val="C3CBD8"/>
            </a:solidFill>
            <a:prstDash val="solid"/>
          </a:ln>
        </p:spPr>
      </p:sp>
      <p:sp>
        <p:nvSpPr>
          <p:cNvPr id="11" name="Text 9"/>
          <p:cNvSpPr txBox="1"/>
          <p:nvPr/>
        </p:nvSpPr>
        <p:spPr>
          <a:xfrm>
            <a:off x="548640" y="3593592"/>
            <a:ext cx="1554480" cy="228600"/>
          </a:xfrm>
          <a:prstGeom prst="rect">
            <a:avLst/>
          </a:prstGeom>
          <a:noFill/>
          <a:ln/>
        </p:spPr>
        <p:txBody>
          <a:bodyPr wrap="square" lIns="0" tIns="0" rIns="0" bIns="0" rtlCol="0" anchor="t"/>
          <a:lstStyle/>
          <a:p>
            <a:pPr indent="0" marL="0">
              <a:buNone/>
            </a:pPr>
            <a:r>
              <a:rPr lang="en-US" altLang="en-US" sz="1100" b="1" spc="150" kern="0" dirty="0">
                <a:solidFill>
                  <a:schemeClr val="accent1"/>
                </a:solidFill>
              </a:rPr>
              <a:t>BUSINESS</a:t>
            </a:r>
            <a:endParaRPr lang="en-US" sz="1100" dirty="0"/>
          </a:p>
        </p:txBody>
      </p:sp>
      <p:sp>
        <p:nvSpPr>
          <p:cNvPr id="12" name="Text 10"/>
          <p:cNvSpPr txBox="1"/>
          <p:nvPr/>
        </p:nvSpPr>
        <p:spPr>
          <a:xfrm>
            <a:off x="2194560" y="3557016"/>
            <a:ext cx="3611880" cy="457200"/>
          </a:xfrm>
          <a:prstGeom prst="rect">
            <a:avLst/>
          </a:prstGeom>
          <a:noFill/>
          <a:ln/>
        </p:spPr>
        <p:txBody>
          <a:bodyPr wrap="square" lIns="0" tIns="0" rIns="0" bIns="0" rtlCol="0" anchor="t"/>
          <a:lstStyle/>
          <a:p>
            <a:pPr indent="0" marL="0">
              <a:buNone/>
            </a:pPr>
            <a:r>
              <a:rPr lang="en-US" altLang="en-US" sz="1400" dirty="0">
                <a:solidFill>
                  <a:schemeClr val="tx1"/>
                </a:solidFill>
              </a:rPr>
              <a:t>Real estate · Trump Organization (from 1971)</a:t>
            </a:r>
            <a:endParaRPr lang="en-US" sz="1400" dirty="0"/>
          </a:p>
        </p:txBody>
      </p:sp>
      <p:sp>
        <p:nvSpPr>
          <p:cNvPr id="13" name="Shape 11"/>
          <p:cNvSpPr/>
          <p:nvPr/>
        </p:nvSpPr>
        <p:spPr>
          <a:xfrm>
            <a:off x="548640" y="4041648"/>
            <a:ext cx="5257800" cy="0"/>
          </a:xfrm>
          <a:prstGeom prst="line">
            <a:avLst/>
          </a:prstGeom>
          <a:noFill/>
          <a:ln w="9525">
            <a:solidFill>
              <a:srgbClr val="C3CBD8"/>
            </a:solidFill>
            <a:prstDash val="solid"/>
          </a:ln>
        </p:spPr>
      </p:sp>
      <p:sp>
        <p:nvSpPr>
          <p:cNvPr id="14" name="Text 12"/>
          <p:cNvSpPr txBox="1"/>
          <p:nvPr/>
        </p:nvSpPr>
        <p:spPr>
          <a:xfrm>
            <a:off x="548640" y="4133088"/>
            <a:ext cx="1554480" cy="228600"/>
          </a:xfrm>
          <a:prstGeom prst="rect">
            <a:avLst/>
          </a:prstGeom>
          <a:noFill/>
          <a:ln/>
        </p:spPr>
        <p:txBody>
          <a:bodyPr wrap="square" lIns="0" tIns="0" rIns="0" bIns="0" rtlCol="0" anchor="t"/>
          <a:lstStyle/>
          <a:p>
            <a:pPr indent="0" marL="0">
              <a:buNone/>
            </a:pPr>
            <a:r>
              <a:rPr lang="en-US" altLang="en-US" sz="1100" b="1" spc="150" kern="0" dirty="0">
                <a:solidFill>
                  <a:schemeClr val="accent1"/>
                </a:solidFill>
              </a:rPr>
              <a:t>TV</a:t>
            </a:r>
            <a:endParaRPr lang="en-US" sz="1100" dirty="0"/>
          </a:p>
        </p:txBody>
      </p:sp>
      <p:sp>
        <p:nvSpPr>
          <p:cNvPr id="15" name="Text 13"/>
          <p:cNvSpPr txBox="1"/>
          <p:nvPr/>
        </p:nvSpPr>
        <p:spPr>
          <a:xfrm>
            <a:off x="2194560" y="4096512"/>
            <a:ext cx="3611880" cy="457200"/>
          </a:xfrm>
          <a:prstGeom prst="rect">
            <a:avLst/>
          </a:prstGeom>
          <a:noFill/>
          <a:ln/>
        </p:spPr>
        <p:txBody>
          <a:bodyPr wrap="square" lIns="0" tIns="0" rIns="0" bIns="0" rtlCol="0" anchor="t"/>
          <a:lstStyle/>
          <a:p>
            <a:pPr indent="0" marL="0">
              <a:buNone/>
            </a:pPr>
            <a:r>
              <a:rPr lang="en-US" altLang="en-US" sz="1400" dirty="0">
                <a:solidFill>
                  <a:schemeClr val="tx1"/>
                </a:solidFill>
              </a:rPr>
              <a:t>Host of “The Apprentice” (2004–2015)</a:t>
            </a:r>
            <a:endParaRPr lang="en-US" sz="1400" dirty="0"/>
          </a:p>
        </p:txBody>
      </p:sp>
      <p:sp>
        <p:nvSpPr>
          <p:cNvPr id="16" name="Shape 14"/>
          <p:cNvSpPr/>
          <p:nvPr/>
        </p:nvSpPr>
        <p:spPr>
          <a:xfrm>
            <a:off x="548640" y="4581144"/>
            <a:ext cx="5257800" cy="0"/>
          </a:xfrm>
          <a:prstGeom prst="line">
            <a:avLst/>
          </a:prstGeom>
          <a:noFill/>
          <a:ln w="9525">
            <a:solidFill>
              <a:srgbClr val="C3CBD8"/>
            </a:solidFill>
            <a:prstDash val="solid"/>
          </a:ln>
        </p:spPr>
      </p:sp>
      <p:sp>
        <p:nvSpPr>
          <p:cNvPr id="17" name="Text 15"/>
          <p:cNvSpPr txBox="1"/>
          <p:nvPr/>
        </p:nvSpPr>
        <p:spPr>
          <a:xfrm>
            <a:off x="548640" y="4672584"/>
            <a:ext cx="1554480" cy="228600"/>
          </a:xfrm>
          <a:prstGeom prst="rect">
            <a:avLst/>
          </a:prstGeom>
          <a:noFill/>
          <a:ln/>
        </p:spPr>
        <p:txBody>
          <a:bodyPr wrap="square" lIns="0" tIns="0" rIns="0" bIns="0" rtlCol="0" anchor="t"/>
          <a:lstStyle/>
          <a:p>
            <a:pPr indent="0" marL="0">
              <a:buNone/>
            </a:pPr>
            <a:r>
              <a:rPr lang="en-US" altLang="en-US" sz="1100" b="1" spc="150" kern="0" dirty="0">
                <a:solidFill>
                  <a:schemeClr val="accent1"/>
                </a:solidFill>
              </a:rPr>
              <a:t>CAMPAIGN</a:t>
            </a:r>
            <a:endParaRPr lang="en-US" sz="1100" dirty="0"/>
          </a:p>
        </p:txBody>
      </p:sp>
      <p:sp>
        <p:nvSpPr>
          <p:cNvPr id="18" name="Text 16"/>
          <p:cNvSpPr txBox="1"/>
          <p:nvPr/>
        </p:nvSpPr>
        <p:spPr>
          <a:xfrm>
            <a:off x="2194560" y="4636008"/>
            <a:ext cx="3611880" cy="457200"/>
          </a:xfrm>
          <a:prstGeom prst="rect">
            <a:avLst/>
          </a:prstGeom>
          <a:noFill/>
          <a:ln/>
        </p:spPr>
        <p:txBody>
          <a:bodyPr wrap="square" lIns="0" tIns="0" rIns="0" bIns="0" rtlCol="0" anchor="t"/>
          <a:lstStyle/>
          <a:p>
            <a:pPr indent="0" marL="0">
              <a:buNone/>
            </a:pPr>
            <a:r>
              <a:rPr lang="en-US" altLang="en-US" sz="1400" dirty="0">
                <a:solidFill>
                  <a:schemeClr val="tx1"/>
                </a:solidFill>
              </a:rPr>
              <a:t>Republican · “Make America Great Again”</a:t>
            </a:r>
            <a:endParaRPr lang="en-US" sz="1400" dirty="0"/>
          </a:p>
        </p:txBody>
      </p:sp>
      <p:sp>
        <p:nvSpPr>
          <p:cNvPr id="19" name="Shape 17"/>
          <p:cNvSpPr/>
          <p:nvPr/>
        </p:nvSpPr>
        <p:spPr>
          <a:xfrm>
            <a:off x="548640" y="5120640"/>
            <a:ext cx="5257800" cy="0"/>
          </a:xfrm>
          <a:prstGeom prst="line">
            <a:avLst/>
          </a:prstGeom>
          <a:noFill/>
          <a:ln w="9525">
            <a:solidFill>
              <a:srgbClr val="C3CBD8"/>
            </a:solidFill>
            <a:prstDash val="solid"/>
          </a:ln>
        </p:spPr>
      </p:sp>
      <p:sp>
        <p:nvSpPr>
          <p:cNvPr id="20" name="Text 18"/>
          <p:cNvSpPr txBox="1"/>
          <p:nvPr/>
        </p:nvSpPr>
        <p:spPr>
          <a:xfrm>
            <a:off x="548640" y="5212080"/>
            <a:ext cx="1554480" cy="228600"/>
          </a:xfrm>
          <a:prstGeom prst="rect">
            <a:avLst/>
          </a:prstGeom>
          <a:noFill/>
          <a:ln/>
        </p:spPr>
        <p:txBody>
          <a:bodyPr wrap="square" lIns="0" tIns="0" rIns="0" bIns="0" rtlCol="0" anchor="t"/>
          <a:lstStyle/>
          <a:p>
            <a:pPr indent="0" marL="0">
              <a:buNone/>
            </a:pPr>
            <a:r>
              <a:rPr lang="en-US" altLang="en-US" sz="1100" b="1" spc="150" kern="0" dirty="0">
                <a:solidFill>
                  <a:schemeClr val="accent1"/>
                </a:solidFill>
              </a:rPr>
              <a:t>OUTSIDER</a:t>
            </a:r>
            <a:endParaRPr lang="en-US" sz="1100" dirty="0"/>
          </a:p>
        </p:txBody>
      </p:sp>
      <p:sp>
        <p:nvSpPr>
          <p:cNvPr id="21" name="Text 19"/>
          <p:cNvSpPr txBox="1"/>
          <p:nvPr/>
        </p:nvSpPr>
        <p:spPr>
          <a:xfrm>
            <a:off x="2194560" y="5175504"/>
            <a:ext cx="3611880" cy="457200"/>
          </a:xfrm>
          <a:prstGeom prst="rect">
            <a:avLst/>
          </a:prstGeom>
          <a:noFill/>
          <a:ln/>
        </p:spPr>
        <p:txBody>
          <a:bodyPr wrap="square" lIns="0" tIns="0" rIns="0" bIns="0" rtlCol="0" anchor="t"/>
          <a:lstStyle/>
          <a:p>
            <a:pPr indent="0" marL="0">
              <a:buNone/>
            </a:pPr>
            <a:r>
              <a:rPr lang="en-US" altLang="en-US" sz="1400" dirty="0">
                <a:solidFill>
                  <a:schemeClr val="tx1"/>
                </a:solidFill>
              </a:rPr>
              <a:t>No prior political office or military service</a:t>
            </a:r>
            <a:endParaRPr lang="en-US" sz="1400" dirty="0"/>
          </a:p>
        </p:txBody>
      </p:sp>
      <p:sp>
        <p:nvSpPr>
          <p:cNvPr id="22" name="Shape 20"/>
          <p:cNvSpPr/>
          <p:nvPr/>
        </p:nvSpPr>
        <p:spPr>
          <a:xfrm>
            <a:off x="6172200" y="1737360"/>
            <a:ext cx="5470855" cy="3977640"/>
          </a:xfrm>
          <a:prstGeom prst="roundRect">
            <a:avLst>
              <a:gd name="adj" fmla="val 2759"/>
            </a:avLst>
          </a:prstGeom>
          <a:solidFill>
            <a:schemeClr val="bg2"/>
          </a:solidFill>
          <a:ln/>
        </p:spPr>
      </p:sp>
      <p:sp>
        <p:nvSpPr>
          <p:cNvPr id="23" name="Text 21"/>
          <p:cNvSpPr txBox="1"/>
          <p:nvPr/>
        </p:nvSpPr>
        <p:spPr>
          <a:xfrm>
            <a:off x="6446520" y="1938528"/>
            <a:ext cx="4114800" cy="228600"/>
          </a:xfrm>
          <a:prstGeom prst="rect">
            <a:avLst/>
          </a:prstGeom>
          <a:noFill/>
          <a:ln/>
        </p:spPr>
        <p:txBody>
          <a:bodyPr wrap="square" lIns="0" tIns="0" rIns="0" bIns="0" rtlCol="0" anchor="t"/>
          <a:lstStyle/>
          <a:p>
            <a:pPr indent="0" marL="0">
              <a:buNone/>
            </a:pPr>
            <a:r>
              <a:rPr lang="en-US" altLang="en-US" sz="1100" b="1" spc="150" kern="0" dirty="0">
                <a:solidFill>
                  <a:schemeClr val="accent1"/>
                </a:solidFill>
              </a:rPr>
              <a:t>2016 ELECTION · ELECTORAL VOTES</a:t>
            </a:r>
            <a:endParaRPr lang="en-US" sz="1100" dirty="0"/>
          </a:p>
        </p:txBody>
      </p:sp>
      <p:sp>
        <p:nvSpPr>
          <p:cNvPr id="24" name="Text 22"/>
          <p:cNvSpPr txBox="1"/>
          <p:nvPr/>
        </p:nvSpPr>
        <p:spPr>
          <a:xfrm>
            <a:off x="6446520" y="2194560"/>
            <a:ext cx="2560320" cy="594360"/>
          </a:xfrm>
          <a:prstGeom prst="rect">
            <a:avLst/>
          </a:prstGeom>
          <a:noFill/>
          <a:ln/>
        </p:spPr>
        <p:txBody>
          <a:bodyPr wrap="square" lIns="0" tIns="0" rIns="0" bIns="0" rtlCol="0" anchor="t"/>
          <a:lstStyle/>
          <a:p>
            <a:pPr indent="0" marL="0">
              <a:buNone/>
            </a:pPr>
            <a:r>
              <a:rPr lang="en-US" altLang="en-US" sz="3600" b="1" dirty="0">
                <a:solidFill>
                  <a:schemeClr val="tx1"/>
                </a:solidFill>
              </a:rPr>
              <a:t>304–227</a:t>
            </a:r>
            <a:endParaRPr lang="en-US" sz="3600" dirty="0"/>
          </a:p>
        </p:txBody>
      </p:sp>
      <p:sp>
        <p:nvSpPr>
          <p:cNvPr id="25" name="Text 23"/>
          <p:cNvSpPr txBox="1"/>
          <p:nvPr/>
        </p:nvSpPr>
        <p:spPr>
          <a:xfrm>
            <a:off x="8961120" y="2212848"/>
            <a:ext cx="2407615" cy="566928"/>
          </a:xfrm>
          <a:prstGeom prst="rect">
            <a:avLst/>
          </a:prstGeom>
          <a:noFill/>
          <a:ln/>
        </p:spPr>
        <p:txBody>
          <a:bodyPr wrap="square" lIns="0" tIns="0" rIns="0" bIns="0" rtlCol="0" anchor="t"/>
          <a:lstStyle/>
          <a:p>
            <a:pPr indent="0" marL="0">
              <a:buNone/>
            </a:pPr>
            <a:r>
              <a:rPr lang="en-US" altLang="en-US" sz="1400" dirty="0">
                <a:solidFill>
                  <a:schemeClr val="tx2"/>
                </a:solidFill>
              </a:rPr>
              <a:t>despite losing the popular vote by 2.9 million</a:t>
            </a:r>
            <a:endParaRPr lang="en-US" sz="1400" dirty="0"/>
          </a:p>
        </p:txBody>
      </p:sp>
      <p:sp>
        <p:nvSpPr>
          <p:cNvPr id="26" name="State AK"/>
          <p:cNvSpPr/>
          <p:nvPr/>
        </p:nvSpPr>
        <p:spPr>
          <a:xfrm>
            <a:off x="6446520" y="297180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AK</a:t>
            </a:r>
            <a:endParaRPr lang="en-US" sz="800" dirty="0"/>
          </a:p>
        </p:txBody>
      </p:sp>
      <p:sp>
        <p:nvSpPr>
          <p:cNvPr id="27" name="State ME"/>
          <p:cNvSpPr/>
          <p:nvPr/>
        </p:nvSpPr>
        <p:spPr>
          <a:xfrm>
            <a:off x="9555480" y="2971800"/>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ME</a:t>
            </a:r>
            <a:endParaRPr lang="en-US" sz="800" dirty="0"/>
          </a:p>
        </p:txBody>
      </p:sp>
      <p:sp>
        <p:nvSpPr>
          <p:cNvPr id="28" name="State WI"/>
          <p:cNvSpPr/>
          <p:nvPr/>
        </p:nvSpPr>
        <p:spPr>
          <a:xfrm>
            <a:off x="8001000" y="3282696"/>
            <a:ext cx="274320" cy="274320"/>
          </a:xfrm>
          <a:prstGeom prst="roundRect">
            <a:avLst>
              <a:gd name="adj" fmla="val 13333"/>
            </a:avLst>
          </a:prstGeom>
          <a:solidFill>
            <a:schemeClr val="accent1"/>
          </a:solidFill>
          <a:ln w="28575">
            <a:solidFill>
              <a:schemeClr val="tx1"/>
            </a:solidFill>
          </a:ln>
        </p:spPr>
        <p:txBody>
          <a:bodyPr wrap="square" lIns="0" tIns="0" rIns="0" bIns="0" rtlCol="0" anchor="ctr"/>
          <a:lstStyle/>
          <a:p>
            <a:pPr algn="ctr" indent="0" marL="0">
              <a:buNone/>
            </a:pPr>
            <a:r>
              <a:rPr lang="en-US" altLang="en-US" sz="800" b="1" dirty="0">
                <a:solidFill>
                  <a:schemeClr val="bg1"/>
                </a:solidFill>
              </a:rPr>
              <a:t>WI</a:t>
            </a:r>
            <a:endParaRPr lang="en-US" sz="800" dirty="0"/>
          </a:p>
        </p:txBody>
      </p:sp>
      <p:sp>
        <p:nvSpPr>
          <p:cNvPr id="29" name="State VT"/>
          <p:cNvSpPr/>
          <p:nvPr/>
        </p:nvSpPr>
        <p:spPr>
          <a:xfrm>
            <a:off x="9244584" y="3282696"/>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VT</a:t>
            </a:r>
            <a:endParaRPr lang="en-US" sz="800" dirty="0"/>
          </a:p>
        </p:txBody>
      </p:sp>
      <p:sp>
        <p:nvSpPr>
          <p:cNvPr id="30" name="State NH"/>
          <p:cNvSpPr/>
          <p:nvPr/>
        </p:nvSpPr>
        <p:spPr>
          <a:xfrm>
            <a:off x="9555480" y="3282696"/>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NH</a:t>
            </a:r>
            <a:endParaRPr lang="en-US" sz="800" dirty="0"/>
          </a:p>
        </p:txBody>
      </p:sp>
      <p:sp>
        <p:nvSpPr>
          <p:cNvPr id="31" name="State WA"/>
          <p:cNvSpPr/>
          <p:nvPr/>
        </p:nvSpPr>
        <p:spPr>
          <a:xfrm>
            <a:off x="6446520"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WA</a:t>
            </a:r>
            <a:endParaRPr lang="en-US" sz="800" dirty="0"/>
          </a:p>
        </p:txBody>
      </p:sp>
      <p:sp>
        <p:nvSpPr>
          <p:cNvPr id="32" name="State ID"/>
          <p:cNvSpPr/>
          <p:nvPr/>
        </p:nvSpPr>
        <p:spPr>
          <a:xfrm>
            <a:off x="6757416" y="359359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ID</a:t>
            </a:r>
            <a:endParaRPr lang="en-US" sz="800" dirty="0"/>
          </a:p>
        </p:txBody>
      </p:sp>
      <p:sp>
        <p:nvSpPr>
          <p:cNvPr id="33" name="State MT"/>
          <p:cNvSpPr/>
          <p:nvPr/>
        </p:nvSpPr>
        <p:spPr>
          <a:xfrm>
            <a:off x="7068312" y="359359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MT</a:t>
            </a:r>
            <a:endParaRPr lang="en-US" sz="800" dirty="0"/>
          </a:p>
        </p:txBody>
      </p:sp>
      <p:sp>
        <p:nvSpPr>
          <p:cNvPr id="34" name="State ND"/>
          <p:cNvSpPr/>
          <p:nvPr/>
        </p:nvSpPr>
        <p:spPr>
          <a:xfrm>
            <a:off x="7379208" y="359359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ND</a:t>
            </a:r>
            <a:endParaRPr lang="en-US" sz="800" dirty="0"/>
          </a:p>
        </p:txBody>
      </p:sp>
      <p:sp>
        <p:nvSpPr>
          <p:cNvPr id="35" name="State MN"/>
          <p:cNvSpPr/>
          <p:nvPr/>
        </p:nvSpPr>
        <p:spPr>
          <a:xfrm>
            <a:off x="7690104"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MN</a:t>
            </a:r>
            <a:endParaRPr lang="en-US" sz="800" dirty="0"/>
          </a:p>
        </p:txBody>
      </p:sp>
      <p:sp>
        <p:nvSpPr>
          <p:cNvPr id="36" name="State IL"/>
          <p:cNvSpPr/>
          <p:nvPr/>
        </p:nvSpPr>
        <p:spPr>
          <a:xfrm>
            <a:off x="8001000"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IL</a:t>
            </a:r>
            <a:endParaRPr lang="en-US" sz="800" dirty="0"/>
          </a:p>
        </p:txBody>
      </p:sp>
      <p:sp>
        <p:nvSpPr>
          <p:cNvPr id="37" name="State MI"/>
          <p:cNvSpPr/>
          <p:nvPr/>
        </p:nvSpPr>
        <p:spPr>
          <a:xfrm>
            <a:off x="8311896" y="3593592"/>
            <a:ext cx="274320" cy="274320"/>
          </a:xfrm>
          <a:prstGeom prst="roundRect">
            <a:avLst>
              <a:gd name="adj" fmla="val 13333"/>
            </a:avLst>
          </a:prstGeom>
          <a:solidFill>
            <a:schemeClr val="accent1"/>
          </a:solidFill>
          <a:ln w="28575">
            <a:solidFill>
              <a:schemeClr val="tx1"/>
            </a:solidFill>
          </a:ln>
        </p:spPr>
        <p:txBody>
          <a:bodyPr wrap="square" lIns="0" tIns="0" rIns="0" bIns="0" rtlCol="0" anchor="ctr"/>
          <a:lstStyle/>
          <a:p>
            <a:pPr algn="ctr" indent="0" marL="0">
              <a:buNone/>
            </a:pPr>
            <a:r>
              <a:rPr lang="en-US" altLang="en-US" sz="800" b="1" dirty="0">
                <a:solidFill>
                  <a:schemeClr val="bg1"/>
                </a:solidFill>
              </a:rPr>
              <a:t>MI</a:t>
            </a:r>
            <a:endParaRPr lang="en-US" sz="800" dirty="0"/>
          </a:p>
        </p:txBody>
      </p:sp>
      <p:sp>
        <p:nvSpPr>
          <p:cNvPr id="38" name="State NY"/>
          <p:cNvSpPr/>
          <p:nvPr/>
        </p:nvSpPr>
        <p:spPr>
          <a:xfrm>
            <a:off x="8933688"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NY</a:t>
            </a:r>
            <a:endParaRPr lang="en-US" sz="800" dirty="0"/>
          </a:p>
        </p:txBody>
      </p:sp>
      <p:sp>
        <p:nvSpPr>
          <p:cNvPr id="39" name="State MA"/>
          <p:cNvSpPr/>
          <p:nvPr/>
        </p:nvSpPr>
        <p:spPr>
          <a:xfrm>
            <a:off x="9244584"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MA</a:t>
            </a:r>
            <a:endParaRPr lang="en-US" sz="800" dirty="0"/>
          </a:p>
        </p:txBody>
      </p:sp>
      <p:sp>
        <p:nvSpPr>
          <p:cNvPr id="40" name="State OR"/>
          <p:cNvSpPr/>
          <p:nvPr/>
        </p:nvSpPr>
        <p:spPr>
          <a:xfrm>
            <a:off x="6446520"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OR</a:t>
            </a:r>
            <a:endParaRPr lang="en-US" sz="800" dirty="0"/>
          </a:p>
        </p:txBody>
      </p:sp>
      <p:sp>
        <p:nvSpPr>
          <p:cNvPr id="41" name="State NV"/>
          <p:cNvSpPr/>
          <p:nvPr/>
        </p:nvSpPr>
        <p:spPr>
          <a:xfrm>
            <a:off x="6757416"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NV</a:t>
            </a:r>
            <a:endParaRPr lang="en-US" sz="800" dirty="0"/>
          </a:p>
        </p:txBody>
      </p:sp>
      <p:sp>
        <p:nvSpPr>
          <p:cNvPr id="42" name="State WY"/>
          <p:cNvSpPr/>
          <p:nvPr/>
        </p:nvSpPr>
        <p:spPr>
          <a:xfrm>
            <a:off x="7068312"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WY</a:t>
            </a:r>
            <a:endParaRPr lang="en-US" sz="800" dirty="0"/>
          </a:p>
        </p:txBody>
      </p:sp>
      <p:sp>
        <p:nvSpPr>
          <p:cNvPr id="43" name="State SD"/>
          <p:cNvSpPr/>
          <p:nvPr/>
        </p:nvSpPr>
        <p:spPr>
          <a:xfrm>
            <a:off x="7379208"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SD</a:t>
            </a:r>
            <a:endParaRPr lang="en-US" sz="800" dirty="0"/>
          </a:p>
        </p:txBody>
      </p:sp>
      <p:sp>
        <p:nvSpPr>
          <p:cNvPr id="44" name="State IA"/>
          <p:cNvSpPr/>
          <p:nvPr/>
        </p:nvSpPr>
        <p:spPr>
          <a:xfrm>
            <a:off x="7690104"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IA</a:t>
            </a:r>
            <a:endParaRPr lang="en-US" sz="800" dirty="0"/>
          </a:p>
        </p:txBody>
      </p:sp>
      <p:sp>
        <p:nvSpPr>
          <p:cNvPr id="45" name="State IN"/>
          <p:cNvSpPr/>
          <p:nvPr/>
        </p:nvSpPr>
        <p:spPr>
          <a:xfrm>
            <a:off x="8001000"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IN</a:t>
            </a:r>
            <a:endParaRPr lang="en-US" sz="800" dirty="0"/>
          </a:p>
        </p:txBody>
      </p:sp>
      <p:sp>
        <p:nvSpPr>
          <p:cNvPr id="46" name="State OH"/>
          <p:cNvSpPr/>
          <p:nvPr/>
        </p:nvSpPr>
        <p:spPr>
          <a:xfrm>
            <a:off x="8311896"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OH</a:t>
            </a:r>
            <a:endParaRPr lang="en-US" sz="800" dirty="0"/>
          </a:p>
        </p:txBody>
      </p:sp>
      <p:sp>
        <p:nvSpPr>
          <p:cNvPr id="47" name="State PA"/>
          <p:cNvSpPr/>
          <p:nvPr/>
        </p:nvSpPr>
        <p:spPr>
          <a:xfrm>
            <a:off x="8622792" y="3904488"/>
            <a:ext cx="274320" cy="274320"/>
          </a:xfrm>
          <a:prstGeom prst="roundRect">
            <a:avLst>
              <a:gd name="adj" fmla="val 13333"/>
            </a:avLst>
          </a:prstGeom>
          <a:solidFill>
            <a:schemeClr val="accent1"/>
          </a:solidFill>
          <a:ln w="28575">
            <a:solidFill>
              <a:schemeClr val="tx1"/>
            </a:solidFill>
          </a:ln>
        </p:spPr>
        <p:txBody>
          <a:bodyPr wrap="square" lIns="0" tIns="0" rIns="0" bIns="0" rtlCol="0" anchor="ctr"/>
          <a:lstStyle/>
          <a:p>
            <a:pPr algn="ctr" indent="0" marL="0">
              <a:buNone/>
            </a:pPr>
            <a:r>
              <a:rPr lang="en-US" altLang="en-US" sz="800" b="1" dirty="0">
                <a:solidFill>
                  <a:schemeClr val="bg1"/>
                </a:solidFill>
              </a:rPr>
              <a:t>PA</a:t>
            </a:r>
            <a:endParaRPr lang="en-US" sz="800" dirty="0"/>
          </a:p>
        </p:txBody>
      </p:sp>
      <p:sp>
        <p:nvSpPr>
          <p:cNvPr id="48" name="State NJ"/>
          <p:cNvSpPr/>
          <p:nvPr/>
        </p:nvSpPr>
        <p:spPr>
          <a:xfrm>
            <a:off x="8933688"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NJ</a:t>
            </a:r>
            <a:endParaRPr lang="en-US" sz="800" dirty="0"/>
          </a:p>
        </p:txBody>
      </p:sp>
      <p:sp>
        <p:nvSpPr>
          <p:cNvPr id="49" name="State CT"/>
          <p:cNvSpPr/>
          <p:nvPr/>
        </p:nvSpPr>
        <p:spPr>
          <a:xfrm>
            <a:off x="9244584"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CT</a:t>
            </a:r>
            <a:endParaRPr lang="en-US" sz="800" dirty="0"/>
          </a:p>
        </p:txBody>
      </p:sp>
      <p:sp>
        <p:nvSpPr>
          <p:cNvPr id="50" name="State RI"/>
          <p:cNvSpPr/>
          <p:nvPr/>
        </p:nvSpPr>
        <p:spPr>
          <a:xfrm>
            <a:off x="9555480"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RI</a:t>
            </a:r>
            <a:endParaRPr lang="en-US" sz="800" dirty="0"/>
          </a:p>
        </p:txBody>
      </p:sp>
      <p:sp>
        <p:nvSpPr>
          <p:cNvPr id="51" name="State CA"/>
          <p:cNvSpPr/>
          <p:nvPr/>
        </p:nvSpPr>
        <p:spPr>
          <a:xfrm>
            <a:off x="6446520"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CA</a:t>
            </a:r>
            <a:endParaRPr lang="en-US" sz="800" dirty="0"/>
          </a:p>
        </p:txBody>
      </p:sp>
      <p:sp>
        <p:nvSpPr>
          <p:cNvPr id="52" name="State UT"/>
          <p:cNvSpPr/>
          <p:nvPr/>
        </p:nvSpPr>
        <p:spPr>
          <a:xfrm>
            <a:off x="6757416"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UT</a:t>
            </a:r>
            <a:endParaRPr lang="en-US" sz="800" dirty="0"/>
          </a:p>
        </p:txBody>
      </p:sp>
      <p:sp>
        <p:nvSpPr>
          <p:cNvPr id="53" name="State CO"/>
          <p:cNvSpPr/>
          <p:nvPr/>
        </p:nvSpPr>
        <p:spPr>
          <a:xfrm>
            <a:off x="7068312"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CO</a:t>
            </a:r>
            <a:endParaRPr lang="en-US" sz="800" dirty="0"/>
          </a:p>
        </p:txBody>
      </p:sp>
      <p:sp>
        <p:nvSpPr>
          <p:cNvPr id="54" name="State NE"/>
          <p:cNvSpPr/>
          <p:nvPr/>
        </p:nvSpPr>
        <p:spPr>
          <a:xfrm>
            <a:off x="7379208"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NE</a:t>
            </a:r>
            <a:endParaRPr lang="en-US" sz="800" dirty="0"/>
          </a:p>
        </p:txBody>
      </p:sp>
      <p:sp>
        <p:nvSpPr>
          <p:cNvPr id="55" name="State MO"/>
          <p:cNvSpPr/>
          <p:nvPr/>
        </p:nvSpPr>
        <p:spPr>
          <a:xfrm>
            <a:off x="7690104"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MO</a:t>
            </a:r>
            <a:endParaRPr lang="en-US" sz="800" dirty="0"/>
          </a:p>
        </p:txBody>
      </p:sp>
      <p:sp>
        <p:nvSpPr>
          <p:cNvPr id="56" name="State KY"/>
          <p:cNvSpPr/>
          <p:nvPr/>
        </p:nvSpPr>
        <p:spPr>
          <a:xfrm>
            <a:off x="8001000"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KY</a:t>
            </a:r>
            <a:endParaRPr lang="en-US" sz="800" dirty="0"/>
          </a:p>
        </p:txBody>
      </p:sp>
      <p:sp>
        <p:nvSpPr>
          <p:cNvPr id="57" name="State WV"/>
          <p:cNvSpPr/>
          <p:nvPr/>
        </p:nvSpPr>
        <p:spPr>
          <a:xfrm>
            <a:off x="8311896"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WV</a:t>
            </a:r>
            <a:endParaRPr lang="en-US" sz="800" dirty="0"/>
          </a:p>
        </p:txBody>
      </p:sp>
      <p:sp>
        <p:nvSpPr>
          <p:cNvPr id="58" name="State VA"/>
          <p:cNvSpPr/>
          <p:nvPr/>
        </p:nvSpPr>
        <p:spPr>
          <a:xfrm>
            <a:off x="8622792"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VA</a:t>
            </a:r>
            <a:endParaRPr lang="en-US" sz="800" dirty="0"/>
          </a:p>
        </p:txBody>
      </p:sp>
      <p:sp>
        <p:nvSpPr>
          <p:cNvPr id="59" name="State MD"/>
          <p:cNvSpPr/>
          <p:nvPr/>
        </p:nvSpPr>
        <p:spPr>
          <a:xfrm>
            <a:off x="8933688"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MD</a:t>
            </a:r>
            <a:endParaRPr lang="en-US" sz="800" dirty="0"/>
          </a:p>
        </p:txBody>
      </p:sp>
      <p:sp>
        <p:nvSpPr>
          <p:cNvPr id="60" name="State DE"/>
          <p:cNvSpPr/>
          <p:nvPr/>
        </p:nvSpPr>
        <p:spPr>
          <a:xfrm>
            <a:off x="9244584"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DE</a:t>
            </a:r>
            <a:endParaRPr lang="en-US" sz="800" dirty="0"/>
          </a:p>
        </p:txBody>
      </p:sp>
      <p:sp>
        <p:nvSpPr>
          <p:cNvPr id="61" name="State AZ"/>
          <p:cNvSpPr/>
          <p:nvPr/>
        </p:nvSpPr>
        <p:spPr>
          <a:xfrm>
            <a:off x="6757416"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AZ</a:t>
            </a:r>
            <a:endParaRPr lang="en-US" sz="800" dirty="0"/>
          </a:p>
        </p:txBody>
      </p:sp>
      <p:sp>
        <p:nvSpPr>
          <p:cNvPr id="62" name="State NM"/>
          <p:cNvSpPr/>
          <p:nvPr/>
        </p:nvSpPr>
        <p:spPr>
          <a:xfrm>
            <a:off x="7068312" y="4526280"/>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NM</a:t>
            </a:r>
            <a:endParaRPr lang="en-US" sz="800" dirty="0"/>
          </a:p>
        </p:txBody>
      </p:sp>
      <p:sp>
        <p:nvSpPr>
          <p:cNvPr id="63" name="State KS"/>
          <p:cNvSpPr/>
          <p:nvPr/>
        </p:nvSpPr>
        <p:spPr>
          <a:xfrm>
            <a:off x="7379208"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KS</a:t>
            </a:r>
            <a:endParaRPr lang="en-US" sz="800" dirty="0"/>
          </a:p>
        </p:txBody>
      </p:sp>
      <p:sp>
        <p:nvSpPr>
          <p:cNvPr id="64" name="State AR"/>
          <p:cNvSpPr/>
          <p:nvPr/>
        </p:nvSpPr>
        <p:spPr>
          <a:xfrm>
            <a:off x="7690104"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AR</a:t>
            </a:r>
            <a:endParaRPr lang="en-US" sz="800" dirty="0"/>
          </a:p>
        </p:txBody>
      </p:sp>
      <p:sp>
        <p:nvSpPr>
          <p:cNvPr id="65" name="State TN"/>
          <p:cNvSpPr/>
          <p:nvPr/>
        </p:nvSpPr>
        <p:spPr>
          <a:xfrm>
            <a:off x="8001000"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TN</a:t>
            </a:r>
            <a:endParaRPr lang="en-US" sz="800" dirty="0"/>
          </a:p>
        </p:txBody>
      </p:sp>
      <p:sp>
        <p:nvSpPr>
          <p:cNvPr id="66" name="State NC"/>
          <p:cNvSpPr/>
          <p:nvPr/>
        </p:nvSpPr>
        <p:spPr>
          <a:xfrm>
            <a:off x="8311896"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NC</a:t>
            </a:r>
            <a:endParaRPr lang="en-US" sz="800" dirty="0"/>
          </a:p>
        </p:txBody>
      </p:sp>
      <p:sp>
        <p:nvSpPr>
          <p:cNvPr id="67" name="State SC"/>
          <p:cNvSpPr/>
          <p:nvPr/>
        </p:nvSpPr>
        <p:spPr>
          <a:xfrm>
            <a:off x="8622792"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SC</a:t>
            </a:r>
            <a:endParaRPr lang="en-US" sz="800" dirty="0"/>
          </a:p>
        </p:txBody>
      </p:sp>
      <p:sp>
        <p:nvSpPr>
          <p:cNvPr id="68" name="State DC"/>
          <p:cNvSpPr/>
          <p:nvPr/>
        </p:nvSpPr>
        <p:spPr>
          <a:xfrm>
            <a:off x="8933688" y="4526280"/>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DC</a:t>
            </a:r>
            <a:endParaRPr lang="en-US" sz="800" dirty="0"/>
          </a:p>
        </p:txBody>
      </p:sp>
      <p:sp>
        <p:nvSpPr>
          <p:cNvPr id="69" name="State OK"/>
          <p:cNvSpPr/>
          <p:nvPr/>
        </p:nvSpPr>
        <p:spPr>
          <a:xfrm>
            <a:off x="7379208"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OK</a:t>
            </a:r>
            <a:endParaRPr lang="en-US" sz="800" dirty="0"/>
          </a:p>
        </p:txBody>
      </p:sp>
      <p:sp>
        <p:nvSpPr>
          <p:cNvPr id="70" name="State LA"/>
          <p:cNvSpPr/>
          <p:nvPr/>
        </p:nvSpPr>
        <p:spPr>
          <a:xfrm>
            <a:off x="7690104"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LA</a:t>
            </a:r>
            <a:endParaRPr lang="en-US" sz="800" dirty="0"/>
          </a:p>
        </p:txBody>
      </p:sp>
      <p:sp>
        <p:nvSpPr>
          <p:cNvPr id="71" name="State MS"/>
          <p:cNvSpPr/>
          <p:nvPr/>
        </p:nvSpPr>
        <p:spPr>
          <a:xfrm>
            <a:off x="8001000"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MS</a:t>
            </a:r>
            <a:endParaRPr lang="en-US" sz="800" dirty="0"/>
          </a:p>
        </p:txBody>
      </p:sp>
      <p:sp>
        <p:nvSpPr>
          <p:cNvPr id="72" name="State AL"/>
          <p:cNvSpPr/>
          <p:nvPr/>
        </p:nvSpPr>
        <p:spPr>
          <a:xfrm>
            <a:off x="8311896"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AL</a:t>
            </a:r>
            <a:endParaRPr lang="en-US" sz="800" dirty="0"/>
          </a:p>
        </p:txBody>
      </p:sp>
      <p:sp>
        <p:nvSpPr>
          <p:cNvPr id="73" name="State GA"/>
          <p:cNvSpPr/>
          <p:nvPr/>
        </p:nvSpPr>
        <p:spPr>
          <a:xfrm>
            <a:off x="8622792"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GA</a:t>
            </a:r>
            <a:endParaRPr lang="en-US" sz="800" dirty="0"/>
          </a:p>
        </p:txBody>
      </p:sp>
      <p:sp>
        <p:nvSpPr>
          <p:cNvPr id="74" name="State HI"/>
          <p:cNvSpPr/>
          <p:nvPr/>
        </p:nvSpPr>
        <p:spPr>
          <a:xfrm>
            <a:off x="6446520" y="514807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HI</a:t>
            </a:r>
            <a:endParaRPr lang="en-US" sz="800" dirty="0"/>
          </a:p>
        </p:txBody>
      </p:sp>
      <p:sp>
        <p:nvSpPr>
          <p:cNvPr id="75" name="State TX"/>
          <p:cNvSpPr/>
          <p:nvPr/>
        </p:nvSpPr>
        <p:spPr>
          <a:xfrm>
            <a:off x="7379208" y="514807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TX</a:t>
            </a:r>
            <a:endParaRPr lang="en-US" sz="800" dirty="0"/>
          </a:p>
        </p:txBody>
      </p:sp>
      <p:sp>
        <p:nvSpPr>
          <p:cNvPr id="76" name="State FL"/>
          <p:cNvSpPr/>
          <p:nvPr/>
        </p:nvSpPr>
        <p:spPr>
          <a:xfrm>
            <a:off x="8933688" y="514807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FL</a:t>
            </a:r>
            <a:endParaRPr lang="en-US" sz="800" dirty="0"/>
          </a:p>
        </p:txBody>
      </p:sp>
      <p:sp>
        <p:nvSpPr>
          <p:cNvPr id="77" name="Shape 75"/>
          <p:cNvSpPr/>
          <p:nvPr/>
        </p:nvSpPr>
        <p:spPr>
          <a:xfrm>
            <a:off x="10149840" y="3026664"/>
            <a:ext cx="164592" cy="164592"/>
          </a:xfrm>
          <a:prstGeom prst="roundRect">
            <a:avLst>
              <a:gd name="adj" fmla="val 16667"/>
            </a:avLst>
          </a:prstGeom>
          <a:solidFill>
            <a:schemeClr val="accent1"/>
          </a:solidFill>
          <a:ln/>
        </p:spPr>
      </p:sp>
      <p:sp>
        <p:nvSpPr>
          <p:cNvPr id="78" name="Text 76"/>
          <p:cNvSpPr txBox="1"/>
          <p:nvPr/>
        </p:nvSpPr>
        <p:spPr>
          <a:xfrm>
            <a:off x="10405872" y="2990088"/>
            <a:ext cx="1008583" cy="219456"/>
          </a:xfrm>
          <a:prstGeom prst="rect">
            <a:avLst/>
          </a:prstGeom>
          <a:noFill/>
          <a:ln/>
        </p:spPr>
        <p:txBody>
          <a:bodyPr wrap="square" lIns="0" tIns="0" rIns="0" bIns="0" rtlCol="0" anchor="t"/>
          <a:lstStyle/>
          <a:p>
            <a:pPr indent="0" marL="0">
              <a:buNone/>
            </a:pPr>
            <a:r>
              <a:rPr lang="en-US" altLang="en-US" sz="1200" b="1" dirty="0">
                <a:solidFill>
                  <a:schemeClr val="tx1"/>
                </a:solidFill>
              </a:rPr>
              <a:t>Trump (R)</a:t>
            </a:r>
            <a:endParaRPr lang="en-US" sz="1200" dirty="0"/>
          </a:p>
        </p:txBody>
      </p:sp>
      <p:sp>
        <p:nvSpPr>
          <p:cNvPr id="79" name="Text 77"/>
          <p:cNvSpPr txBox="1"/>
          <p:nvPr/>
        </p:nvSpPr>
        <p:spPr>
          <a:xfrm>
            <a:off x="10405872" y="3209544"/>
            <a:ext cx="1008583" cy="219456"/>
          </a:xfrm>
          <a:prstGeom prst="rect">
            <a:avLst/>
          </a:prstGeom>
          <a:noFill/>
          <a:ln/>
        </p:spPr>
        <p:txBody>
          <a:bodyPr wrap="square" lIns="0" tIns="0" rIns="0" bIns="0" rtlCol="0" anchor="t"/>
          <a:lstStyle/>
          <a:p>
            <a:pPr indent="0" marL="0">
              <a:buNone/>
            </a:pPr>
            <a:r>
              <a:rPr lang="en-US" altLang="en-US" sz="1200" dirty="0">
                <a:solidFill>
                  <a:schemeClr val="tx2"/>
                </a:solidFill>
              </a:rPr>
              <a:t>30 states</a:t>
            </a:r>
            <a:endParaRPr lang="en-US" sz="1200" dirty="0"/>
          </a:p>
        </p:txBody>
      </p:sp>
      <p:sp>
        <p:nvSpPr>
          <p:cNvPr id="80" name="Shape 78"/>
          <p:cNvSpPr/>
          <p:nvPr/>
        </p:nvSpPr>
        <p:spPr>
          <a:xfrm>
            <a:off x="10149840" y="3593592"/>
            <a:ext cx="164592" cy="164592"/>
          </a:xfrm>
          <a:prstGeom prst="roundRect">
            <a:avLst>
              <a:gd name="adj" fmla="val 16667"/>
            </a:avLst>
          </a:prstGeom>
          <a:solidFill>
            <a:schemeClr val="accent5"/>
          </a:solidFill>
          <a:ln/>
        </p:spPr>
      </p:sp>
      <p:sp>
        <p:nvSpPr>
          <p:cNvPr id="81" name="Text 79"/>
          <p:cNvSpPr txBox="1"/>
          <p:nvPr/>
        </p:nvSpPr>
        <p:spPr>
          <a:xfrm>
            <a:off x="10405872" y="3557016"/>
            <a:ext cx="1008583" cy="219456"/>
          </a:xfrm>
          <a:prstGeom prst="rect">
            <a:avLst/>
          </a:prstGeom>
          <a:noFill/>
          <a:ln/>
        </p:spPr>
        <p:txBody>
          <a:bodyPr wrap="square" lIns="0" tIns="0" rIns="0" bIns="0" rtlCol="0" anchor="t"/>
          <a:lstStyle/>
          <a:p>
            <a:pPr indent="0" marL="0">
              <a:buNone/>
            </a:pPr>
            <a:r>
              <a:rPr lang="en-US" altLang="en-US" sz="1200" b="1" dirty="0">
                <a:solidFill>
                  <a:schemeClr val="tx1"/>
                </a:solidFill>
              </a:rPr>
              <a:t>Clinton (D)</a:t>
            </a:r>
            <a:endParaRPr lang="en-US" sz="1200" dirty="0"/>
          </a:p>
        </p:txBody>
      </p:sp>
      <p:sp>
        <p:nvSpPr>
          <p:cNvPr id="82" name="Text 80"/>
          <p:cNvSpPr txBox="1"/>
          <p:nvPr/>
        </p:nvSpPr>
        <p:spPr>
          <a:xfrm>
            <a:off x="10405872" y="3776472"/>
            <a:ext cx="1008583" cy="219456"/>
          </a:xfrm>
          <a:prstGeom prst="rect">
            <a:avLst/>
          </a:prstGeom>
          <a:noFill/>
          <a:ln/>
        </p:spPr>
        <p:txBody>
          <a:bodyPr wrap="square" lIns="0" tIns="0" rIns="0" bIns="0" rtlCol="0" anchor="t"/>
          <a:lstStyle/>
          <a:p>
            <a:pPr indent="0" marL="0">
              <a:buNone/>
            </a:pPr>
            <a:r>
              <a:rPr lang="en-US" altLang="en-US" sz="1200" dirty="0">
                <a:solidFill>
                  <a:schemeClr val="tx2"/>
                </a:solidFill>
              </a:rPr>
              <a:t>20 + D.C.</a:t>
            </a:r>
            <a:endParaRPr lang="en-US" sz="1200" dirty="0"/>
          </a:p>
        </p:txBody>
      </p:sp>
      <p:sp>
        <p:nvSpPr>
          <p:cNvPr id="83" name="Shape 81"/>
          <p:cNvSpPr/>
          <p:nvPr/>
        </p:nvSpPr>
        <p:spPr>
          <a:xfrm>
            <a:off x="10149840" y="4306824"/>
            <a:ext cx="164592" cy="164592"/>
          </a:xfrm>
          <a:prstGeom prst="roundRect">
            <a:avLst>
              <a:gd name="adj" fmla="val 16667"/>
            </a:avLst>
          </a:prstGeom>
          <a:solidFill>
            <a:schemeClr val="bg2"/>
          </a:solidFill>
          <a:ln w="25400">
            <a:solidFill>
              <a:schemeClr val="tx1"/>
            </a:solidFill>
            <a:prstDash val="solid"/>
          </a:ln>
        </p:spPr>
      </p:sp>
      <p:sp>
        <p:nvSpPr>
          <p:cNvPr id="84" name="Text 82"/>
          <p:cNvSpPr txBox="1"/>
          <p:nvPr/>
        </p:nvSpPr>
        <p:spPr>
          <a:xfrm>
            <a:off x="10405872" y="4270248"/>
            <a:ext cx="1008583" cy="219456"/>
          </a:xfrm>
          <a:prstGeom prst="rect">
            <a:avLst/>
          </a:prstGeom>
          <a:noFill/>
          <a:ln/>
        </p:spPr>
        <p:txBody>
          <a:bodyPr wrap="square" lIns="0" tIns="0" rIns="0" bIns="0" rtlCol="0" anchor="t"/>
          <a:lstStyle/>
          <a:p>
            <a:pPr indent="0" marL="0">
              <a:buNone/>
            </a:pPr>
            <a:r>
              <a:rPr lang="en-US" altLang="en-US" sz="1200" b="1" dirty="0">
                <a:solidFill>
                  <a:schemeClr val="tx1"/>
                </a:solidFill>
              </a:rPr>
              <a:t>Rust Belt</a:t>
            </a:r>
            <a:endParaRPr lang="en-US" sz="1200" dirty="0"/>
          </a:p>
        </p:txBody>
      </p:sp>
      <p:sp>
        <p:nvSpPr>
          <p:cNvPr id="85" name="Text 83"/>
          <p:cNvSpPr txBox="1"/>
          <p:nvPr/>
        </p:nvSpPr>
        <p:spPr>
          <a:xfrm>
            <a:off x="10149840" y="4544568"/>
            <a:ext cx="1264615" cy="914400"/>
          </a:xfrm>
          <a:prstGeom prst="rect">
            <a:avLst/>
          </a:prstGeom>
          <a:noFill/>
          <a:ln/>
        </p:spPr>
        <p:txBody>
          <a:bodyPr wrap="square" lIns="0" tIns="0" rIns="0" bIns="0" rtlCol="0" anchor="t"/>
          <a:lstStyle/>
          <a:p>
            <a:pPr indent="0" marL="0">
              <a:buNone/>
            </a:pPr>
            <a:r>
              <a:rPr lang="en-US" altLang="en-US" sz="1200" dirty="0">
                <a:solidFill>
                  <a:schemeClr val="tx2"/>
                </a:solidFill>
              </a:rPr>
              <a:t>PA, MI and WI: won by ~78,000 votes combined</a:t>
            </a:r>
            <a:endParaRPr lang="en-US" sz="1200" dirty="0"/>
          </a:p>
        </p:txBody>
      </p:sp>
      <p:sp>
        <p:nvSpPr>
          <p:cNvPr id="86" name="!!tl-span"/>
          <p:cNvSpPr/>
          <p:nvPr/>
        </p:nvSpPr>
        <p:spPr>
          <a:xfrm>
            <a:off x="677894" y="6117336"/>
            <a:ext cx="18288" cy="54864"/>
          </a:xfrm>
          <a:prstGeom prst="rect">
            <a:avLst/>
          </a:prstGeom>
          <a:solidFill>
            <a:schemeClr val="accent1"/>
          </a:solidFill>
          <a:ln/>
        </p:spPr>
      </p:sp>
      <p:sp>
        <p:nvSpPr>
          <p:cNvPr id="87" name="!!tl-d1"/>
          <p:cNvSpPr/>
          <p:nvPr/>
        </p:nvSpPr>
        <p:spPr>
          <a:xfrm>
            <a:off x="595598" y="6062472"/>
            <a:ext cx="164592" cy="164592"/>
          </a:xfrm>
          <a:prstGeom prst="ellipse">
            <a:avLst/>
          </a:prstGeom>
          <a:solidFill>
            <a:schemeClr val="accent1"/>
          </a:solidFill>
          <a:ln w="19050">
            <a:solidFill>
              <a:schemeClr val="bg1"/>
            </a:solidFill>
            <a:prstDash val="solid"/>
          </a:ln>
        </p:spPr>
      </p:sp>
      <p:sp>
        <p:nvSpPr>
          <p:cNvPr id="88" name="!!tl-label"/>
          <p:cNvSpPr txBox="1"/>
          <p:nvPr/>
        </p:nvSpPr>
        <p:spPr>
          <a:xfrm>
            <a:off x="659606" y="5815584"/>
            <a:ext cx="1371600" cy="201168"/>
          </a:xfrm>
          <a:prstGeom prst="rect">
            <a:avLst/>
          </a:prstGeom>
          <a:noFill/>
          <a:ln/>
        </p:spPr>
        <p:txBody>
          <a:bodyPr wrap="square" lIns="0" tIns="0" rIns="0" bIns="0" rtlCol="0" anchor="t"/>
          <a:lstStyle/>
          <a:p>
            <a:pPr indent="0" marL="0">
              <a:buNone/>
            </a:pPr>
            <a:r>
              <a:rPr lang="en-US" altLang="en-US" sz="1000" dirty="0">
                <a:solidFill>
                  <a:srgbClr val="6B7488"/>
                </a:solidFill>
              </a:rPr>
              <a:t>Inauguration</a:t>
            </a:r>
            <a:endParaRPr lang="en-US" sz="10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02 · ECONOMY · 2017–2020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Taxes Down, Tariffs Up</a:t>
            </a:r>
            <a:endParaRPr lang="en-US" sz="3600" dirty="0"/>
          </a:p>
        </p:txBody>
      </p:sp>
      <p:sp>
        <p:nvSpPr>
          <p:cNvPr id="4" name="Shape 2"/>
          <p:cNvSpPr/>
          <p:nvPr/>
        </p:nvSpPr>
        <p:spPr>
          <a:xfrm>
            <a:off x="548640" y="1737360"/>
            <a:ext cx="5394960" cy="2240280"/>
          </a:xfrm>
          <a:prstGeom prst="roundRect">
            <a:avLst>
              <a:gd name="adj" fmla="val 4898"/>
            </a:avLst>
          </a:prstGeom>
          <a:solidFill>
            <a:schemeClr val="tx1"/>
          </a:solidFill>
          <a:ln/>
        </p:spPr>
      </p:sp>
      <p:sp>
        <p:nvSpPr>
          <p:cNvPr id="5" name="Text 3"/>
          <p:cNvSpPr txBox="1"/>
          <p:nvPr/>
        </p:nvSpPr>
        <p:spPr>
          <a:xfrm>
            <a:off x="868680" y="1993392"/>
            <a:ext cx="4572000" cy="228600"/>
          </a:xfrm>
          <a:prstGeom prst="rect">
            <a:avLst/>
          </a:prstGeom>
          <a:noFill/>
          <a:ln/>
        </p:spPr>
        <p:txBody>
          <a:bodyPr wrap="square" lIns="0" tIns="0" rIns="0" bIns="0" rtlCol="0" anchor="t"/>
          <a:lstStyle/>
          <a:p>
            <a:pPr indent="0" marL="0">
              <a:buNone/>
            </a:pPr>
            <a:r>
              <a:rPr lang="en-US" altLang="en-US" sz="1200" b="1" spc="200" kern="0" dirty="0">
                <a:solidFill>
                  <a:schemeClr val="accent6"/>
                </a:solidFill>
              </a:rPr>
              <a:t>TAXES DOWN</a:t>
            </a:r>
            <a:endParaRPr lang="en-US" sz="1200" dirty="0"/>
          </a:p>
        </p:txBody>
      </p:sp>
      <p:sp>
        <p:nvSpPr>
          <p:cNvPr id="6" name="Text 4"/>
          <p:cNvSpPr txBox="1"/>
          <p:nvPr/>
        </p:nvSpPr>
        <p:spPr>
          <a:xfrm>
            <a:off x="868680" y="2240280"/>
            <a:ext cx="4846320" cy="868680"/>
          </a:xfrm>
          <a:prstGeom prst="rect">
            <a:avLst/>
          </a:prstGeom>
          <a:noFill/>
          <a:ln/>
        </p:spPr>
        <p:txBody>
          <a:bodyPr wrap="square" lIns="0" tIns="0" rIns="0" bIns="0" rtlCol="0" anchor="t"/>
          <a:lstStyle/>
          <a:p>
            <a:pPr indent="0" marL="0">
              <a:buNone/>
            </a:pPr>
            <a:r>
              <a:rPr lang="en-US" altLang="en-US" sz="6000" b="1" dirty="0">
                <a:solidFill>
                  <a:schemeClr val="bg1"/>
                </a:solidFill>
              </a:rPr>
              <a:t>35% </a:t>
            </a:r>
            <a:pPr indent="0" marL="0">
              <a:buNone/>
            </a:pPr>
            <a:r>
              <a:rPr lang="en-US" altLang="en-US" sz="6000" b="1" dirty="0">
                <a:solidFill>
                  <a:schemeClr val="accent6"/>
                </a:solidFill>
              </a:rPr>
              <a:t>→</a:t>
            </a:r>
            <a:pPr indent="0" marL="0">
              <a:buNone/>
            </a:pPr>
            <a:r>
              <a:rPr lang="en-US" altLang="en-US" sz="6000" b="1" dirty="0">
                <a:solidFill>
                  <a:schemeClr val="bg1"/>
                </a:solidFill>
              </a:rPr>
              <a:t> 21%</a:t>
            </a:r>
            <a:endParaRPr lang="en-US" sz="6000" dirty="0"/>
          </a:p>
        </p:txBody>
      </p:sp>
      <p:sp>
        <p:nvSpPr>
          <p:cNvPr id="7" name="Text 5"/>
          <p:cNvSpPr txBox="1"/>
          <p:nvPr/>
        </p:nvSpPr>
        <p:spPr>
          <a:xfrm>
            <a:off x="868680" y="3310128"/>
            <a:ext cx="4754880" cy="548640"/>
          </a:xfrm>
          <a:prstGeom prst="rect">
            <a:avLst/>
          </a:prstGeom>
          <a:noFill/>
          <a:ln/>
        </p:spPr>
        <p:txBody>
          <a:bodyPr wrap="square" lIns="0" tIns="0" rIns="0" bIns="0" rtlCol="0" anchor="t"/>
          <a:lstStyle/>
          <a:p>
            <a:pPr indent="0" marL="0">
              <a:buNone/>
            </a:pPr>
            <a:r>
              <a:rPr lang="en-US" altLang="en-US" sz="1400" dirty="0">
                <a:solidFill>
                  <a:schemeClr val="accent3"/>
                </a:solidFill>
              </a:rPr>
              <a:t>Corporate tax rate · biggest tax overhaul since 1986 (Dec 2017)</a:t>
            </a:r>
            <a:endParaRPr lang="en-US" sz="1400" dirty="0"/>
          </a:p>
        </p:txBody>
      </p:sp>
      <p:sp>
        <p:nvSpPr>
          <p:cNvPr id="8" name="Shape 6"/>
          <p:cNvSpPr/>
          <p:nvPr/>
        </p:nvSpPr>
        <p:spPr>
          <a:xfrm>
            <a:off x="548640" y="4160520"/>
            <a:ext cx="2606040" cy="1554480"/>
          </a:xfrm>
          <a:prstGeom prst="roundRect">
            <a:avLst>
              <a:gd name="adj" fmla="val 7059"/>
            </a:avLst>
          </a:prstGeom>
          <a:solidFill>
            <a:schemeClr val="bg2"/>
          </a:solidFill>
          <a:ln/>
        </p:spPr>
      </p:sp>
      <p:sp>
        <p:nvSpPr>
          <p:cNvPr id="9" name="Text 7"/>
          <p:cNvSpPr txBox="1"/>
          <p:nvPr/>
        </p:nvSpPr>
        <p:spPr>
          <a:xfrm>
            <a:off x="822960" y="4379976"/>
            <a:ext cx="2148840" cy="457200"/>
          </a:xfrm>
          <a:prstGeom prst="rect">
            <a:avLst/>
          </a:prstGeom>
          <a:noFill/>
          <a:ln/>
        </p:spPr>
        <p:txBody>
          <a:bodyPr wrap="square" lIns="0" tIns="0" rIns="0" bIns="0" rtlCol="0" anchor="t"/>
          <a:lstStyle/>
          <a:p>
            <a:pPr indent="0" marL="0">
              <a:buNone/>
            </a:pPr>
            <a:r>
              <a:rPr lang="en-US" altLang="en-US" sz="2800" b="1" dirty="0">
                <a:solidFill>
                  <a:schemeClr val="tx1"/>
                </a:solidFill>
              </a:rPr>
              <a:t>37%</a:t>
            </a:r>
            <a:endParaRPr lang="en-US" sz="2800" dirty="0"/>
          </a:p>
        </p:txBody>
      </p:sp>
      <p:sp>
        <p:nvSpPr>
          <p:cNvPr id="10" name="Text 8"/>
          <p:cNvSpPr txBox="1"/>
          <p:nvPr/>
        </p:nvSpPr>
        <p:spPr>
          <a:xfrm>
            <a:off x="822960" y="4910328"/>
            <a:ext cx="2148840" cy="640080"/>
          </a:xfrm>
          <a:prstGeom prst="rect">
            <a:avLst/>
          </a:prstGeom>
          <a:noFill/>
          <a:ln/>
        </p:spPr>
        <p:txBody>
          <a:bodyPr wrap="square" lIns="0" tIns="0" rIns="0" bIns="0" rtlCol="0" anchor="t"/>
          <a:lstStyle/>
          <a:p>
            <a:pPr indent="0" marL="0">
              <a:buNone/>
            </a:pPr>
            <a:r>
              <a:rPr lang="en-US" altLang="en-US" sz="1400" dirty="0">
                <a:solidFill>
                  <a:schemeClr val="tx2"/>
                </a:solidFill>
              </a:rPr>
              <a:t>top income tax rate (was 39.6%)</a:t>
            </a:r>
            <a:endParaRPr lang="en-US" sz="1400" dirty="0"/>
          </a:p>
        </p:txBody>
      </p:sp>
      <p:sp>
        <p:nvSpPr>
          <p:cNvPr id="11" name="Shape 9"/>
          <p:cNvSpPr/>
          <p:nvPr/>
        </p:nvSpPr>
        <p:spPr>
          <a:xfrm>
            <a:off x="3337560" y="4160520"/>
            <a:ext cx="2606040" cy="1554480"/>
          </a:xfrm>
          <a:prstGeom prst="roundRect">
            <a:avLst>
              <a:gd name="adj" fmla="val 7059"/>
            </a:avLst>
          </a:prstGeom>
          <a:solidFill>
            <a:schemeClr val="bg2"/>
          </a:solidFill>
          <a:ln/>
        </p:spPr>
      </p:sp>
      <p:sp>
        <p:nvSpPr>
          <p:cNvPr id="12" name="Text 10"/>
          <p:cNvSpPr txBox="1"/>
          <p:nvPr/>
        </p:nvSpPr>
        <p:spPr>
          <a:xfrm>
            <a:off x="3611880" y="4379976"/>
            <a:ext cx="2148840" cy="457200"/>
          </a:xfrm>
          <a:prstGeom prst="rect">
            <a:avLst/>
          </a:prstGeom>
          <a:noFill/>
          <a:ln/>
        </p:spPr>
        <p:txBody>
          <a:bodyPr wrap="square" lIns="0" tIns="0" rIns="0" bIns="0" rtlCol="0" anchor="t"/>
          <a:lstStyle/>
          <a:p>
            <a:pPr indent="0" marL="0">
              <a:buNone/>
            </a:pPr>
            <a:r>
              <a:rPr lang="en-US" altLang="en-US" sz="2800" b="1" dirty="0">
                <a:solidFill>
                  <a:schemeClr val="tx1"/>
                </a:solidFill>
              </a:rPr>
              <a:t>$1.5 trillion</a:t>
            </a:r>
            <a:endParaRPr lang="en-US" sz="2800" dirty="0"/>
          </a:p>
        </p:txBody>
      </p:sp>
      <p:sp>
        <p:nvSpPr>
          <p:cNvPr id="13" name="Text 11"/>
          <p:cNvSpPr txBox="1"/>
          <p:nvPr/>
        </p:nvSpPr>
        <p:spPr>
          <a:xfrm>
            <a:off x="3611880" y="4910328"/>
            <a:ext cx="2148840" cy="640080"/>
          </a:xfrm>
          <a:prstGeom prst="rect">
            <a:avLst/>
          </a:prstGeom>
          <a:noFill/>
          <a:ln/>
        </p:spPr>
        <p:txBody>
          <a:bodyPr wrap="square" lIns="0" tIns="0" rIns="0" bIns="0" rtlCol="0" anchor="t"/>
          <a:lstStyle/>
          <a:p>
            <a:pPr indent="0" marL="0">
              <a:buNone/>
            </a:pPr>
            <a:r>
              <a:rPr lang="en-US" altLang="en-US" sz="1400" dirty="0">
                <a:solidFill>
                  <a:schemeClr val="tx2"/>
                </a:solidFill>
              </a:rPr>
              <a:t>added to the deficit over 10 years (Congress estimate)</a:t>
            </a:r>
            <a:endParaRPr lang="en-US" sz="1400" dirty="0"/>
          </a:p>
        </p:txBody>
      </p:sp>
      <p:sp>
        <p:nvSpPr>
          <p:cNvPr id="14" name="Shape 12"/>
          <p:cNvSpPr/>
          <p:nvPr/>
        </p:nvSpPr>
        <p:spPr>
          <a:xfrm>
            <a:off x="6248095" y="1737360"/>
            <a:ext cx="5394960" cy="2240280"/>
          </a:xfrm>
          <a:prstGeom prst="roundRect">
            <a:avLst>
              <a:gd name="adj" fmla="val 4898"/>
            </a:avLst>
          </a:prstGeom>
          <a:solidFill>
            <a:schemeClr val="accent1"/>
          </a:solidFill>
          <a:ln/>
        </p:spPr>
      </p:sp>
      <p:sp>
        <p:nvSpPr>
          <p:cNvPr id="15" name="Text 13"/>
          <p:cNvSpPr txBox="1"/>
          <p:nvPr/>
        </p:nvSpPr>
        <p:spPr>
          <a:xfrm>
            <a:off x="6568135" y="1993392"/>
            <a:ext cx="4572000" cy="228600"/>
          </a:xfrm>
          <a:prstGeom prst="rect">
            <a:avLst/>
          </a:prstGeom>
          <a:noFill/>
          <a:ln/>
        </p:spPr>
        <p:txBody>
          <a:bodyPr wrap="square" lIns="0" tIns="0" rIns="0" bIns="0" rtlCol="0" anchor="t"/>
          <a:lstStyle/>
          <a:p>
            <a:pPr indent="0" marL="0">
              <a:buNone/>
            </a:pPr>
            <a:r>
              <a:rPr lang="en-US" altLang="en-US" sz="1200" b="1" spc="200" kern="0" dirty="0">
                <a:solidFill>
                  <a:schemeClr val="bg1"/>
                </a:solidFill>
              </a:rPr>
              <a:t>TARIFFS UP</a:t>
            </a:r>
            <a:endParaRPr lang="en-US" sz="1200" dirty="0"/>
          </a:p>
        </p:txBody>
      </p:sp>
      <p:sp>
        <p:nvSpPr>
          <p:cNvPr id="16" name="Text 14"/>
          <p:cNvSpPr txBox="1"/>
          <p:nvPr/>
        </p:nvSpPr>
        <p:spPr>
          <a:xfrm>
            <a:off x="6568135" y="2240280"/>
            <a:ext cx="4846320" cy="868680"/>
          </a:xfrm>
          <a:prstGeom prst="rect">
            <a:avLst/>
          </a:prstGeom>
          <a:noFill/>
          <a:ln/>
        </p:spPr>
        <p:txBody>
          <a:bodyPr wrap="square" lIns="0" tIns="0" rIns="0" bIns="0" rtlCol="0" anchor="t"/>
          <a:lstStyle/>
          <a:p>
            <a:pPr indent="0" marL="0">
              <a:buNone/>
            </a:pPr>
            <a:r>
              <a:rPr lang="en-US" altLang="en-US" sz="6000" b="1" dirty="0">
                <a:solidFill>
                  <a:schemeClr val="bg1"/>
                </a:solidFill>
              </a:rPr>
              <a:t>$370 billion</a:t>
            </a:r>
            <a:endParaRPr lang="en-US" sz="6000" dirty="0"/>
          </a:p>
        </p:txBody>
      </p:sp>
      <p:sp>
        <p:nvSpPr>
          <p:cNvPr id="17" name="Text 15"/>
          <p:cNvSpPr txBox="1"/>
          <p:nvPr/>
        </p:nvSpPr>
        <p:spPr>
          <a:xfrm>
            <a:off x="6568135" y="3310128"/>
            <a:ext cx="4754880" cy="548640"/>
          </a:xfrm>
          <a:prstGeom prst="rect">
            <a:avLst/>
          </a:prstGeom>
          <a:noFill/>
          <a:ln/>
        </p:spPr>
        <p:txBody>
          <a:bodyPr wrap="square" lIns="0" tIns="0" rIns="0" bIns="0" rtlCol="0" anchor="t"/>
          <a:lstStyle/>
          <a:p>
            <a:pPr indent="0" marL="0">
              <a:buNone/>
            </a:pPr>
            <a:r>
              <a:rPr lang="en-US" altLang="en-US" sz="1400" dirty="0">
                <a:solidFill>
                  <a:schemeClr val="bg1"/>
                </a:solidFill>
              </a:rPr>
              <a:t>of Chinese imports hit by U.S. tariffs (2018–2019)</a:t>
            </a:r>
            <a:endParaRPr lang="en-US" sz="1400" dirty="0"/>
          </a:p>
        </p:txBody>
      </p:sp>
      <p:sp>
        <p:nvSpPr>
          <p:cNvPr id="18" name="Shape 16"/>
          <p:cNvSpPr/>
          <p:nvPr/>
        </p:nvSpPr>
        <p:spPr>
          <a:xfrm>
            <a:off x="6248095" y="4160520"/>
            <a:ext cx="2606040" cy="1554480"/>
          </a:xfrm>
          <a:prstGeom prst="roundRect">
            <a:avLst>
              <a:gd name="adj" fmla="val 7059"/>
            </a:avLst>
          </a:prstGeom>
          <a:solidFill>
            <a:schemeClr val="bg2"/>
          </a:solidFill>
          <a:ln/>
        </p:spPr>
      </p:sp>
      <p:sp>
        <p:nvSpPr>
          <p:cNvPr id="19" name="Text 17"/>
          <p:cNvSpPr txBox="1"/>
          <p:nvPr/>
        </p:nvSpPr>
        <p:spPr>
          <a:xfrm>
            <a:off x="6522415" y="4379976"/>
            <a:ext cx="2148840" cy="457200"/>
          </a:xfrm>
          <a:prstGeom prst="rect">
            <a:avLst/>
          </a:prstGeom>
          <a:noFill/>
          <a:ln/>
        </p:spPr>
        <p:txBody>
          <a:bodyPr wrap="square" lIns="0" tIns="0" rIns="0" bIns="0" rtlCol="0" anchor="t"/>
          <a:lstStyle/>
          <a:p>
            <a:pPr indent="0" marL="0">
              <a:buNone/>
            </a:pPr>
            <a:r>
              <a:rPr lang="en-US" altLang="en-US" sz="2800" b="1" dirty="0">
                <a:solidFill>
                  <a:schemeClr val="tx1"/>
                </a:solidFill>
              </a:rPr>
              <a:t>$28 billion</a:t>
            </a:r>
            <a:endParaRPr lang="en-US" sz="2800" dirty="0"/>
          </a:p>
        </p:txBody>
      </p:sp>
      <p:sp>
        <p:nvSpPr>
          <p:cNvPr id="20" name="Text 18"/>
          <p:cNvSpPr txBox="1"/>
          <p:nvPr/>
        </p:nvSpPr>
        <p:spPr>
          <a:xfrm>
            <a:off x="6522415" y="4910328"/>
            <a:ext cx="2148840" cy="640080"/>
          </a:xfrm>
          <a:prstGeom prst="rect">
            <a:avLst/>
          </a:prstGeom>
          <a:noFill/>
          <a:ln/>
        </p:spPr>
        <p:txBody>
          <a:bodyPr wrap="square" lIns="0" tIns="0" rIns="0" bIns="0" rtlCol="0" anchor="t"/>
          <a:lstStyle/>
          <a:p>
            <a:pPr indent="0" marL="0">
              <a:buNone/>
            </a:pPr>
            <a:r>
              <a:rPr lang="en-US" altLang="en-US" sz="1400" dirty="0">
                <a:solidFill>
                  <a:schemeClr val="tx2"/>
                </a:solidFill>
              </a:rPr>
              <a:t>in aid to farmers hit by China’s counter-tariffs</a:t>
            </a:r>
            <a:endParaRPr lang="en-US" sz="1400" dirty="0"/>
          </a:p>
        </p:txBody>
      </p:sp>
      <p:sp>
        <p:nvSpPr>
          <p:cNvPr id="21" name="Shape 19"/>
          <p:cNvSpPr/>
          <p:nvPr/>
        </p:nvSpPr>
        <p:spPr>
          <a:xfrm>
            <a:off x="9037015" y="4160520"/>
            <a:ext cx="2606040" cy="1554480"/>
          </a:xfrm>
          <a:prstGeom prst="roundRect">
            <a:avLst>
              <a:gd name="adj" fmla="val 7059"/>
            </a:avLst>
          </a:prstGeom>
          <a:solidFill>
            <a:schemeClr val="bg2"/>
          </a:solidFill>
          <a:ln/>
        </p:spPr>
      </p:sp>
      <p:sp>
        <p:nvSpPr>
          <p:cNvPr id="22" name="Text 20"/>
          <p:cNvSpPr txBox="1"/>
          <p:nvPr/>
        </p:nvSpPr>
        <p:spPr>
          <a:xfrm>
            <a:off x="9311335" y="4379976"/>
            <a:ext cx="2148840" cy="457200"/>
          </a:xfrm>
          <a:prstGeom prst="rect">
            <a:avLst/>
          </a:prstGeom>
          <a:noFill/>
          <a:ln/>
        </p:spPr>
        <p:txBody>
          <a:bodyPr wrap="square" lIns="0" tIns="0" rIns="0" bIns="0" rtlCol="0" anchor="t"/>
          <a:lstStyle/>
          <a:p>
            <a:pPr indent="0" marL="0">
              <a:buNone/>
            </a:pPr>
            <a:r>
              <a:rPr lang="en-US" altLang="en-US" sz="2800" b="1" dirty="0">
                <a:solidFill>
                  <a:schemeClr val="tx1"/>
                </a:solidFill>
              </a:rPr>
              <a:t>Jan 2020</a:t>
            </a:r>
            <a:endParaRPr lang="en-US" sz="2800" dirty="0"/>
          </a:p>
        </p:txBody>
      </p:sp>
      <p:sp>
        <p:nvSpPr>
          <p:cNvPr id="23" name="Text 21"/>
          <p:cNvSpPr txBox="1"/>
          <p:nvPr/>
        </p:nvSpPr>
        <p:spPr>
          <a:xfrm>
            <a:off x="9311335" y="4910328"/>
            <a:ext cx="2148840" cy="640080"/>
          </a:xfrm>
          <a:prstGeom prst="rect">
            <a:avLst/>
          </a:prstGeom>
          <a:noFill/>
          <a:ln/>
        </p:spPr>
        <p:txBody>
          <a:bodyPr wrap="square" lIns="0" tIns="0" rIns="0" bIns="0" rtlCol="0" anchor="t"/>
          <a:lstStyle/>
          <a:p>
            <a:pPr indent="0" marL="0">
              <a:buNone/>
            </a:pPr>
            <a:r>
              <a:rPr lang="en-US" altLang="en-US" sz="1400" dirty="0">
                <a:solidFill>
                  <a:schemeClr val="tx2"/>
                </a:solidFill>
              </a:rPr>
              <a:t>“Phase One” deal: China pledges $200 billion in extra purchases</a:t>
            </a:r>
            <a:endParaRPr lang="en-US" sz="1400" dirty="0"/>
          </a:p>
        </p:txBody>
      </p:sp>
      <p:sp>
        <p:nvSpPr>
          <p:cNvPr id="24" name="!!tl-span"/>
          <p:cNvSpPr/>
          <p:nvPr/>
        </p:nvSpPr>
        <p:spPr>
          <a:xfrm>
            <a:off x="2963649" y="6117336"/>
            <a:ext cx="5129343" cy="54864"/>
          </a:xfrm>
          <a:prstGeom prst="rect">
            <a:avLst/>
          </a:prstGeom>
          <a:solidFill>
            <a:schemeClr val="accent1"/>
          </a:solidFill>
          <a:ln/>
        </p:spPr>
      </p:sp>
      <p:sp>
        <p:nvSpPr>
          <p:cNvPr id="25" name="!!tl-d1"/>
          <p:cNvSpPr/>
          <p:nvPr/>
        </p:nvSpPr>
        <p:spPr>
          <a:xfrm>
            <a:off x="2881353" y="6062472"/>
            <a:ext cx="164592" cy="164592"/>
          </a:xfrm>
          <a:prstGeom prst="ellipse">
            <a:avLst/>
          </a:prstGeom>
          <a:solidFill>
            <a:schemeClr val="accent1"/>
          </a:solidFill>
          <a:ln w="19050">
            <a:solidFill>
              <a:schemeClr val="bg1"/>
            </a:solidFill>
            <a:prstDash val="solid"/>
          </a:ln>
        </p:spPr>
      </p:sp>
      <p:sp>
        <p:nvSpPr>
          <p:cNvPr id="26" name="!!tl-d2"/>
          <p:cNvSpPr/>
          <p:nvPr/>
        </p:nvSpPr>
        <p:spPr>
          <a:xfrm>
            <a:off x="4214710" y="6062472"/>
            <a:ext cx="164592" cy="164592"/>
          </a:xfrm>
          <a:prstGeom prst="ellipse">
            <a:avLst/>
          </a:prstGeom>
          <a:solidFill>
            <a:schemeClr val="accent1"/>
          </a:solidFill>
          <a:ln w="19050">
            <a:solidFill>
              <a:schemeClr val="bg1"/>
            </a:solidFill>
            <a:prstDash val="solid"/>
          </a:ln>
        </p:spPr>
      </p:sp>
      <p:sp>
        <p:nvSpPr>
          <p:cNvPr id="27" name="!!tl-d3"/>
          <p:cNvSpPr/>
          <p:nvPr/>
        </p:nvSpPr>
        <p:spPr>
          <a:xfrm>
            <a:off x="8010696"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03 · THE COURTS · 2017–2020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A Court for a Generation</a:t>
            </a:r>
            <a:endParaRPr lang="en-US" sz="3600" dirty="0"/>
          </a:p>
        </p:txBody>
      </p:sp>
      <p:sp>
        <p:nvSpPr>
          <p:cNvPr id="4" name="Shape 2"/>
          <p:cNvSpPr/>
          <p:nvPr/>
        </p:nvSpPr>
        <p:spPr>
          <a:xfrm>
            <a:off x="548640" y="1737360"/>
            <a:ext cx="3429000" cy="2240280"/>
          </a:xfrm>
          <a:prstGeom prst="roundRect">
            <a:avLst>
              <a:gd name="adj" fmla="val 4898"/>
            </a:avLst>
          </a:prstGeom>
          <a:solidFill>
            <a:schemeClr val="tx1"/>
          </a:solidFill>
          <a:ln/>
        </p:spPr>
      </p:sp>
      <p:sp>
        <p:nvSpPr>
          <p:cNvPr id="5" name="Text 3"/>
          <p:cNvSpPr txBox="1"/>
          <p:nvPr/>
        </p:nvSpPr>
        <p:spPr>
          <a:xfrm>
            <a:off x="822960" y="1993392"/>
            <a:ext cx="2971800" cy="228600"/>
          </a:xfrm>
          <a:prstGeom prst="rect">
            <a:avLst/>
          </a:prstGeom>
          <a:noFill/>
          <a:ln/>
        </p:spPr>
        <p:txBody>
          <a:bodyPr wrap="square" lIns="0" tIns="0" rIns="0" bIns="0" rtlCol="0" anchor="t"/>
          <a:lstStyle/>
          <a:p>
            <a:pPr indent="0" marL="0">
              <a:buNone/>
            </a:pPr>
            <a:r>
              <a:rPr lang="en-US" altLang="en-US" sz="1200" b="1" spc="200" kern="0" dirty="0">
                <a:solidFill>
                  <a:schemeClr val="accent6"/>
                </a:solidFill>
              </a:rPr>
              <a:t>SUPREME COURT · 2021</a:t>
            </a:r>
            <a:endParaRPr lang="en-US" sz="1200" dirty="0"/>
          </a:p>
        </p:txBody>
      </p:sp>
      <p:sp>
        <p:nvSpPr>
          <p:cNvPr id="6" name="Text 4"/>
          <p:cNvSpPr txBox="1"/>
          <p:nvPr/>
        </p:nvSpPr>
        <p:spPr>
          <a:xfrm>
            <a:off x="822960" y="2194560"/>
            <a:ext cx="2971800" cy="960120"/>
          </a:xfrm>
          <a:prstGeom prst="rect">
            <a:avLst/>
          </a:prstGeom>
          <a:noFill/>
          <a:ln/>
        </p:spPr>
        <p:txBody>
          <a:bodyPr wrap="square" lIns="0" tIns="0" rIns="0" bIns="0" rtlCol="0" anchor="t"/>
          <a:lstStyle/>
          <a:p>
            <a:pPr indent="0" marL="0">
              <a:buNone/>
            </a:pPr>
            <a:r>
              <a:rPr lang="en-US" altLang="en-US" sz="7200" b="1" dirty="0">
                <a:solidFill>
                  <a:schemeClr val="bg1"/>
                </a:solidFill>
              </a:rPr>
              <a:t>6–3</a:t>
            </a:r>
            <a:endParaRPr lang="en-US" sz="7200" dirty="0"/>
          </a:p>
        </p:txBody>
      </p:sp>
      <p:sp>
        <p:nvSpPr>
          <p:cNvPr id="7" name="Text 5"/>
          <p:cNvSpPr txBox="1"/>
          <p:nvPr/>
        </p:nvSpPr>
        <p:spPr>
          <a:xfrm>
            <a:off x="822960" y="3310128"/>
            <a:ext cx="2926080" cy="548640"/>
          </a:xfrm>
          <a:prstGeom prst="rect">
            <a:avLst/>
          </a:prstGeom>
          <a:noFill/>
          <a:ln/>
        </p:spPr>
        <p:txBody>
          <a:bodyPr wrap="square" lIns="0" tIns="0" rIns="0" bIns="0" rtlCol="0" anchor="t"/>
          <a:lstStyle/>
          <a:p>
            <a:pPr indent="0" marL="0">
              <a:buNone/>
            </a:pPr>
            <a:r>
              <a:rPr lang="en-US" altLang="en-US" sz="1400" dirty="0">
                <a:solidFill>
                  <a:schemeClr val="accent3"/>
                </a:solidFill>
              </a:rPr>
              <a:t>conservative majority · justices serve for life</a:t>
            </a:r>
            <a:endParaRPr lang="en-US" sz="1400" dirty="0"/>
          </a:p>
        </p:txBody>
      </p:sp>
      <p:sp>
        <p:nvSpPr>
          <p:cNvPr id="8" name="Shape 6"/>
          <p:cNvSpPr/>
          <p:nvPr/>
        </p:nvSpPr>
        <p:spPr>
          <a:xfrm>
            <a:off x="548640" y="4160520"/>
            <a:ext cx="3429000" cy="1554480"/>
          </a:xfrm>
          <a:prstGeom prst="roundRect">
            <a:avLst>
              <a:gd name="adj" fmla="val 7059"/>
            </a:avLst>
          </a:prstGeom>
          <a:solidFill>
            <a:schemeClr val="bg2"/>
          </a:solidFill>
          <a:ln/>
        </p:spPr>
      </p:sp>
      <p:sp>
        <p:nvSpPr>
          <p:cNvPr id="9" name="Text 7"/>
          <p:cNvSpPr txBox="1"/>
          <p:nvPr/>
        </p:nvSpPr>
        <p:spPr>
          <a:xfrm>
            <a:off x="822960" y="4361688"/>
            <a:ext cx="2971800" cy="548640"/>
          </a:xfrm>
          <a:prstGeom prst="rect">
            <a:avLst/>
          </a:prstGeom>
          <a:noFill/>
          <a:ln/>
        </p:spPr>
        <p:txBody>
          <a:bodyPr wrap="square" lIns="0" tIns="0" rIns="0" bIns="0" rtlCol="0" anchor="t"/>
          <a:lstStyle/>
          <a:p>
            <a:pPr indent="0" marL="0">
              <a:buNone/>
            </a:pPr>
            <a:r>
              <a:rPr lang="en-US" altLang="en-US" sz="3400" b="1" dirty="0">
                <a:solidFill>
                  <a:schemeClr val="tx1"/>
                </a:solidFill>
              </a:rPr>
              <a:t>234</a:t>
            </a:r>
            <a:endParaRPr lang="en-US" sz="3400" dirty="0"/>
          </a:p>
        </p:txBody>
      </p:sp>
      <p:sp>
        <p:nvSpPr>
          <p:cNvPr id="10" name="Text 8"/>
          <p:cNvSpPr txBox="1"/>
          <p:nvPr/>
        </p:nvSpPr>
        <p:spPr>
          <a:xfrm>
            <a:off x="822960" y="4937760"/>
            <a:ext cx="2926080" cy="548640"/>
          </a:xfrm>
          <a:prstGeom prst="rect">
            <a:avLst/>
          </a:prstGeom>
          <a:noFill/>
          <a:ln/>
        </p:spPr>
        <p:txBody>
          <a:bodyPr wrap="square" lIns="0" tIns="0" rIns="0" bIns="0" rtlCol="0" anchor="t"/>
          <a:lstStyle/>
          <a:p>
            <a:pPr indent="0" marL="0">
              <a:buNone/>
            </a:pPr>
            <a:r>
              <a:rPr lang="en-US" altLang="en-US" sz="1400" dirty="0">
                <a:solidFill>
                  <a:schemeClr val="tx2"/>
                </a:solidFill>
              </a:rPr>
              <a:t>federal judges appointed, all for life</a:t>
            </a:r>
            <a:endParaRPr lang="en-US" sz="1400" dirty="0"/>
          </a:p>
        </p:txBody>
      </p:sp>
      <p:sp>
        <p:nvSpPr>
          <p:cNvPr id="11" name="Text 9"/>
          <p:cNvSpPr txBox="1"/>
          <p:nvPr/>
        </p:nvSpPr>
        <p:spPr>
          <a:xfrm>
            <a:off x="4251960" y="1847088"/>
            <a:ext cx="1097280" cy="292608"/>
          </a:xfrm>
          <a:prstGeom prst="rect">
            <a:avLst/>
          </a:prstGeom>
          <a:noFill/>
          <a:ln/>
        </p:spPr>
        <p:txBody>
          <a:bodyPr wrap="square" lIns="0" tIns="0" rIns="0" bIns="0" rtlCol="0" anchor="t"/>
          <a:lstStyle/>
          <a:p>
            <a:pPr indent="0" marL="0">
              <a:buNone/>
            </a:pPr>
            <a:r>
              <a:rPr lang="en-US" altLang="en-US" sz="1800" b="1" dirty="0">
                <a:solidFill>
                  <a:schemeClr val="tx1"/>
                </a:solidFill>
              </a:rPr>
              <a:t>2017</a:t>
            </a:r>
            <a:endParaRPr lang="en-US" sz="1800" dirty="0"/>
          </a:p>
        </p:txBody>
      </p:sp>
      <p:sp>
        <p:nvSpPr>
          <p:cNvPr id="12" name="Text 10"/>
          <p:cNvSpPr txBox="1"/>
          <p:nvPr/>
        </p:nvSpPr>
        <p:spPr>
          <a:xfrm>
            <a:off x="4251960" y="2139696"/>
            <a:ext cx="1097280" cy="228600"/>
          </a:xfrm>
          <a:prstGeom prst="rect">
            <a:avLst/>
          </a:prstGeom>
          <a:noFill/>
          <a:ln/>
        </p:spPr>
        <p:txBody>
          <a:bodyPr wrap="square" lIns="0" tIns="0" rIns="0" bIns="0" rtlCol="0" anchor="t"/>
          <a:lstStyle/>
          <a:p>
            <a:pPr indent="0" marL="0">
              <a:buNone/>
            </a:pPr>
            <a:r>
              <a:rPr lang="en-US" altLang="en-US" sz="1100" dirty="0">
                <a:solidFill>
                  <a:schemeClr val="tx2"/>
                </a:solidFill>
              </a:rPr>
              <a:t>start of term</a:t>
            </a:r>
            <a:endParaRPr lang="en-US" sz="1100" dirty="0"/>
          </a:p>
        </p:txBody>
      </p:sp>
      <p:sp>
        <p:nvSpPr>
          <p:cNvPr id="13" name="Text 11"/>
          <p:cNvSpPr txBox="1"/>
          <p:nvPr/>
        </p:nvSpPr>
        <p:spPr>
          <a:xfrm>
            <a:off x="4251960" y="2871216"/>
            <a:ext cx="1097280" cy="292608"/>
          </a:xfrm>
          <a:prstGeom prst="rect">
            <a:avLst/>
          </a:prstGeom>
          <a:noFill/>
          <a:ln/>
        </p:spPr>
        <p:txBody>
          <a:bodyPr wrap="square" lIns="0" tIns="0" rIns="0" bIns="0" rtlCol="0" anchor="t"/>
          <a:lstStyle/>
          <a:p>
            <a:pPr indent="0" marL="0">
              <a:buNone/>
            </a:pPr>
            <a:r>
              <a:rPr lang="en-US" altLang="en-US" sz="1800" b="1" dirty="0">
                <a:solidFill>
                  <a:schemeClr val="tx1"/>
                </a:solidFill>
              </a:rPr>
              <a:t>2021</a:t>
            </a:r>
            <a:endParaRPr lang="en-US" sz="1800" dirty="0"/>
          </a:p>
        </p:txBody>
      </p:sp>
      <p:sp>
        <p:nvSpPr>
          <p:cNvPr id="14" name="Text 12"/>
          <p:cNvSpPr txBox="1"/>
          <p:nvPr/>
        </p:nvSpPr>
        <p:spPr>
          <a:xfrm>
            <a:off x="4251960" y="3163824"/>
            <a:ext cx="1097280" cy="228600"/>
          </a:xfrm>
          <a:prstGeom prst="rect">
            <a:avLst/>
          </a:prstGeom>
          <a:noFill/>
          <a:ln/>
        </p:spPr>
        <p:txBody>
          <a:bodyPr wrap="square" lIns="0" tIns="0" rIns="0" bIns="0" rtlCol="0" anchor="t"/>
          <a:lstStyle/>
          <a:p>
            <a:pPr indent="0" marL="0">
              <a:buNone/>
            </a:pPr>
            <a:r>
              <a:rPr lang="en-US" altLang="en-US" sz="1100" dirty="0">
                <a:solidFill>
                  <a:schemeClr val="tx2"/>
                </a:solidFill>
              </a:rPr>
              <a:t>end of term</a:t>
            </a:r>
            <a:endParaRPr lang="en-US" sz="1100" dirty="0"/>
          </a:p>
        </p:txBody>
      </p:sp>
      <p:sp>
        <p:nvSpPr>
          <p:cNvPr id="15" name="Shape 13"/>
          <p:cNvSpPr/>
          <p:nvPr/>
        </p:nvSpPr>
        <p:spPr>
          <a:xfrm>
            <a:off x="5440680" y="1847088"/>
            <a:ext cx="512064" cy="512064"/>
          </a:xfrm>
          <a:prstGeom prst="ellipse">
            <a:avLst/>
          </a:prstGeom>
          <a:solidFill>
            <a:schemeClr val="tx1"/>
          </a:solidFill>
          <a:ln/>
        </p:spPr>
      </p:sp>
      <p:sp>
        <p:nvSpPr>
          <p:cNvPr id="16" name="Shape 14"/>
          <p:cNvSpPr/>
          <p:nvPr/>
        </p:nvSpPr>
        <p:spPr>
          <a:xfrm>
            <a:off x="6135624" y="1847088"/>
            <a:ext cx="512064" cy="512064"/>
          </a:xfrm>
          <a:prstGeom prst="ellipse">
            <a:avLst/>
          </a:prstGeom>
          <a:solidFill>
            <a:schemeClr val="tx1"/>
          </a:solidFill>
          <a:ln/>
        </p:spPr>
      </p:sp>
      <p:sp>
        <p:nvSpPr>
          <p:cNvPr id="17" name="Shape 15"/>
          <p:cNvSpPr/>
          <p:nvPr/>
        </p:nvSpPr>
        <p:spPr>
          <a:xfrm>
            <a:off x="6830568" y="1847088"/>
            <a:ext cx="512064" cy="512064"/>
          </a:xfrm>
          <a:prstGeom prst="ellipse">
            <a:avLst/>
          </a:prstGeom>
          <a:solidFill>
            <a:schemeClr val="tx1"/>
          </a:solidFill>
          <a:ln/>
        </p:spPr>
      </p:sp>
      <p:sp>
        <p:nvSpPr>
          <p:cNvPr id="18" name="Shape 16"/>
          <p:cNvSpPr/>
          <p:nvPr/>
        </p:nvSpPr>
        <p:spPr>
          <a:xfrm>
            <a:off x="7525512" y="1847088"/>
            <a:ext cx="512064" cy="512064"/>
          </a:xfrm>
          <a:prstGeom prst="ellipse">
            <a:avLst/>
          </a:prstGeom>
          <a:solidFill>
            <a:schemeClr val="bg1"/>
          </a:solidFill>
          <a:ln w="19050">
            <a:solidFill>
              <a:schemeClr val="tx1"/>
            </a:solidFill>
            <a:prstDash val="solid"/>
          </a:ln>
        </p:spPr>
      </p:sp>
      <p:sp>
        <p:nvSpPr>
          <p:cNvPr id="19" name="Text 17"/>
          <p:cNvSpPr txBox="1"/>
          <p:nvPr/>
        </p:nvSpPr>
        <p:spPr>
          <a:xfrm>
            <a:off x="7415784" y="2395728"/>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vacant</a:t>
            </a:r>
            <a:endParaRPr lang="en-US" sz="1000" dirty="0"/>
          </a:p>
        </p:txBody>
      </p:sp>
      <p:sp>
        <p:nvSpPr>
          <p:cNvPr id="20" name="Shape 18"/>
          <p:cNvSpPr/>
          <p:nvPr/>
        </p:nvSpPr>
        <p:spPr>
          <a:xfrm>
            <a:off x="8220456" y="1847088"/>
            <a:ext cx="512064" cy="512064"/>
          </a:xfrm>
          <a:prstGeom prst="ellipse">
            <a:avLst/>
          </a:prstGeom>
          <a:solidFill>
            <a:schemeClr val="accent4"/>
          </a:solidFill>
          <a:ln/>
        </p:spPr>
      </p:sp>
      <p:sp>
        <p:nvSpPr>
          <p:cNvPr id="21" name="Text 19"/>
          <p:cNvSpPr txBox="1"/>
          <p:nvPr/>
        </p:nvSpPr>
        <p:spPr>
          <a:xfrm>
            <a:off x="8110728" y="2395728"/>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Kennedy</a:t>
            </a:r>
            <a:endParaRPr lang="en-US" sz="1000" dirty="0"/>
          </a:p>
        </p:txBody>
      </p:sp>
      <p:sp>
        <p:nvSpPr>
          <p:cNvPr id="22" name="Shape 20"/>
          <p:cNvSpPr/>
          <p:nvPr/>
        </p:nvSpPr>
        <p:spPr>
          <a:xfrm>
            <a:off x="8915400" y="1847088"/>
            <a:ext cx="512064" cy="512064"/>
          </a:xfrm>
          <a:prstGeom prst="ellipse">
            <a:avLst/>
          </a:prstGeom>
          <a:solidFill>
            <a:srgbClr val="D5DBE4"/>
          </a:solidFill>
          <a:ln/>
        </p:spPr>
      </p:sp>
      <p:sp>
        <p:nvSpPr>
          <p:cNvPr id="23" name="Text 21"/>
          <p:cNvSpPr txBox="1"/>
          <p:nvPr/>
        </p:nvSpPr>
        <p:spPr>
          <a:xfrm>
            <a:off x="8805672" y="2395728"/>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Ginsburg</a:t>
            </a:r>
            <a:endParaRPr lang="en-US" sz="1000" dirty="0"/>
          </a:p>
        </p:txBody>
      </p:sp>
      <p:sp>
        <p:nvSpPr>
          <p:cNvPr id="24" name="Shape 22"/>
          <p:cNvSpPr/>
          <p:nvPr/>
        </p:nvSpPr>
        <p:spPr>
          <a:xfrm>
            <a:off x="9610344" y="1847088"/>
            <a:ext cx="512064" cy="512064"/>
          </a:xfrm>
          <a:prstGeom prst="ellipse">
            <a:avLst/>
          </a:prstGeom>
          <a:solidFill>
            <a:srgbClr val="D5DBE4"/>
          </a:solidFill>
          <a:ln/>
        </p:spPr>
      </p:sp>
      <p:sp>
        <p:nvSpPr>
          <p:cNvPr id="25" name="Shape 23"/>
          <p:cNvSpPr/>
          <p:nvPr/>
        </p:nvSpPr>
        <p:spPr>
          <a:xfrm>
            <a:off x="10305288" y="1847088"/>
            <a:ext cx="512064" cy="512064"/>
          </a:xfrm>
          <a:prstGeom prst="ellipse">
            <a:avLst/>
          </a:prstGeom>
          <a:solidFill>
            <a:srgbClr val="D5DBE4"/>
          </a:solidFill>
          <a:ln/>
        </p:spPr>
      </p:sp>
      <p:sp>
        <p:nvSpPr>
          <p:cNvPr id="26" name="Shape 24"/>
          <p:cNvSpPr/>
          <p:nvPr/>
        </p:nvSpPr>
        <p:spPr>
          <a:xfrm>
            <a:off x="11000232" y="1847088"/>
            <a:ext cx="512064" cy="512064"/>
          </a:xfrm>
          <a:prstGeom prst="ellipse">
            <a:avLst/>
          </a:prstGeom>
          <a:solidFill>
            <a:srgbClr val="D5DBE4"/>
          </a:solidFill>
          <a:ln/>
        </p:spPr>
      </p:sp>
      <p:sp>
        <p:nvSpPr>
          <p:cNvPr id="27" name="Shape 25"/>
          <p:cNvSpPr/>
          <p:nvPr/>
        </p:nvSpPr>
        <p:spPr>
          <a:xfrm>
            <a:off x="5440680" y="2871216"/>
            <a:ext cx="512064" cy="512064"/>
          </a:xfrm>
          <a:prstGeom prst="ellipse">
            <a:avLst/>
          </a:prstGeom>
          <a:solidFill>
            <a:schemeClr val="tx1"/>
          </a:solidFill>
          <a:ln/>
        </p:spPr>
      </p:sp>
      <p:sp>
        <p:nvSpPr>
          <p:cNvPr id="28" name="Text 26"/>
          <p:cNvSpPr txBox="1"/>
          <p:nvPr/>
        </p:nvSpPr>
        <p:spPr>
          <a:xfrm>
            <a:off x="5330952" y="3419856"/>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Roberts</a:t>
            </a:r>
            <a:endParaRPr lang="en-US" sz="1000" dirty="0"/>
          </a:p>
        </p:txBody>
      </p:sp>
      <p:sp>
        <p:nvSpPr>
          <p:cNvPr id="29" name="Shape 27"/>
          <p:cNvSpPr/>
          <p:nvPr/>
        </p:nvSpPr>
        <p:spPr>
          <a:xfrm>
            <a:off x="6135624" y="2871216"/>
            <a:ext cx="512064" cy="512064"/>
          </a:xfrm>
          <a:prstGeom prst="ellipse">
            <a:avLst/>
          </a:prstGeom>
          <a:solidFill>
            <a:schemeClr val="tx1"/>
          </a:solidFill>
          <a:ln/>
        </p:spPr>
      </p:sp>
      <p:sp>
        <p:nvSpPr>
          <p:cNvPr id="30" name="Text 28"/>
          <p:cNvSpPr txBox="1"/>
          <p:nvPr/>
        </p:nvSpPr>
        <p:spPr>
          <a:xfrm>
            <a:off x="6025896" y="3419856"/>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Thomas</a:t>
            </a:r>
            <a:endParaRPr lang="en-US" sz="1000" dirty="0"/>
          </a:p>
        </p:txBody>
      </p:sp>
      <p:sp>
        <p:nvSpPr>
          <p:cNvPr id="31" name="Shape 29"/>
          <p:cNvSpPr/>
          <p:nvPr/>
        </p:nvSpPr>
        <p:spPr>
          <a:xfrm>
            <a:off x="6830568" y="2871216"/>
            <a:ext cx="512064" cy="512064"/>
          </a:xfrm>
          <a:prstGeom prst="ellipse">
            <a:avLst/>
          </a:prstGeom>
          <a:solidFill>
            <a:schemeClr val="tx1"/>
          </a:solidFill>
          <a:ln/>
        </p:spPr>
      </p:sp>
      <p:sp>
        <p:nvSpPr>
          <p:cNvPr id="32" name="Text 30"/>
          <p:cNvSpPr txBox="1"/>
          <p:nvPr/>
        </p:nvSpPr>
        <p:spPr>
          <a:xfrm>
            <a:off x="6720840" y="3419856"/>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Alito</a:t>
            </a:r>
            <a:endParaRPr lang="en-US" sz="1000" dirty="0"/>
          </a:p>
        </p:txBody>
      </p:sp>
      <p:sp>
        <p:nvSpPr>
          <p:cNvPr id="33" name="Shape 31"/>
          <p:cNvSpPr/>
          <p:nvPr/>
        </p:nvSpPr>
        <p:spPr>
          <a:xfrm>
            <a:off x="7525512" y="2871216"/>
            <a:ext cx="512064" cy="512064"/>
          </a:xfrm>
          <a:prstGeom prst="ellipse">
            <a:avLst/>
          </a:prstGeom>
          <a:solidFill>
            <a:schemeClr val="accent1"/>
          </a:solidFill>
          <a:ln/>
        </p:spPr>
      </p:sp>
      <p:sp>
        <p:nvSpPr>
          <p:cNvPr id="34" name="Text 32"/>
          <p:cNvSpPr txBox="1"/>
          <p:nvPr/>
        </p:nvSpPr>
        <p:spPr>
          <a:xfrm>
            <a:off x="7415784" y="3419856"/>
            <a:ext cx="731520" cy="182880"/>
          </a:xfrm>
          <a:prstGeom prst="rect">
            <a:avLst/>
          </a:prstGeom>
          <a:noFill/>
          <a:ln/>
        </p:spPr>
        <p:txBody>
          <a:bodyPr wrap="square" lIns="0" tIns="0" rIns="0" bIns="0" rtlCol="0" anchor="t"/>
          <a:lstStyle/>
          <a:p>
            <a:pPr algn="ctr" indent="0" marL="0">
              <a:buNone/>
            </a:pPr>
            <a:r>
              <a:rPr lang="en-US" altLang="en-US" sz="1000" b="1" dirty="0">
                <a:solidFill>
                  <a:schemeClr val="accent1"/>
                </a:solidFill>
              </a:rPr>
              <a:t>Gorsuch</a:t>
            </a:r>
            <a:endParaRPr lang="en-US" sz="1000" dirty="0"/>
          </a:p>
        </p:txBody>
      </p:sp>
      <p:sp>
        <p:nvSpPr>
          <p:cNvPr id="35" name="Shape 33"/>
          <p:cNvSpPr/>
          <p:nvPr/>
        </p:nvSpPr>
        <p:spPr>
          <a:xfrm>
            <a:off x="8220456" y="2871216"/>
            <a:ext cx="512064" cy="512064"/>
          </a:xfrm>
          <a:prstGeom prst="ellipse">
            <a:avLst/>
          </a:prstGeom>
          <a:solidFill>
            <a:schemeClr val="accent1"/>
          </a:solidFill>
          <a:ln/>
        </p:spPr>
      </p:sp>
      <p:sp>
        <p:nvSpPr>
          <p:cNvPr id="36" name="Text 34"/>
          <p:cNvSpPr txBox="1"/>
          <p:nvPr/>
        </p:nvSpPr>
        <p:spPr>
          <a:xfrm>
            <a:off x="8110728" y="3419856"/>
            <a:ext cx="731520" cy="182880"/>
          </a:xfrm>
          <a:prstGeom prst="rect">
            <a:avLst/>
          </a:prstGeom>
          <a:noFill/>
          <a:ln/>
        </p:spPr>
        <p:txBody>
          <a:bodyPr wrap="square" lIns="0" tIns="0" rIns="0" bIns="0" rtlCol="0" anchor="t"/>
          <a:lstStyle/>
          <a:p>
            <a:pPr algn="ctr" indent="0" marL="0">
              <a:buNone/>
            </a:pPr>
            <a:r>
              <a:rPr lang="en-US" altLang="en-US" sz="1000" b="1" dirty="0">
                <a:solidFill>
                  <a:schemeClr val="accent1"/>
                </a:solidFill>
              </a:rPr>
              <a:t>Kavanaugh</a:t>
            </a:r>
            <a:endParaRPr lang="en-US" sz="1000" dirty="0"/>
          </a:p>
        </p:txBody>
      </p:sp>
      <p:sp>
        <p:nvSpPr>
          <p:cNvPr id="37" name="Shape 35"/>
          <p:cNvSpPr/>
          <p:nvPr/>
        </p:nvSpPr>
        <p:spPr>
          <a:xfrm>
            <a:off x="8915400" y="2871216"/>
            <a:ext cx="512064" cy="512064"/>
          </a:xfrm>
          <a:prstGeom prst="ellipse">
            <a:avLst/>
          </a:prstGeom>
          <a:solidFill>
            <a:schemeClr val="accent1"/>
          </a:solidFill>
          <a:ln/>
        </p:spPr>
      </p:sp>
      <p:sp>
        <p:nvSpPr>
          <p:cNvPr id="38" name="Text 36"/>
          <p:cNvSpPr txBox="1"/>
          <p:nvPr/>
        </p:nvSpPr>
        <p:spPr>
          <a:xfrm>
            <a:off x="8805672" y="3419856"/>
            <a:ext cx="731520" cy="182880"/>
          </a:xfrm>
          <a:prstGeom prst="rect">
            <a:avLst/>
          </a:prstGeom>
          <a:noFill/>
          <a:ln/>
        </p:spPr>
        <p:txBody>
          <a:bodyPr wrap="square" lIns="0" tIns="0" rIns="0" bIns="0" rtlCol="0" anchor="t"/>
          <a:lstStyle/>
          <a:p>
            <a:pPr algn="ctr" indent="0" marL="0">
              <a:buNone/>
            </a:pPr>
            <a:r>
              <a:rPr lang="en-US" altLang="en-US" sz="1000" b="1" dirty="0">
                <a:solidFill>
                  <a:schemeClr val="accent1"/>
                </a:solidFill>
              </a:rPr>
              <a:t>Barrett</a:t>
            </a:r>
            <a:endParaRPr lang="en-US" sz="1000" dirty="0"/>
          </a:p>
        </p:txBody>
      </p:sp>
      <p:sp>
        <p:nvSpPr>
          <p:cNvPr id="39" name="Shape 37"/>
          <p:cNvSpPr/>
          <p:nvPr/>
        </p:nvSpPr>
        <p:spPr>
          <a:xfrm>
            <a:off x="9610344" y="2871216"/>
            <a:ext cx="512064" cy="512064"/>
          </a:xfrm>
          <a:prstGeom prst="ellipse">
            <a:avLst/>
          </a:prstGeom>
          <a:solidFill>
            <a:srgbClr val="D5DBE4"/>
          </a:solidFill>
          <a:ln/>
        </p:spPr>
      </p:sp>
      <p:sp>
        <p:nvSpPr>
          <p:cNvPr id="40" name="Text 38"/>
          <p:cNvSpPr txBox="1"/>
          <p:nvPr/>
        </p:nvSpPr>
        <p:spPr>
          <a:xfrm>
            <a:off x="9500616" y="3419856"/>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Breyer</a:t>
            </a:r>
            <a:endParaRPr lang="en-US" sz="1000" dirty="0"/>
          </a:p>
        </p:txBody>
      </p:sp>
      <p:sp>
        <p:nvSpPr>
          <p:cNvPr id="41" name="Shape 39"/>
          <p:cNvSpPr/>
          <p:nvPr/>
        </p:nvSpPr>
        <p:spPr>
          <a:xfrm>
            <a:off x="10305288" y="2871216"/>
            <a:ext cx="512064" cy="512064"/>
          </a:xfrm>
          <a:prstGeom prst="ellipse">
            <a:avLst/>
          </a:prstGeom>
          <a:solidFill>
            <a:srgbClr val="D5DBE4"/>
          </a:solidFill>
          <a:ln/>
        </p:spPr>
      </p:sp>
      <p:sp>
        <p:nvSpPr>
          <p:cNvPr id="42" name="Text 40"/>
          <p:cNvSpPr txBox="1"/>
          <p:nvPr/>
        </p:nvSpPr>
        <p:spPr>
          <a:xfrm>
            <a:off x="10195560" y="3419856"/>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Sotomayor</a:t>
            </a:r>
            <a:endParaRPr lang="en-US" sz="1000" dirty="0"/>
          </a:p>
        </p:txBody>
      </p:sp>
      <p:sp>
        <p:nvSpPr>
          <p:cNvPr id="43" name="Shape 41"/>
          <p:cNvSpPr/>
          <p:nvPr/>
        </p:nvSpPr>
        <p:spPr>
          <a:xfrm>
            <a:off x="11000232" y="2871216"/>
            <a:ext cx="512064" cy="512064"/>
          </a:xfrm>
          <a:prstGeom prst="ellipse">
            <a:avLst/>
          </a:prstGeom>
          <a:solidFill>
            <a:srgbClr val="D5DBE4"/>
          </a:solidFill>
          <a:ln/>
        </p:spPr>
      </p:sp>
      <p:sp>
        <p:nvSpPr>
          <p:cNvPr id="44" name="Text 42"/>
          <p:cNvSpPr txBox="1"/>
          <p:nvPr/>
        </p:nvSpPr>
        <p:spPr>
          <a:xfrm>
            <a:off x="10890504" y="3419856"/>
            <a:ext cx="731520" cy="182880"/>
          </a:xfrm>
          <a:prstGeom prst="rect">
            <a:avLst/>
          </a:prstGeom>
          <a:noFill/>
          <a:ln/>
        </p:spPr>
        <p:txBody>
          <a:bodyPr wrap="square" lIns="0" tIns="0" rIns="0" bIns="0" rtlCol="0" anchor="t"/>
          <a:lstStyle/>
          <a:p>
            <a:pPr algn="ctr" indent="0" marL="0">
              <a:buNone/>
            </a:pPr>
            <a:r>
              <a:rPr lang="en-US" altLang="en-US" sz="1000" dirty="0">
                <a:solidFill>
                  <a:schemeClr val="tx2"/>
                </a:solidFill>
              </a:rPr>
              <a:t>Kagan</a:t>
            </a:r>
            <a:endParaRPr lang="en-US" sz="1000" dirty="0"/>
          </a:p>
        </p:txBody>
      </p:sp>
      <p:sp>
        <p:nvSpPr>
          <p:cNvPr id="45" name="Shape 43"/>
          <p:cNvSpPr/>
          <p:nvPr/>
        </p:nvSpPr>
        <p:spPr>
          <a:xfrm rot="10800000">
            <a:off x="7717536" y="2633472"/>
            <a:ext cx="128016" cy="91440"/>
          </a:xfrm>
          <a:prstGeom prst="triangle">
            <a:avLst/>
          </a:prstGeom>
          <a:solidFill>
            <a:schemeClr val="accent1"/>
          </a:solidFill>
          <a:ln/>
        </p:spPr>
      </p:sp>
      <p:sp>
        <p:nvSpPr>
          <p:cNvPr id="46" name="Shape 44"/>
          <p:cNvSpPr/>
          <p:nvPr/>
        </p:nvSpPr>
        <p:spPr>
          <a:xfrm rot="10800000">
            <a:off x="8412480" y="2633472"/>
            <a:ext cx="128016" cy="91440"/>
          </a:xfrm>
          <a:prstGeom prst="triangle">
            <a:avLst/>
          </a:prstGeom>
          <a:solidFill>
            <a:schemeClr val="accent1"/>
          </a:solidFill>
          <a:ln/>
        </p:spPr>
      </p:sp>
      <p:sp>
        <p:nvSpPr>
          <p:cNvPr id="47" name="Shape 45"/>
          <p:cNvSpPr/>
          <p:nvPr/>
        </p:nvSpPr>
        <p:spPr>
          <a:xfrm rot="10800000">
            <a:off x="9107424" y="2633472"/>
            <a:ext cx="128016" cy="91440"/>
          </a:xfrm>
          <a:prstGeom prst="triangle">
            <a:avLst/>
          </a:prstGeom>
          <a:solidFill>
            <a:schemeClr val="accent1"/>
          </a:solidFill>
          <a:ln/>
        </p:spPr>
      </p:sp>
      <p:sp>
        <p:nvSpPr>
          <p:cNvPr id="48" name="Shape 46"/>
          <p:cNvSpPr/>
          <p:nvPr/>
        </p:nvSpPr>
        <p:spPr>
          <a:xfrm>
            <a:off x="4251960" y="3813048"/>
            <a:ext cx="146304" cy="146304"/>
          </a:xfrm>
          <a:prstGeom prst="ellipse">
            <a:avLst/>
          </a:prstGeom>
          <a:solidFill>
            <a:schemeClr val="tx1"/>
          </a:solidFill>
          <a:ln/>
        </p:spPr>
      </p:sp>
      <p:sp>
        <p:nvSpPr>
          <p:cNvPr id="49" name="Text 47"/>
          <p:cNvSpPr txBox="1"/>
          <p:nvPr/>
        </p:nvSpPr>
        <p:spPr>
          <a:xfrm>
            <a:off x="4453128" y="3785616"/>
            <a:ext cx="914400" cy="201168"/>
          </a:xfrm>
          <a:prstGeom prst="rect">
            <a:avLst/>
          </a:prstGeom>
          <a:noFill/>
          <a:ln/>
        </p:spPr>
        <p:txBody>
          <a:bodyPr wrap="square" lIns="0" tIns="0" rIns="0" bIns="0" rtlCol="0" anchor="t"/>
          <a:lstStyle/>
          <a:p>
            <a:pPr indent="0" marL="0">
              <a:buNone/>
            </a:pPr>
            <a:r>
              <a:rPr lang="en-US" altLang="en-US" sz="1000" dirty="0">
                <a:solidFill>
                  <a:schemeClr val="tx2"/>
                </a:solidFill>
              </a:rPr>
              <a:t>conservative</a:t>
            </a:r>
            <a:endParaRPr lang="en-US" sz="1000" dirty="0"/>
          </a:p>
        </p:txBody>
      </p:sp>
      <p:sp>
        <p:nvSpPr>
          <p:cNvPr id="50" name="Shape 48"/>
          <p:cNvSpPr/>
          <p:nvPr/>
        </p:nvSpPr>
        <p:spPr>
          <a:xfrm>
            <a:off x="5532120" y="3813048"/>
            <a:ext cx="146304" cy="146304"/>
          </a:xfrm>
          <a:prstGeom prst="ellipse">
            <a:avLst/>
          </a:prstGeom>
          <a:solidFill>
            <a:schemeClr val="accent4"/>
          </a:solidFill>
          <a:ln/>
        </p:spPr>
      </p:sp>
      <p:sp>
        <p:nvSpPr>
          <p:cNvPr id="51" name="Text 49"/>
          <p:cNvSpPr txBox="1"/>
          <p:nvPr/>
        </p:nvSpPr>
        <p:spPr>
          <a:xfrm>
            <a:off x="5733288" y="3785616"/>
            <a:ext cx="777240" cy="201168"/>
          </a:xfrm>
          <a:prstGeom prst="rect">
            <a:avLst/>
          </a:prstGeom>
          <a:noFill/>
          <a:ln/>
        </p:spPr>
        <p:txBody>
          <a:bodyPr wrap="square" lIns="0" tIns="0" rIns="0" bIns="0" rtlCol="0" anchor="t"/>
          <a:lstStyle/>
          <a:p>
            <a:pPr indent="0" marL="0">
              <a:buNone/>
            </a:pPr>
            <a:r>
              <a:rPr lang="en-US" altLang="en-US" sz="1000" dirty="0">
                <a:solidFill>
                  <a:schemeClr val="tx2"/>
                </a:solidFill>
              </a:rPr>
              <a:t>swing vote</a:t>
            </a:r>
            <a:endParaRPr lang="en-US" sz="1000" dirty="0"/>
          </a:p>
        </p:txBody>
      </p:sp>
      <p:sp>
        <p:nvSpPr>
          <p:cNvPr id="52" name="Shape 50"/>
          <p:cNvSpPr/>
          <p:nvPr/>
        </p:nvSpPr>
        <p:spPr>
          <a:xfrm>
            <a:off x="6675120" y="3813048"/>
            <a:ext cx="146304" cy="146304"/>
          </a:xfrm>
          <a:prstGeom prst="ellipse">
            <a:avLst/>
          </a:prstGeom>
          <a:solidFill>
            <a:schemeClr val="accent1"/>
          </a:solidFill>
          <a:ln/>
        </p:spPr>
      </p:sp>
      <p:sp>
        <p:nvSpPr>
          <p:cNvPr id="53" name="Text 51"/>
          <p:cNvSpPr txBox="1"/>
          <p:nvPr/>
        </p:nvSpPr>
        <p:spPr>
          <a:xfrm>
            <a:off x="6876288" y="3785616"/>
            <a:ext cx="1120140" cy="201168"/>
          </a:xfrm>
          <a:prstGeom prst="rect">
            <a:avLst/>
          </a:prstGeom>
          <a:noFill/>
          <a:ln/>
        </p:spPr>
        <p:txBody>
          <a:bodyPr wrap="square" lIns="0" tIns="0" rIns="0" bIns="0" rtlCol="0" anchor="t"/>
          <a:lstStyle/>
          <a:p>
            <a:pPr indent="0" marL="0">
              <a:buNone/>
            </a:pPr>
            <a:r>
              <a:rPr lang="en-US" altLang="en-US" sz="1000" dirty="0">
                <a:solidFill>
                  <a:schemeClr val="tx2"/>
                </a:solidFill>
              </a:rPr>
              <a:t>Trump appointee</a:t>
            </a:r>
            <a:endParaRPr lang="en-US" sz="1000" dirty="0"/>
          </a:p>
        </p:txBody>
      </p:sp>
      <p:sp>
        <p:nvSpPr>
          <p:cNvPr id="54" name="Shape 52"/>
          <p:cNvSpPr/>
          <p:nvPr/>
        </p:nvSpPr>
        <p:spPr>
          <a:xfrm>
            <a:off x="8161020" y="3813048"/>
            <a:ext cx="146304" cy="146304"/>
          </a:xfrm>
          <a:prstGeom prst="ellipse">
            <a:avLst/>
          </a:prstGeom>
          <a:solidFill>
            <a:srgbClr val="D5DBE4"/>
          </a:solidFill>
          <a:ln/>
        </p:spPr>
      </p:sp>
      <p:sp>
        <p:nvSpPr>
          <p:cNvPr id="55" name="Text 53"/>
          <p:cNvSpPr txBox="1"/>
          <p:nvPr/>
        </p:nvSpPr>
        <p:spPr>
          <a:xfrm>
            <a:off x="8362188" y="3785616"/>
            <a:ext cx="571500" cy="201168"/>
          </a:xfrm>
          <a:prstGeom prst="rect">
            <a:avLst/>
          </a:prstGeom>
          <a:noFill/>
          <a:ln/>
        </p:spPr>
        <p:txBody>
          <a:bodyPr wrap="square" lIns="0" tIns="0" rIns="0" bIns="0" rtlCol="0" anchor="t"/>
          <a:lstStyle/>
          <a:p>
            <a:pPr indent="0" marL="0">
              <a:buNone/>
            </a:pPr>
            <a:r>
              <a:rPr lang="en-US" altLang="en-US" sz="1000" dirty="0">
                <a:solidFill>
                  <a:schemeClr val="tx2"/>
                </a:solidFill>
              </a:rPr>
              <a:t>liberal</a:t>
            </a:r>
            <a:endParaRPr lang="en-US" sz="1000" dirty="0"/>
          </a:p>
        </p:txBody>
      </p:sp>
      <p:sp>
        <p:nvSpPr>
          <p:cNvPr id="56" name="Shape 54"/>
          <p:cNvSpPr/>
          <p:nvPr/>
        </p:nvSpPr>
        <p:spPr>
          <a:xfrm>
            <a:off x="9098280" y="3813048"/>
            <a:ext cx="146304" cy="146304"/>
          </a:xfrm>
          <a:prstGeom prst="ellipse">
            <a:avLst/>
          </a:prstGeom>
          <a:solidFill>
            <a:schemeClr val="bg1"/>
          </a:solidFill>
          <a:ln w="19050">
            <a:solidFill>
              <a:schemeClr val="tx1"/>
            </a:solidFill>
            <a:prstDash val="solid"/>
          </a:ln>
        </p:spPr>
      </p:sp>
      <p:sp>
        <p:nvSpPr>
          <p:cNvPr id="57" name="Text 55"/>
          <p:cNvSpPr txBox="1"/>
          <p:nvPr/>
        </p:nvSpPr>
        <p:spPr>
          <a:xfrm>
            <a:off x="9299448" y="3785616"/>
            <a:ext cx="502920" cy="201168"/>
          </a:xfrm>
          <a:prstGeom prst="rect">
            <a:avLst/>
          </a:prstGeom>
          <a:noFill/>
          <a:ln/>
        </p:spPr>
        <p:txBody>
          <a:bodyPr wrap="square" lIns="0" tIns="0" rIns="0" bIns="0" rtlCol="0" anchor="t"/>
          <a:lstStyle/>
          <a:p>
            <a:pPr indent="0" marL="0">
              <a:buNone/>
            </a:pPr>
            <a:r>
              <a:rPr lang="en-US" altLang="en-US" sz="1000" dirty="0">
                <a:solidFill>
                  <a:schemeClr val="tx2"/>
                </a:solidFill>
              </a:rPr>
              <a:t>vacant</a:t>
            </a:r>
            <a:endParaRPr lang="en-US" sz="1000" dirty="0"/>
          </a:p>
        </p:txBody>
      </p:sp>
      <p:sp>
        <p:nvSpPr>
          <p:cNvPr id="58" name="Shape 56"/>
          <p:cNvSpPr/>
          <p:nvPr/>
        </p:nvSpPr>
        <p:spPr>
          <a:xfrm>
            <a:off x="4251960" y="4160520"/>
            <a:ext cx="2341778" cy="1554480"/>
          </a:xfrm>
          <a:prstGeom prst="roundRect">
            <a:avLst>
              <a:gd name="adj" fmla="val 7059"/>
            </a:avLst>
          </a:prstGeom>
          <a:solidFill>
            <a:schemeClr val="bg2"/>
          </a:solidFill>
          <a:ln/>
        </p:spPr>
      </p:sp>
      <p:sp>
        <p:nvSpPr>
          <p:cNvPr id="59" name="Text 57"/>
          <p:cNvSpPr txBox="1"/>
          <p:nvPr/>
        </p:nvSpPr>
        <p:spPr>
          <a:xfrm>
            <a:off x="4453128" y="4315968"/>
            <a:ext cx="1976018" cy="274320"/>
          </a:xfrm>
          <a:prstGeom prst="rect">
            <a:avLst/>
          </a:prstGeom>
          <a:noFill/>
          <a:ln/>
        </p:spPr>
        <p:txBody>
          <a:bodyPr wrap="square" lIns="0" tIns="0" rIns="0" bIns="0" rtlCol="0" anchor="t"/>
          <a:lstStyle/>
          <a:p>
            <a:pPr indent="0" marL="0">
              <a:buNone/>
            </a:pPr>
            <a:r>
              <a:rPr lang="en-US" altLang="en-US" sz="1500" b="1" dirty="0">
                <a:solidFill>
                  <a:schemeClr val="tx1"/>
                </a:solidFill>
              </a:rPr>
              <a:t>Neil Gorsuch</a:t>
            </a:r>
            <a:endParaRPr lang="en-US" sz="1500" dirty="0"/>
          </a:p>
        </p:txBody>
      </p:sp>
      <p:sp>
        <p:nvSpPr>
          <p:cNvPr id="60" name="Text 58"/>
          <p:cNvSpPr txBox="1"/>
          <p:nvPr/>
        </p:nvSpPr>
        <p:spPr>
          <a:xfrm>
            <a:off x="4453128" y="4590288"/>
            <a:ext cx="1976018"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2017 · SENATE 54–45</a:t>
            </a:r>
            <a:endParaRPr lang="en-US" sz="1000" dirty="0"/>
          </a:p>
        </p:txBody>
      </p:sp>
      <p:sp>
        <p:nvSpPr>
          <p:cNvPr id="61" name="Text 59"/>
          <p:cNvSpPr txBox="1"/>
          <p:nvPr/>
        </p:nvSpPr>
        <p:spPr>
          <a:xfrm>
            <a:off x="4453128" y="4846320"/>
            <a:ext cx="1976018" cy="822960"/>
          </a:xfrm>
          <a:prstGeom prst="rect">
            <a:avLst/>
          </a:prstGeom>
          <a:noFill/>
          <a:ln/>
        </p:spPr>
        <p:txBody>
          <a:bodyPr wrap="square" lIns="0" tIns="0" rIns="0" bIns="0" rtlCol="0" anchor="t"/>
          <a:lstStyle/>
          <a:p>
            <a:pPr indent="0" marL="0">
              <a:buNone/>
            </a:pPr>
            <a:r>
              <a:rPr lang="en-US" altLang="en-US" sz="1400" dirty="0">
                <a:solidFill>
                  <a:schemeClr val="tx2"/>
                </a:solidFill>
              </a:rPr>
              <a:t>Took Scalia’s seat, held open by the Senate in 2016.</a:t>
            </a:r>
            <a:endParaRPr lang="en-US" sz="1400" dirty="0"/>
          </a:p>
        </p:txBody>
      </p:sp>
      <p:sp>
        <p:nvSpPr>
          <p:cNvPr id="62" name="Shape 60"/>
          <p:cNvSpPr/>
          <p:nvPr/>
        </p:nvSpPr>
        <p:spPr>
          <a:xfrm>
            <a:off x="6776618" y="4160520"/>
            <a:ext cx="2341778" cy="1554480"/>
          </a:xfrm>
          <a:prstGeom prst="roundRect">
            <a:avLst>
              <a:gd name="adj" fmla="val 7059"/>
            </a:avLst>
          </a:prstGeom>
          <a:solidFill>
            <a:schemeClr val="bg2"/>
          </a:solidFill>
          <a:ln/>
        </p:spPr>
      </p:sp>
      <p:sp>
        <p:nvSpPr>
          <p:cNvPr id="63" name="Text 61"/>
          <p:cNvSpPr txBox="1"/>
          <p:nvPr/>
        </p:nvSpPr>
        <p:spPr>
          <a:xfrm>
            <a:off x="6977786" y="4315968"/>
            <a:ext cx="1976018" cy="274320"/>
          </a:xfrm>
          <a:prstGeom prst="rect">
            <a:avLst/>
          </a:prstGeom>
          <a:noFill/>
          <a:ln/>
        </p:spPr>
        <p:txBody>
          <a:bodyPr wrap="square" lIns="0" tIns="0" rIns="0" bIns="0" rtlCol="0" anchor="t"/>
          <a:lstStyle/>
          <a:p>
            <a:pPr indent="0" marL="0">
              <a:buNone/>
            </a:pPr>
            <a:r>
              <a:rPr lang="en-US" altLang="en-US" sz="1500" b="1" dirty="0">
                <a:solidFill>
                  <a:schemeClr val="tx1"/>
                </a:solidFill>
              </a:rPr>
              <a:t>Brett Kavanaugh</a:t>
            </a:r>
            <a:endParaRPr lang="en-US" sz="1500" dirty="0"/>
          </a:p>
        </p:txBody>
      </p:sp>
      <p:sp>
        <p:nvSpPr>
          <p:cNvPr id="64" name="Text 62"/>
          <p:cNvSpPr txBox="1"/>
          <p:nvPr/>
        </p:nvSpPr>
        <p:spPr>
          <a:xfrm>
            <a:off x="6977786" y="4590288"/>
            <a:ext cx="1976018"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2018 · SENATE 50–48</a:t>
            </a:r>
            <a:endParaRPr lang="en-US" sz="1000" dirty="0"/>
          </a:p>
        </p:txBody>
      </p:sp>
      <p:sp>
        <p:nvSpPr>
          <p:cNvPr id="65" name="Text 63"/>
          <p:cNvSpPr txBox="1"/>
          <p:nvPr/>
        </p:nvSpPr>
        <p:spPr>
          <a:xfrm>
            <a:off x="6977786" y="4846320"/>
            <a:ext cx="1976018" cy="822960"/>
          </a:xfrm>
          <a:prstGeom prst="rect">
            <a:avLst/>
          </a:prstGeom>
          <a:noFill/>
          <a:ln/>
        </p:spPr>
        <p:txBody>
          <a:bodyPr wrap="square" lIns="0" tIns="0" rIns="0" bIns="0" rtlCol="0" anchor="t"/>
          <a:lstStyle/>
          <a:p>
            <a:pPr indent="0" marL="0">
              <a:buNone/>
            </a:pPr>
            <a:r>
              <a:rPr lang="en-US" altLang="en-US" sz="1400" dirty="0">
                <a:solidFill>
                  <a:schemeClr val="tx2"/>
                </a:solidFill>
              </a:rPr>
              <a:t>Replaced swing vote Kennedy despite assault allegations.</a:t>
            </a:r>
            <a:endParaRPr lang="en-US" sz="1400" dirty="0"/>
          </a:p>
        </p:txBody>
      </p:sp>
      <p:sp>
        <p:nvSpPr>
          <p:cNvPr id="66" name="Shape 64"/>
          <p:cNvSpPr/>
          <p:nvPr/>
        </p:nvSpPr>
        <p:spPr>
          <a:xfrm>
            <a:off x="9301277" y="4160520"/>
            <a:ext cx="2341778" cy="1554480"/>
          </a:xfrm>
          <a:prstGeom prst="roundRect">
            <a:avLst>
              <a:gd name="adj" fmla="val 7059"/>
            </a:avLst>
          </a:prstGeom>
          <a:solidFill>
            <a:schemeClr val="bg2"/>
          </a:solidFill>
          <a:ln/>
        </p:spPr>
      </p:sp>
      <p:sp>
        <p:nvSpPr>
          <p:cNvPr id="67" name="Text 65"/>
          <p:cNvSpPr txBox="1"/>
          <p:nvPr/>
        </p:nvSpPr>
        <p:spPr>
          <a:xfrm>
            <a:off x="9502445" y="4315968"/>
            <a:ext cx="1976018" cy="274320"/>
          </a:xfrm>
          <a:prstGeom prst="rect">
            <a:avLst/>
          </a:prstGeom>
          <a:noFill/>
          <a:ln/>
        </p:spPr>
        <p:txBody>
          <a:bodyPr wrap="square" lIns="0" tIns="0" rIns="0" bIns="0" rtlCol="0" anchor="t"/>
          <a:lstStyle/>
          <a:p>
            <a:pPr indent="0" marL="0">
              <a:buNone/>
            </a:pPr>
            <a:r>
              <a:rPr lang="en-US" altLang="en-US" sz="1500" b="1" dirty="0">
                <a:solidFill>
                  <a:schemeClr val="tx1"/>
                </a:solidFill>
              </a:rPr>
              <a:t>Amy Coney Barrett</a:t>
            </a:r>
            <a:endParaRPr lang="en-US" sz="1500" dirty="0"/>
          </a:p>
        </p:txBody>
      </p:sp>
      <p:sp>
        <p:nvSpPr>
          <p:cNvPr id="68" name="Text 66"/>
          <p:cNvSpPr txBox="1"/>
          <p:nvPr/>
        </p:nvSpPr>
        <p:spPr>
          <a:xfrm>
            <a:off x="9502445" y="4590288"/>
            <a:ext cx="1976018"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2020 · SENATE 52–48</a:t>
            </a:r>
            <a:endParaRPr lang="en-US" sz="1000" dirty="0"/>
          </a:p>
        </p:txBody>
      </p:sp>
      <p:sp>
        <p:nvSpPr>
          <p:cNvPr id="69" name="Text 67"/>
          <p:cNvSpPr txBox="1"/>
          <p:nvPr/>
        </p:nvSpPr>
        <p:spPr>
          <a:xfrm>
            <a:off x="9502445" y="4846320"/>
            <a:ext cx="1976018" cy="822960"/>
          </a:xfrm>
          <a:prstGeom prst="rect">
            <a:avLst/>
          </a:prstGeom>
          <a:noFill/>
          <a:ln/>
        </p:spPr>
        <p:txBody>
          <a:bodyPr wrap="square" lIns="0" tIns="0" rIns="0" bIns="0" rtlCol="0" anchor="t"/>
          <a:lstStyle/>
          <a:p>
            <a:pPr indent="0" marL="0">
              <a:buNone/>
            </a:pPr>
            <a:r>
              <a:rPr lang="en-US" altLang="en-US" sz="1400" dirty="0">
                <a:solidFill>
                  <a:schemeClr val="tx2"/>
                </a:solidFill>
              </a:rPr>
              <a:t>Replaced Ginsburg 8 days before the election.</a:t>
            </a:r>
            <a:endParaRPr lang="en-US" sz="1400" dirty="0"/>
          </a:p>
        </p:txBody>
      </p:sp>
      <p:sp>
        <p:nvSpPr>
          <p:cNvPr id="70" name="!!tl-span"/>
          <p:cNvSpPr/>
          <p:nvPr/>
        </p:nvSpPr>
        <p:spPr>
          <a:xfrm>
            <a:off x="1201713" y="6117336"/>
            <a:ext cx="8830089" cy="54864"/>
          </a:xfrm>
          <a:prstGeom prst="rect">
            <a:avLst/>
          </a:prstGeom>
          <a:solidFill>
            <a:schemeClr val="accent1"/>
          </a:solidFill>
          <a:ln/>
        </p:spPr>
      </p:sp>
      <p:sp>
        <p:nvSpPr>
          <p:cNvPr id="71" name="!!tl-d1"/>
          <p:cNvSpPr/>
          <p:nvPr/>
        </p:nvSpPr>
        <p:spPr>
          <a:xfrm>
            <a:off x="1119417" y="6062472"/>
            <a:ext cx="164592" cy="164592"/>
          </a:xfrm>
          <a:prstGeom prst="ellipse">
            <a:avLst/>
          </a:prstGeom>
          <a:solidFill>
            <a:schemeClr val="accent1"/>
          </a:solidFill>
          <a:ln w="19050">
            <a:solidFill>
              <a:schemeClr val="bg1"/>
            </a:solidFill>
            <a:prstDash val="solid"/>
          </a:ln>
        </p:spPr>
      </p:sp>
      <p:sp>
        <p:nvSpPr>
          <p:cNvPr id="72" name="!!tl-d2"/>
          <p:cNvSpPr/>
          <p:nvPr/>
        </p:nvSpPr>
        <p:spPr>
          <a:xfrm>
            <a:off x="4840571" y="6062472"/>
            <a:ext cx="164592" cy="164592"/>
          </a:xfrm>
          <a:prstGeom prst="ellipse">
            <a:avLst/>
          </a:prstGeom>
          <a:solidFill>
            <a:schemeClr val="accent1"/>
          </a:solidFill>
          <a:ln w="19050">
            <a:solidFill>
              <a:schemeClr val="bg1"/>
            </a:solidFill>
            <a:prstDash val="solid"/>
          </a:ln>
        </p:spPr>
      </p:sp>
      <p:sp>
        <p:nvSpPr>
          <p:cNvPr id="73" name="!!tl-d3"/>
          <p:cNvSpPr/>
          <p:nvPr/>
        </p:nvSpPr>
        <p:spPr>
          <a:xfrm>
            <a:off x="9949506"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04 · AMERICA FIRST · 2017–2020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Hard Line at the Border, Going Solo Abroad</a:t>
            </a:r>
            <a:endParaRPr lang="en-US" sz="3600" dirty="0"/>
          </a:p>
        </p:txBody>
      </p:sp>
      <p:sp>
        <p:nvSpPr>
          <p:cNvPr id="4" name="Shape 2"/>
          <p:cNvSpPr/>
          <p:nvPr/>
        </p:nvSpPr>
        <p:spPr>
          <a:xfrm>
            <a:off x="548640" y="1737360"/>
            <a:ext cx="3429000" cy="3977640"/>
          </a:xfrm>
          <a:prstGeom prst="roundRect">
            <a:avLst>
              <a:gd name="adj" fmla="val 3200"/>
            </a:avLst>
          </a:prstGeom>
          <a:solidFill>
            <a:schemeClr val="tx1"/>
          </a:solidFill>
          <a:ln/>
        </p:spPr>
      </p:sp>
      <p:sp>
        <p:nvSpPr>
          <p:cNvPr id="5" name="Text 3"/>
          <p:cNvSpPr txBox="1"/>
          <p:nvPr/>
        </p:nvSpPr>
        <p:spPr>
          <a:xfrm>
            <a:off x="822960" y="2011680"/>
            <a:ext cx="2971800" cy="228600"/>
          </a:xfrm>
          <a:prstGeom prst="rect">
            <a:avLst/>
          </a:prstGeom>
          <a:noFill/>
          <a:ln/>
        </p:spPr>
        <p:txBody>
          <a:bodyPr wrap="square" lIns="0" tIns="0" rIns="0" bIns="0" rtlCol="0" anchor="t"/>
          <a:lstStyle/>
          <a:p>
            <a:pPr indent="0" marL="0">
              <a:buNone/>
            </a:pPr>
            <a:r>
              <a:rPr lang="en-US" altLang="en-US" sz="1100" b="1" spc="150" kern="0" dirty="0">
                <a:solidFill>
                  <a:schemeClr val="accent6"/>
                </a:solidFill>
              </a:rPr>
              <a:t>THE GUIDING IDEA</a:t>
            </a:r>
            <a:endParaRPr lang="en-US" sz="1100" dirty="0"/>
          </a:p>
        </p:txBody>
      </p:sp>
      <p:sp>
        <p:nvSpPr>
          <p:cNvPr id="6" name="Text 4"/>
          <p:cNvSpPr txBox="1"/>
          <p:nvPr/>
        </p:nvSpPr>
        <p:spPr>
          <a:xfrm>
            <a:off x="768096" y="2286000"/>
            <a:ext cx="914400" cy="731520"/>
          </a:xfrm>
          <a:prstGeom prst="rect">
            <a:avLst/>
          </a:prstGeom>
          <a:noFill/>
          <a:ln/>
        </p:spPr>
        <p:txBody>
          <a:bodyPr wrap="square" lIns="0" tIns="0" rIns="0" bIns="0" rtlCol="0" anchor="t"/>
          <a:lstStyle/>
          <a:p>
            <a:pPr indent="0" marL="0">
              <a:buNone/>
            </a:pPr>
            <a:r>
              <a:rPr lang="en-US" altLang="en-US" sz="8000" b="1" dirty="0">
                <a:solidFill>
                  <a:schemeClr val="accent6"/>
                </a:solidFill>
                <a:latin typeface="+mj-lt" pitchFamily="34" charset="0"/>
                <a:ea typeface="+mj-lt" pitchFamily="34" charset="-122"/>
                <a:cs typeface="+mj-lt" pitchFamily="34" charset="-120"/>
              </a:rPr>
              <a:t>“</a:t>
            </a:r>
            <a:endParaRPr lang="en-US" sz="8000" dirty="0"/>
          </a:p>
        </p:txBody>
      </p:sp>
      <p:sp>
        <p:nvSpPr>
          <p:cNvPr id="7" name="Text 5"/>
          <p:cNvSpPr txBox="1"/>
          <p:nvPr/>
        </p:nvSpPr>
        <p:spPr>
          <a:xfrm>
            <a:off x="822960" y="3017520"/>
            <a:ext cx="2926080" cy="1828800"/>
          </a:xfrm>
          <a:prstGeom prst="rect">
            <a:avLst/>
          </a:prstGeom>
          <a:noFill/>
          <a:ln/>
        </p:spPr>
        <p:txBody>
          <a:bodyPr wrap="square" lIns="0" tIns="0" rIns="0" bIns="0" rtlCol="0" anchor="t"/>
          <a:lstStyle/>
          <a:p>
            <a:pPr indent="0" marL="0">
              <a:buNone/>
            </a:pPr>
            <a:r>
              <a:rPr lang="en-US" altLang="en-US" sz="2400" b="1" i="1" dirty="0">
                <a:solidFill>
                  <a:schemeClr val="bg1"/>
                </a:solidFill>
                <a:latin typeface="+mj-lt" pitchFamily="34" charset="0"/>
                <a:ea typeface="+mj-lt" pitchFamily="34" charset="-122"/>
                <a:cs typeface="+mj-lt" pitchFamily="34" charset="-120"/>
              </a:rPr>
              <a:t>From this day forward, it’s going to be only America first.</a:t>
            </a:r>
            <a:endParaRPr lang="en-US" sz="2400" dirty="0"/>
          </a:p>
        </p:txBody>
      </p:sp>
      <p:sp>
        <p:nvSpPr>
          <p:cNvPr id="8" name="Text 6"/>
          <p:cNvSpPr txBox="1"/>
          <p:nvPr/>
        </p:nvSpPr>
        <p:spPr>
          <a:xfrm>
            <a:off x="822960" y="5029200"/>
            <a:ext cx="2926080" cy="274320"/>
          </a:xfrm>
          <a:prstGeom prst="rect">
            <a:avLst/>
          </a:prstGeom>
          <a:noFill/>
          <a:ln/>
        </p:spPr>
        <p:txBody>
          <a:bodyPr wrap="square" lIns="0" tIns="0" rIns="0" bIns="0" rtlCol="0" anchor="t"/>
          <a:lstStyle/>
          <a:p>
            <a:pPr indent="0" marL="0">
              <a:buNone/>
            </a:pPr>
            <a:r>
              <a:rPr lang="en-US" altLang="en-US" sz="1400" dirty="0">
                <a:solidFill>
                  <a:schemeClr val="accent3"/>
                </a:solidFill>
              </a:rPr>
              <a:t>Inaugural address, Jan 20, 2017</a:t>
            </a:r>
            <a:endParaRPr lang="en-US" sz="1400" dirty="0"/>
          </a:p>
        </p:txBody>
      </p:sp>
      <p:sp>
        <p:nvSpPr>
          <p:cNvPr id="9" name="Text 7"/>
          <p:cNvSpPr txBox="1"/>
          <p:nvPr/>
        </p:nvSpPr>
        <p:spPr>
          <a:xfrm>
            <a:off x="4251960" y="1737360"/>
            <a:ext cx="3657600" cy="228600"/>
          </a:xfrm>
          <a:prstGeom prst="rect">
            <a:avLst/>
          </a:prstGeom>
          <a:noFill/>
          <a:ln/>
        </p:spPr>
        <p:txBody>
          <a:bodyPr wrap="square" lIns="0" tIns="0" rIns="0" bIns="0" rtlCol="0" anchor="t"/>
          <a:lstStyle/>
          <a:p>
            <a:pPr indent="0" marL="0">
              <a:buNone/>
            </a:pPr>
            <a:r>
              <a:rPr lang="en-US" altLang="en-US" sz="1200" b="1" spc="200" kern="0" dirty="0">
                <a:solidFill>
                  <a:schemeClr val="accent1"/>
                </a:solidFill>
              </a:rPr>
              <a:t>AT THE BORDER</a:t>
            </a:r>
            <a:endParaRPr lang="en-US" sz="1200" dirty="0"/>
          </a:p>
        </p:txBody>
      </p:sp>
      <p:sp>
        <p:nvSpPr>
          <p:cNvPr id="10" name="Shape 8"/>
          <p:cNvSpPr/>
          <p:nvPr/>
        </p:nvSpPr>
        <p:spPr>
          <a:xfrm>
            <a:off x="4251960" y="2039112"/>
            <a:ext cx="2341778" cy="1586484"/>
          </a:xfrm>
          <a:prstGeom prst="roundRect">
            <a:avLst>
              <a:gd name="adj" fmla="val 6916"/>
            </a:avLst>
          </a:prstGeom>
          <a:solidFill>
            <a:schemeClr val="bg2"/>
          </a:solidFill>
          <a:ln/>
        </p:spPr>
      </p:sp>
      <p:sp>
        <p:nvSpPr>
          <p:cNvPr id="11" name="Text 9"/>
          <p:cNvSpPr txBox="1"/>
          <p:nvPr/>
        </p:nvSpPr>
        <p:spPr>
          <a:xfrm>
            <a:off x="4480560" y="2221992"/>
            <a:ext cx="1930298" cy="411480"/>
          </a:xfrm>
          <a:prstGeom prst="rect">
            <a:avLst/>
          </a:prstGeom>
          <a:noFill/>
          <a:ln/>
        </p:spPr>
        <p:txBody>
          <a:bodyPr wrap="square" lIns="0" tIns="0" rIns="0" bIns="0" rtlCol="0" anchor="t"/>
          <a:lstStyle/>
          <a:p>
            <a:pPr indent="0" marL="0">
              <a:buNone/>
            </a:pPr>
            <a:r>
              <a:rPr lang="en-US" altLang="en-US" sz="2400" b="1" dirty="0">
                <a:solidFill>
                  <a:schemeClr val="tx1"/>
                </a:solidFill>
              </a:rPr>
              <a:t>7 countries</a:t>
            </a:r>
            <a:endParaRPr lang="en-US" sz="2400" dirty="0"/>
          </a:p>
        </p:txBody>
      </p:sp>
      <p:sp>
        <p:nvSpPr>
          <p:cNvPr id="12" name="Text 10"/>
          <p:cNvSpPr txBox="1"/>
          <p:nvPr/>
        </p:nvSpPr>
        <p:spPr>
          <a:xfrm>
            <a:off x="4480560" y="2679192"/>
            <a:ext cx="1930298" cy="868680"/>
          </a:xfrm>
          <a:prstGeom prst="rect">
            <a:avLst/>
          </a:prstGeom>
          <a:noFill/>
          <a:ln/>
        </p:spPr>
        <p:txBody>
          <a:bodyPr wrap="square" lIns="0" tIns="0" rIns="0" bIns="0" rtlCol="0" anchor="t"/>
          <a:lstStyle/>
          <a:p>
            <a:pPr indent="0" marL="0">
              <a:buNone/>
            </a:pPr>
            <a:r>
              <a:rPr lang="en-US" altLang="en-US" sz="1400" dirty="0">
                <a:solidFill>
                  <a:schemeClr val="tx2"/>
                </a:solidFill>
              </a:rPr>
              <a:t>travel ban on mostly Muslim nations (2017)</a:t>
            </a:r>
            <a:endParaRPr lang="en-US" sz="1400" dirty="0"/>
          </a:p>
        </p:txBody>
      </p:sp>
      <p:sp>
        <p:nvSpPr>
          <p:cNvPr id="13" name="Shape 11"/>
          <p:cNvSpPr/>
          <p:nvPr/>
        </p:nvSpPr>
        <p:spPr>
          <a:xfrm>
            <a:off x="6776618" y="2039112"/>
            <a:ext cx="2341778" cy="1586484"/>
          </a:xfrm>
          <a:prstGeom prst="roundRect">
            <a:avLst>
              <a:gd name="adj" fmla="val 6916"/>
            </a:avLst>
          </a:prstGeom>
          <a:solidFill>
            <a:schemeClr val="bg2"/>
          </a:solidFill>
          <a:ln/>
        </p:spPr>
      </p:sp>
      <p:sp>
        <p:nvSpPr>
          <p:cNvPr id="14" name="Text 12"/>
          <p:cNvSpPr txBox="1"/>
          <p:nvPr/>
        </p:nvSpPr>
        <p:spPr>
          <a:xfrm>
            <a:off x="7005218" y="2221992"/>
            <a:ext cx="1930298" cy="411480"/>
          </a:xfrm>
          <a:prstGeom prst="rect">
            <a:avLst/>
          </a:prstGeom>
          <a:noFill/>
          <a:ln/>
        </p:spPr>
        <p:txBody>
          <a:bodyPr wrap="square" lIns="0" tIns="0" rIns="0" bIns="0" rtlCol="0" anchor="t"/>
          <a:lstStyle/>
          <a:p>
            <a:pPr indent="0" marL="0">
              <a:buNone/>
            </a:pPr>
            <a:r>
              <a:rPr lang="en-US" altLang="en-US" sz="2400" b="1" dirty="0">
                <a:solidFill>
                  <a:schemeClr val="tx1"/>
                </a:solidFill>
              </a:rPr>
              <a:t>35 days</a:t>
            </a:r>
            <a:endParaRPr lang="en-US" sz="2400" dirty="0"/>
          </a:p>
        </p:txBody>
      </p:sp>
      <p:sp>
        <p:nvSpPr>
          <p:cNvPr id="15" name="Text 13"/>
          <p:cNvSpPr txBox="1"/>
          <p:nvPr/>
        </p:nvSpPr>
        <p:spPr>
          <a:xfrm>
            <a:off x="7005218" y="2679192"/>
            <a:ext cx="1930298" cy="868680"/>
          </a:xfrm>
          <a:prstGeom prst="rect">
            <a:avLst/>
          </a:prstGeom>
          <a:noFill/>
          <a:ln/>
        </p:spPr>
        <p:txBody>
          <a:bodyPr wrap="square" lIns="0" tIns="0" rIns="0" bIns="0" rtlCol="0" anchor="t"/>
          <a:lstStyle/>
          <a:p>
            <a:pPr indent="0" marL="0">
              <a:buNone/>
            </a:pPr>
            <a:r>
              <a:rPr lang="en-US" altLang="en-US" sz="1400" dirty="0">
                <a:solidFill>
                  <a:schemeClr val="tx2"/>
                </a:solidFill>
              </a:rPr>
              <a:t>longest shutdown in U.S. history, over wall funding</a:t>
            </a:r>
            <a:endParaRPr lang="en-US" sz="1400" dirty="0"/>
          </a:p>
        </p:txBody>
      </p:sp>
      <p:sp>
        <p:nvSpPr>
          <p:cNvPr id="16" name="Shape 14"/>
          <p:cNvSpPr/>
          <p:nvPr/>
        </p:nvSpPr>
        <p:spPr>
          <a:xfrm>
            <a:off x="9301277" y="2039112"/>
            <a:ext cx="2341778" cy="1586484"/>
          </a:xfrm>
          <a:prstGeom prst="roundRect">
            <a:avLst>
              <a:gd name="adj" fmla="val 6916"/>
            </a:avLst>
          </a:prstGeom>
          <a:solidFill>
            <a:schemeClr val="bg2"/>
          </a:solidFill>
          <a:ln/>
        </p:spPr>
      </p:sp>
      <p:sp>
        <p:nvSpPr>
          <p:cNvPr id="17" name="Text 15"/>
          <p:cNvSpPr txBox="1"/>
          <p:nvPr/>
        </p:nvSpPr>
        <p:spPr>
          <a:xfrm>
            <a:off x="9529877" y="2221992"/>
            <a:ext cx="1930298" cy="411480"/>
          </a:xfrm>
          <a:prstGeom prst="rect">
            <a:avLst/>
          </a:prstGeom>
          <a:noFill/>
          <a:ln/>
        </p:spPr>
        <p:txBody>
          <a:bodyPr wrap="square" lIns="0" tIns="0" rIns="0" bIns="0" rtlCol="0" anchor="t"/>
          <a:lstStyle/>
          <a:p>
            <a:pPr indent="0" marL="0">
              <a:buNone/>
            </a:pPr>
            <a:r>
              <a:rPr lang="en-US" altLang="en-US" sz="2400" b="1" dirty="0">
                <a:solidFill>
                  <a:schemeClr val="tx1"/>
                </a:solidFill>
              </a:rPr>
              <a:t>3,900+</a:t>
            </a:r>
            <a:endParaRPr lang="en-US" sz="2400" dirty="0"/>
          </a:p>
        </p:txBody>
      </p:sp>
      <p:sp>
        <p:nvSpPr>
          <p:cNvPr id="18" name="Text 16"/>
          <p:cNvSpPr txBox="1"/>
          <p:nvPr/>
        </p:nvSpPr>
        <p:spPr>
          <a:xfrm>
            <a:off x="9529877" y="2679192"/>
            <a:ext cx="1930298" cy="868680"/>
          </a:xfrm>
          <a:prstGeom prst="rect">
            <a:avLst/>
          </a:prstGeom>
          <a:noFill/>
          <a:ln/>
        </p:spPr>
        <p:txBody>
          <a:bodyPr wrap="square" lIns="0" tIns="0" rIns="0" bIns="0" rtlCol="0" anchor="t"/>
          <a:lstStyle/>
          <a:p>
            <a:pPr indent="0" marL="0">
              <a:buNone/>
            </a:pPr>
            <a:r>
              <a:rPr lang="en-US" altLang="en-US" sz="1400" dirty="0">
                <a:solidFill>
                  <a:schemeClr val="tx2"/>
                </a:solidFill>
              </a:rPr>
              <a:t>children separated from their parents at the border</a:t>
            </a:r>
            <a:endParaRPr lang="en-US" sz="1400" dirty="0"/>
          </a:p>
        </p:txBody>
      </p:sp>
      <p:sp>
        <p:nvSpPr>
          <p:cNvPr id="19" name="Text 17"/>
          <p:cNvSpPr txBox="1"/>
          <p:nvPr/>
        </p:nvSpPr>
        <p:spPr>
          <a:xfrm>
            <a:off x="4251960" y="3826764"/>
            <a:ext cx="3657600" cy="228600"/>
          </a:xfrm>
          <a:prstGeom prst="rect">
            <a:avLst/>
          </a:prstGeom>
          <a:noFill/>
          <a:ln/>
        </p:spPr>
        <p:txBody>
          <a:bodyPr wrap="square" lIns="0" tIns="0" rIns="0" bIns="0" rtlCol="0" anchor="t"/>
          <a:lstStyle/>
          <a:p>
            <a:pPr indent="0" marL="0">
              <a:buNone/>
            </a:pPr>
            <a:r>
              <a:rPr lang="en-US" altLang="en-US" sz="1200" b="1" spc="200" kern="0" dirty="0">
                <a:solidFill>
                  <a:schemeClr val="accent1"/>
                </a:solidFill>
              </a:rPr>
              <a:t>AROUND THE WORLD</a:t>
            </a:r>
            <a:endParaRPr lang="en-US" sz="1200" dirty="0"/>
          </a:p>
        </p:txBody>
      </p:sp>
      <p:sp>
        <p:nvSpPr>
          <p:cNvPr id="20" name="Shape 18"/>
          <p:cNvSpPr/>
          <p:nvPr/>
        </p:nvSpPr>
        <p:spPr>
          <a:xfrm>
            <a:off x="4251960" y="4128516"/>
            <a:ext cx="2341778" cy="1586484"/>
          </a:xfrm>
          <a:prstGeom prst="roundRect">
            <a:avLst>
              <a:gd name="adj" fmla="val 6916"/>
            </a:avLst>
          </a:prstGeom>
          <a:solidFill>
            <a:schemeClr val="bg2"/>
          </a:solidFill>
          <a:ln/>
        </p:spPr>
      </p:sp>
      <p:sp>
        <p:nvSpPr>
          <p:cNvPr id="21" name="Text 19"/>
          <p:cNvSpPr txBox="1"/>
          <p:nvPr/>
        </p:nvSpPr>
        <p:spPr>
          <a:xfrm>
            <a:off x="4480560" y="4311396"/>
            <a:ext cx="1930298" cy="411480"/>
          </a:xfrm>
          <a:prstGeom prst="rect">
            <a:avLst/>
          </a:prstGeom>
          <a:noFill/>
          <a:ln/>
        </p:spPr>
        <p:txBody>
          <a:bodyPr wrap="square" lIns="0" tIns="0" rIns="0" bIns="0" rtlCol="0" anchor="t"/>
          <a:lstStyle/>
          <a:p>
            <a:pPr indent="0" marL="0">
              <a:buNone/>
            </a:pPr>
            <a:r>
              <a:rPr lang="en-US" altLang="en-US" sz="2400" b="1" dirty="0">
                <a:solidFill>
                  <a:schemeClr val="tx1"/>
                </a:solidFill>
              </a:rPr>
              <a:t>Paris &amp; Iran</a:t>
            </a:r>
            <a:endParaRPr lang="en-US" sz="2400" dirty="0"/>
          </a:p>
        </p:txBody>
      </p:sp>
      <p:sp>
        <p:nvSpPr>
          <p:cNvPr id="22" name="Text 20"/>
          <p:cNvSpPr txBox="1"/>
          <p:nvPr/>
        </p:nvSpPr>
        <p:spPr>
          <a:xfrm>
            <a:off x="4480560" y="4768596"/>
            <a:ext cx="1930298" cy="868680"/>
          </a:xfrm>
          <a:prstGeom prst="rect">
            <a:avLst/>
          </a:prstGeom>
          <a:noFill/>
          <a:ln/>
        </p:spPr>
        <p:txBody>
          <a:bodyPr wrap="square" lIns="0" tIns="0" rIns="0" bIns="0" rtlCol="0" anchor="t"/>
          <a:lstStyle/>
          <a:p>
            <a:pPr indent="0" marL="0">
              <a:buNone/>
            </a:pPr>
            <a:r>
              <a:rPr lang="en-US" altLang="en-US" sz="1400" dirty="0">
                <a:solidFill>
                  <a:schemeClr val="tx2"/>
                </a:solidFill>
              </a:rPr>
              <a:t>exits from the climate accord and the Iran nuclear deal</a:t>
            </a:r>
            <a:endParaRPr lang="en-US" sz="1400" dirty="0"/>
          </a:p>
        </p:txBody>
      </p:sp>
      <p:sp>
        <p:nvSpPr>
          <p:cNvPr id="23" name="Shape 21"/>
          <p:cNvSpPr/>
          <p:nvPr/>
        </p:nvSpPr>
        <p:spPr>
          <a:xfrm>
            <a:off x="6776618" y="4128516"/>
            <a:ext cx="2341778" cy="1586484"/>
          </a:xfrm>
          <a:prstGeom prst="roundRect">
            <a:avLst>
              <a:gd name="adj" fmla="val 6916"/>
            </a:avLst>
          </a:prstGeom>
          <a:solidFill>
            <a:schemeClr val="bg2"/>
          </a:solidFill>
          <a:ln/>
        </p:spPr>
      </p:sp>
      <p:sp>
        <p:nvSpPr>
          <p:cNvPr id="24" name="Text 22"/>
          <p:cNvSpPr txBox="1"/>
          <p:nvPr/>
        </p:nvSpPr>
        <p:spPr>
          <a:xfrm>
            <a:off x="7005218" y="4311396"/>
            <a:ext cx="1930298" cy="411480"/>
          </a:xfrm>
          <a:prstGeom prst="rect">
            <a:avLst/>
          </a:prstGeom>
          <a:noFill/>
          <a:ln/>
        </p:spPr>
        <p:txBody>
          <a:bodyPr wrap="square" lIns="0" tIns="0" rIns="0" bIns="0" rtlCol="0" anchor="t"/>
          <a:lstStyle/>
          <a:p>
            <a:pPr indent="0" marL="0">
              <a:buNone/>
            </a:pPr>
            <a:r>
              <a:rPr lang="en-US" altLang="en-US" sz="2400" b="1" dirty="0">
                <a:solidFill>
                  <a:schemeClr val="tx1"/>
                </a:solidFill>
              </a:rPr>
              <a:t>North Korea</a:t>
            </a:r>
            <a:endParaRPr lang="en-US" sz="2400" dirty="0"/>
          </a:p>
        </p:txBody>
      </p:sp>
      <p:sp>
        <p:nvSpPr>
          <p:cNvPr id="25" name="Text 23"/>
          <p:cNvSpPr txBox="1"/>
          <p:nvPr/>
        </p:nvSpPr>
        <p:spPr>
          <a:xfrm>
            <a:off x="7005218" y="4768596"/>
            <a:ext cx="1930298" cy="868680"/>
          </a:xfrm>
          <a:prstGeom prst="rect">
            <a:avLst/>
          </a:prstGeom>
          <a:noFill/>
          <a:ln/>
        </p:spPr>
        <p:txBody>
          <a:bodyPr wrap="square" lIns="0" tIns="0" rIns="0" bIns="0" rtlCol="0" anchor="t"/>
          <a:lstStyle/>
          <a:p>
            <a:pPr indent="0" marL="0">
              <a:buNone/>
            </a:pPr>
            <a:r>
              <a:rPr lang="en-US" altLang="en-US" sz="1400" dirty="0">
                <a:solidFill>
                  <a:schemeClr val="tx2"/>
                </a:solidFill>
              </a:rPr>
              <a:t>Kim Jong-un: first summit (2018), but no disarmament</a:t>
            </a:r>
            <a:endParaRPr lang="en-US" sz="1400" dirty="0"/>
          </a:p>
        </p:txBody>
      </p:sp>
      <p:sp>
        <p:nvSpPr>
          <p:cNvPr id="26" name="Shape 24"/>
          <p:cNvSpPr/>
          <p:nvPr/>
        </p:nvSpPr>
        <p:spPr>
          <a:xfrm>
            <a:off x="9301277" y="4128516"/>
            <a:ext cx="2341778" cy="1586484"/>
          </a:xfrm>
          <a:prstGeom prst="roundRect">
            <a:avLst>
              <a:gd name="adj" fmla="val 6916"/>
            </a:avLst>
          </a:prstGeom>
          <a:solidFill>
            <a:schemeClr val="bg2"/>
          </a:solidFill>
          <a:ln/>
        </p:spPr>
      </p:sp>
      <p:sp>
        <p:nvSpPr>
          <p:cNvPr id="27" name="Text 25"/>
          <p:cNvSpPr txBox="1"/>
          <p:nvPr/>
        </p:nvSpPr>
        <p:spPr>
          <a:xfrm>
            <a:off x="9529877" y="4311396"/>
            <a:ext cx="1930298" cy="411480"/>
          </a:xfrm>
          <a:prstGeom prst="rect">
            <a:avLst/>
          </a:prstGeom>
          <a:noFill/>
          <a:ln/>
        </p:spPr>
        <p:txBody>
          <a:bodyPr wrap="square" lIns="0" tIns="0" rIns="0" bIns="0" rtlCol="0" anchor="t"/>
          <a:lstStyle/>
          <a:p>
            <a:pPr indent="0" marL="0">
              <a:buNone/>
            </a:pPr>
            <a:r>
              <a:rPr lang="en-US" altLang="en-US" sz="2400" b="1" dirty="0">
                <a:solidFill>
                  <a:schemeClr val="tx1"/>
                </a:solidFill>
              </a:rPr>
              <a:t>Middle East</a:t>
            </a:r>
            <a:endParaRPr lang="en-US" sz="2400" dirty="0"/>
          </a:p>
        </p:txBody>
      </p:sp>
      <p:sp>
        <p:nvSpPr>
          <p:cNvPr id="28" name="Text 26"/>
          <p:cNvSpPr txBox="1"/>
          <p:nvPr/>
        </p:nvSpPr>
        <p:spPr>
          <a:xfrm>
            <a:off x="9529877" y="4768596"/>
            <a:ext cx="1930298" cy="868680"/>
          </a:xfrm>
          <a:prstGeom prst="rect">
            <a:avLst/>
          </a:prstGeom>
          <a:noFill/>
          <a:ln/>
        </p:spPr>
        <p:txBody>
          <a:bodyPr wrap="square" lIns="0" tIns="0" rIns="0" bIns="0" rtlCol="0" anchor="t"/>
          <a:lstStyle/>
          <a:p>
            <a:pPr indent="0" marL="0">
              <a:buNone/>
            </a:pPr>
            <a:r>
              <a:rPr lang="en-US" altLang="en-US" sz="1400" dirty="0">
                <a:solidFill>
                  <a:schemeClr val="tx2"/>
                </a:solidFill>
              </a:rPr>
              <a:t>Abraham Accords (2020): Israel opens ties with UAE and Bahrain</a:t>
            </a:r>
            <a:endParaRPr lang="en-US" sz="1400" dirty="0"/>
          </a:p>
        </p:txBody>
      </p:sp>
      <p:sp>
        <p:nvSpPr>
          <p:cNvPr id="29" name="!!tl-span"/>
          <p:cNvSpPr/>
          <p:nvPr/>
        </p:nvSpPr>
        <p:spPr>
          <a:xfrm>
            <a:off x="725514" y="6117336"/>
            <a:ext cx="9027371" cy="54864"/>
          </a:xfrm>
          <a:prstGeom prst="rect">
            <a:avLst/>
          </a:prstGeom>
          <a:solidFill>
            <a:schemeClr val="accent1"/>
          </a:solidFill>
          <a:ln/>
        </p:spPr>
      </p:sp>
      <p:sp>
        <p:nvSpPr>
          <p:cNvPr id="30" name="!!tl-d1"/>
          <p:cNvSpPr/>
          <p:nvPr/>
        </p:nvSpPr>
        <p:spPr>
          <a:xfrm>
            <a:off x="643218" y="6062472"/>
            <a:ext cx="164592" cy="164592"/>
          </a:xfrm>
          <a:prstGeom prst="ellipse">
            <a:avLst/>
          </a:prstGeom>
          <a:solidFill>
            <a:schemeClr val="accent1"/>
          </a:solidFill>
          <a:ln w="19050">
            <a:solidFill>
              <a:schemeClr val="bg1"/>
            </a:solidFill>
            <a:prstDash val="solid"/>
          </a:ln>
        </p:spPr>
      </p:sp>
      <p:sp>
        <p:nvSpPr>
          <p:cNvPr id="31" name="!!tl-d2"/>
          <p:cNvSpPr/>
          <p:nvPr/>
        </p:nvSpPr>
        <p:spPr>
          <a:xfrm>
            <a:off x="4051442" y="6062472"/>
            <a:ext cx="164592" cy="164592"/>
          </a:xfrm>
          <a:prstGeom prst="ellipse">
            <a:avLst/>
          </a:prstGeom>
          <a:solidFill>
            <a:schemeClr val="accent1"/>
          </a:solidFill>
          <a:ln w="19050">
            <a:solidFill>
              <a:schemeClr val="bg1"/>
            </a:solidFill>
            <a:prstDash val="solid"/>
          </a:ln>
        </p:spPr>
      </p:sp>
      <p:sp>
        <p:nvSpPr>
          <p:cNvPr id="32" name="!!tl-d3"/>
          <p:cNvSpPr/>
          <p:nvPr/>
        </p:nvSpPr>
        <p:spPr>
          <a:xfrm>
            <a:off x="5364390" y="6062472"/>
            <a:ext cx="164592" cy="164592"/>
          </a:xfrm>
          <a:prstGeom prst="ellipse">
            <a:avLst/>
          </a:prstGeom>
          <a:solidFill>
            <a:schemeClr val="accent1"/>
          </a:solidFill>
          <a:ln w="19050">
            <a:solidFill>
              <a:schemeClr val="bg1"/>
            </a:solidFill>
            <a:prstDash val="solid"/>
          </a:ln>
        </p:spPr>
      </p:sp>
      <p:sp>
        <p:nvSpPr>
          <p:cNvPr id="33" name="!!tl-d4"/>
          <p:cNvSpPr/>
          <p:nvPr/>
        </p:nvSpPr>
        <p:spPr>
          <a:xfrm>
            <a:off x="9670589"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05 · COVID-19 · 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From Boom to Bust</a:t>
            </a:r>
            <a:endParaRPr lang="en-US" sz="3600" dirty="0"/>
          </a:p>
        </p:txBody>
      </p:sp>
      <p:sp>
        <p:nvSpPr>
          <p:cNvPr id="4" name="Text 2"/>
          <p:cNvSpPr txBox="1"/>
          <p:nvPr/>
        </p:nvSpPr>
        <p:spPr>
          <a:xfrm>
            <a:off x="548640" y="1737360"/>
            <a:ext cx="6949440" cy="274320"/>
          </a:xfrm>
          <a:prstGeom prst="rect">
            <a:avLst/>
          </a:prstGeom>
          <a:noFill/>
          <a:ln/>
        </p:spPr>
        <p:txBody>
          <a:bodyPr wrap="square" lIns="0" tIns="0" rIns="0" bIns="0" rtlCol="0" anchor="t"/>
          <a:lstStyle/>
          <a:p>
            <a:pPr indent="0" marL="0">
              <a:buNone/>
            </a:pPr>
            <a:r>
              <a:rPr lang="en-US" altLang="en-US" sz="1400" b="1" dirty="0">
                <a:solidFill>
                  <a:schemeClr val="tx1"/>
                </a:solidFill>
              </a:rPr>
              <a:t>U.S. unemployment rate (%), monthly</a:t>
            </a:r>
            <a:endParaRPr lang="en-US" sz="1400" dirty="0"/>
          </a:p>
        </p:txBody>
      </p:sp>
      <p:graphicFrame>
        <p:nvGraphicFramePr>
          <p:cNvPr id="5" name="Chart 0" descr=""/>
          <p:cNvGraphicFramePr/>
          <p:nvPr/>
        </p:nvGraphicFramePr>
        <p:xfrm>
          <a:off x="457200" y="2057400"/>
          <a:ext cx="717804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828032"/>
            <a:ext cx="6949440" cy="201168"/>
          </a:xfrm>
          <a:prstGeom prst="rect">
            <a:avLst/>
          </a:prstGeom>
          <a:noFill/>
          <a:ln/>
        </p:spPr>
        <p:txBody>
          <a:bodyPr wrap="square" lIns="0" tIns="0" rIns="0" bIns="0" rtlCol="0" anchor="t"/>
          <a:lstStyle/>
          <a:p>
            <a:pPr indent="0" marL="0">
              <a:buNone/>
            </a:pPr>
            <a:r>
              <a:rPr lang="en-US" altLang="en-US" sz="1000" dirty="0">
                <a:solidFill>
                  <a:srgbClr val="6B7488"/>
                </a:solidFill>
              </a:rPr>
              <a:t>Source: U.S. Bureau of Labor Statistics, seasonally adjusted</a:t>
            </a:r>
            <a:endParaRPr lang="en-US" sz="1000" dirty="0"/>
          </a:p>
        </p:txBody>
      </p:sp>
      <p:sp>
        <p:nvSpPr>
          <p:cNvPr id="7" name="Text 4"/>
          <p:cNvSpPr txBox="1"/>
          <p:nvPr/>
        </p:nvSpPr>
        <p:spPr>
          <a:xfrm>
            <a:off x="512064" y="4956048"/>
            <a:ext cx="457200" cy="731520"/>
          </a:xfrm>
          <a:prstGeom prst="rect">
            <a:avLst/>
          </a:prstGeom>
          <a:noFill/>
          <a:ln/>
        </p:spPr>
        <p:txBody>
          <a:bodyPr wrap="square" lIns="0" tIns="0" rIns="0" bIns="0" rtlCol="0" anchor="t"/>
          <a:lstStyle/>
          <a:p>
            <a:pPr indent="0" marL="0">
              <a:buNone/>
            </a:pPr>
            <a:r>
              <a:rPr lang="en-US" altLang="en-US" sz="5400" b="1" dirty="0">
                <a:solidFill>
                  <a:schemeClr val="accent1"/>
                </a:solidFill>
                <a:latin typeface="+mj-lt" pitchFamily="34" charset="0"/>
                <a:ea typeface="+mj-lt" pitchFamily="34" charset="-122"/>
                <a:cs typeface="+mj-lt" pitchFamily="34" charset="-120"/>
              </a:rPr>
              <a:t>“</a:t>
            </a:r>
            <a:endParaRPr lang="en-US" sz="5400" dirty="0"/>
          </a:p>
        </p:txBody>
      </p:sp>
      <p:sp>
        <p:nvSpPr>
          <p:cNvPr id="8" name="Text 5"/>
          <p:cNvSpPr txBox="1"/>
          <p:nvPr/>
        </p:nvSpPr>
        <p:spPr>
          <a:xfrm>
            <a:off x="960120" y="5047488"/>
            <a:ext cx="6492240" cy="365760"/>
          </a:xfrm>
          <a:prstGeom prst="rect">
            <a:avLst/>
          </a:prstGeom>
          <a:noFill/>
          <a:ln/>
        </p:spPr>
        <p:txBody>
          <a:bodyPr wrap="square" lIns="0" tIns="0" rIns="0" bIns="0" rtlCol="0" anchor="t"/>
          <a:lstStyle/>
          <a:p>
            <a:pPr indent="0" marL="0">
              <a:buNone/>
            </a:pPr>
            <a:r>
              <a:rPr lang="en-US" altLang="en-US" sz="2000" b="1" i="1" dirty="0">
                <a:solidFill>
                  <a:schemeClr val="tx1"/>
                </a:solidFill>
                <a:latin typeface="+mj-lt" pitchFamily="34" charset="0"/>
                <a:ea typeface="+mj-lt" pitchFamily="34" charset="-122"/>
                <a:cs typeface="+mj-lt" pitchFamily="34" charset="-120"/>
              </a:rPr>
              <a:t>I wanted to always play it down.</a:t>
            </a:r>
            <a:endParaRPr lang="en-US" sz="2000" dirty="0"/>
          </a:p>
        </p:txBody>
      </p:sp>
      <p:sp>
        <p:nvSpPr>
          <p:cNvPr id="9" name="Text 6"/>
          <p:cNvSpPr txBox="1"/>
          <p:nvPr/>
        </p:nvSpPr>
        <p:spPr>
          <a:xfrm>
            <a:off x="960120" y="5422392"/>
            <a:ext cx="6492240" cy="274320"/>
          </a:xfrm>
          <a:prstGeom prst="rect">
            <a:avLst/>
          </a:prstGeom>
          <a:noFill/>
          <a:ln/>
        </p:spPr>
        <p:txBody>
          <a:bodyPr wrap="square" lIns="0" tIns="0" rIns="0" bIns="0" rtlCol="0" anchor="t"/>
          <a:lstStyle/>
          <a:p>
            <a:pPr indent="0" marL="0">
              <a:buNone/>
            </a:pPr>
            <a:r>
              <a:rPr lang="en-US" altLang="en-US" sz="1200" dirty="0">
                <a:solidFill>
                  <a:schemeClr val="tx2"/>
                </a:solidFill>
              </a:rPr>
              <a:t>Trump to journalist Bob Woodward, March 2020</a:t>
            </a:r>
            <a:endParaRPr lang="en-US" sz="1200" dirty="0"/>
          </a:p>
        </p:txBody>
      </p:sp>
      <p:sp>
        <p:nvSpPr>
          <p:cNvPr id="10" name="Shape 7"/>
          <p:cNvSpPr/>
          <p:nvPr/>
        </p:nvSpPr>
        <p:spPr>
          <a:xfrm>
            <a:off x="8001000" y="1737360"/>
            <a:ext cx="3642055" cy="1207008"/>
          </a:xfrm>
          <a:prstGeom prst="roundRect">
            <a:avLst>
              <a:gd name="adj" fmla="val 9091"/>
            </a:avLst>
          </a:prstGeom>
          <a:solidFill>
            <a:schemeClr val="tx1"/>
          </a:solidFill>
          <a:ln/>
        </p:spPr>
      </p:sp>
      <p:sp>
        <p:nvSpPr>
          <p:cNvPr id="11" name="Text 8"/>
          <p:cNvSpPr txBox="1"/>
          <p:nvPr/>
        </p:nvSpPr>
        <p:spPr>
          <a:xfrm>
            <a:off x="8275320" y="1892808"/>
            <a:ext cx="3184855" cy="457200"/>
          </a:xfrm>
          <a:prstGeom prst="rect">
            <a:avLst/>
          </a:prstGeom>
          <a:noFill/>
          <a:ln/>
        </p:spPr>
        <p:txBody>
          <a:bodyPr wrap="square" lIns="0" tIns="0" rIns="0" bIns="0" rtlCol="0" anchor="t"/>
          <a:lstStyle/>
          <a:p>
            <a:pPr indent="0" marL="0">
              <a:buNone/>
            </a:pPr>
            <a:r>
              <a:rPr lang="en-US" altLang="en-US" sz="2800" b="1" dirty="0">
                <a:solidFill>
                  <a:schemeClr val="bg1"/>
                </a:solidFill>
              </a:rPr>
              <a:t>$2.2 trillion</a:t>
            </a:r>
            <a:endParaRPr lang="en-US" sz="2800" dirty="0"/>
          </a:p>
        </p:txBody>
      </p:sp>
      <p:sp>
        <p:nvSpPr>
          <p:cNvPr id="12" name="Text 9"/>
          <p:cNvSpPr txBox="1"/>
          <p:nvPr/>
        </p:nvSpPr>
        <p:spPr>
          <a:xfrm>
            <a:off x="8275320" y="2359152"/>
            <a:ext cx="3184855" cy="502920"/>
          </a:xfrm>
          <a:prstGeom prst="rect">
            <a:avLst/>
          </a:prstGeom>
          <a:noFill/>
          <a:ln/>
        </p:spPr>
        <p:txBody>
          <a:bodyPr wrap="square" lIns="0" tIns="0" rIns="0" bIns="0" rtlCol="0" anchor="t"/>
          <a:lstStyle/>
          <a:p>
            <a:pPr indent="0" marL="0">
              <a:buNone/>
            </a:pPr>
            <a:r>
              <a:rPr lang="en-US" altLang="en-US" sz="1400" dirty="0">
                <a:solidFill>
                  <a:schemeClr val="accent3"/>
                </a:solidFill>
              </a:rPr>
              <a:t>CARES Act (March 2020), the largest relief package in U.S. history</a:t>
            </a:r>
            <a:endParaRPr lang="en-US" sz="1400" dirty="0"/>
          </a:p>
        </p:txBody>
      </p:sp>
      <p:sp>
        <p:nvSpPr>
          <p:cNvPr id="13" name="Shape 10"/>
          <p:cNvSpPr/>
          <p:nvPr/>
        </p:nvSpPr>
        <p:spPr>
          <a:xfrm>
            <a:off x="8001000" y="3122676"/>
            <a:ext cx="3642055" cy="1207008"/>
          </a:xfrm>
          <a:prstGeom prst="roundRect">
            <a:avLst>
              <a:gd name="adj" fmla="val 9091"/>
            </a:avLst>
          </a:prstGeom>
          <a:solidFill>
            <a:schemeClr val="bg2"/>
          </a:solidFill>
          <a:ln/>
        </p:spPr>
      </p:sp>
      <p:sp>
        <p:nvSpPr>
          <p:cNvPr id="14" name="Text 11"/>
          <p:cNvSpPr txBox="1"/>
          <p:nvPr/>
        </p:nvSpPr>
        <p:spPr>
          <a:xfrm>
            <a:off x="8275320" y="3278124"/>
            <a:ext cx="3184855" cy="457200"/>
          </a:xfrm>
          <a:prstGeom prst="rect">
            <a:avLst/>
          </a:prstGeom>
          <a:noFill/>
          <a:ln/>
        </p:spPr>
        <p:txBody>
          <a:bodyPr wrap="square" lIns="0" tIns="0" rIns="0" bIns="0" rtlCol="0" anchor="t"/>
          <a:lstStyle/>
          <a:p>
            <a:pPr indent="0" marL="0">
              <a:buNone/>
            </a:pPr>
            <a:r>
              <a:rPr lang="en-US" altLang="en-US" sz="2800" b="1" dirty="0">
                <a:solidFill>
                  <a:schemeClr val="tx1"/>
                </a:solidFill>
              </a:rPr>
              <a:t>&lt; 1 year</a:t>
            </a:r>
            <a:endParaRPr lang="en-US" sz="2800" dirty="0"/>
          </a:p>
        </p:txBody>
      </p:sp>
      <p:sp>
        <p:nvSpPr>
          <p:cNvPr id="15" name="Text 12"/>
          <p:cNvSpPr txBox="1"/>
          <p:nvPr/>
        </p:nvSpPr>
        <p:spPr>
          <a:xfrm>
            <a:off x="8275320" y="3744468"/>
            <a:ext cx="3184855" cy="502920"/>
          </a:xfrm>
          <a:prstGeom prst="rect">
            <a:avLst/>
          </a:prstGeom>
          <a:noFill/>
          <a:ln/>
        </p:spPr>
        <p:txBody>
          <a:bodyPr wrap="square" lIns="0" tIns="0" rIns="0" bIns="0" rtlCol="0" anchor="t"/>
          <a:lstStyle/>
          <a:p>
            <a:pPr indent="0" marL="0">
              <a:buNone/>
            </a:pPr>
            <a:r>
              <a:rPr lang="en-US" altLang="en-US" sz="1400" dirty="0">
                <a:solidFill>
                  <a:schemeClr val="tx2"/>
                </a:solidFill>
              </a:rPr>
              <a:t>to the first approved vaccine (Operation Warp Speed)</a:t>
            </a:r>
            <a:endParaRPr lang="en-US" sz="1400" dirty="0"/>
          </a:p>
        </p:txBody>
      </p:sp>
      <p:sp>
        <p:nvSpPr>
          <p:cNvPr id="16" name="Shape 13"/>
          <p:cNvSpPr/>
          <p:nvPr/>
        </p:nvSpPr>
        <p:spPr>
          <a:xfrm>
            <a:off x="8001000" y="4507992"/>
            <a:ext cx="3642055" cy="1207008"/>
          </a:xfrm>
          <a:prstGeom prst="roundRect">
            <a:avLst>
              <a:gd name="adj" fmla="val 9091"/>
            </a:avLst>
          </a:prstGeom>
          <a:solidFill>
            <a:schemeClr val="accent1"/>
          </a:solidFill>
          <a:ln/>
        </p:spPr>
      </p:sp>
      <p:sp>
        <p:nvSpPr>
          <p:cNvPr id="17" name="Text 14"/>
          <p:cNvSpPr txBox="1"/>
          <p:nvPr/>
        </p:nvSpPr>
        <p:spPr>
          <a:xfrm>
            <a:off x="8275320" y="4663440"/>
            <a:ext cx="3184855" cy="457200"/>
          </a:xfrm>
          <a:prstGeom prst="rect">
            <a:avLst/>
          </a:prstGeom>
          <a:noFill/>
          <a:ln/>
        </p:spPr>
        <p:txBody>
          <a:bodyPr wrap="square" lIns="0" tIns="0" rIns="0" bIns="0" rtlCol="0" anchor="t"/>
          <a:lstStyle/>
          <a:p>
            <a:pPr indent="0" marL="0">
              <a:buNone/>
            </a:pPr>
            <a:r>
              <a:rPr lang="en-US" altLang="en-US" sz="2800" b="1" dirty="0">
                <a:solidFill>
                  <a:schemeClr val="bg1"/>
                </a:solidFill>
              </a:rPr>
              <a:t>400,000</a:t>
            </a:r>
            <a:endParaRPr lang="en-US" sz="2800" dirty="0"/>
          </a:p>
        </p:txBody>
      </p:sp>
      <p:sp>
        <p:nvSpPr>
          <p:cNvPr id="18" name="Text 15"/>
          <p:cNvSpPr txBox="1"/>
          <p:nvPr/>
        </p:nvSpPr>
        <p:spPr>
          <a:xfrm>
            <a:off x="8275320" y="5129784"/>
            <a:ext cx="3184855" cy="502920"/>
          </a:xfrm>
          <a:prstGeom prst="rect">
            <a:avLst/>
          </a:prstGeom>
          <a:noFill/>
          <a:ln/>
        </p:spPr>
        <p:txBody>
          <a:bodyPr wrap="square" lIns="0" tIns="0" rIns="0" bIns="0" rtlCol="0" anchor="t"/>
          <a:lstStyle/>
          <a:p>
            <a:pPr indent="0" marL="0">
              <a:buNone/>
            </a:pPr>
            <a:r>
              <a:rPr lang="en-US" altLang="en-US" sz="1400" dirty="0">
                <a:solidFill>
                  <a:schemeClr val="bg1"/>
                </a:solidFill>
              </a:rPr>
              <a:t>COVID-19 deaths in the U.S. by the end of his term</a:t>
            </a:r>
            <a:endParaRPr lang="en-US" sz="1400" dirty="0"/>
          </a:p>
        </p:txBody>
      </p:sp>
      <p:sp>
        <p:nvSpPr>
          <p:cNvPr id="19" name="!!tl-span"/>
          <p:cNvSpPr/>
          <p:nvPr/>
        </p:nvSpPr>
        <p:spPr>
          <a:xfrm>
            <a:off x="8133809" y="6117336"/>
            <a:ext cx="2476234" cy="54864"/>
          </a:xfrm>
          <a:prstGeom prst="rect">
            <a:avLst/>
          </a:prstGeom>
          <a:solidFill>
            <a:schemeClr val="accent1"/>
          </a:solidFill>
          <a:ln/>
        </p:spPr>
      </p:sp>
      <p:sp>
        <p:nvSpPr>
          <p:cNvPr id="20" name="!!tl-d1"/>
          <p:cNvSpPr/>
          <p:nvPr/>
        </p:nvSpPr>
        <p:spPr>
          <a:xfrm>
            <a:off x="8500500" y="6062472"/>
            <a:ext cx="164592" cy="164592"/>
          </a:xfrm>
          <a:prstGeom prst="ellipse">
            <a:avLst/>
          </a:prstGeom>
          <a:solidFill>
            <a:schemeClr val="accent1"/>
          </a:solidFill>
          <a:ln w="19050">
            <a:solidFill>
              <a:schemeClr val="bg1"/>
            </a:solidFill>
            <a:prstDash val="solid"/>
          </a:ln>
        </p:spPr>
      </p:sp>
      <p:sp>
        <p:nvSpPr>
          <p:cNvPr id="21" name="!!tl-d2"/>
          <p:cNvSpPr/>
          <p:nvPr/>
        </p:nvSpPr>
        <p:spPr>
          <a:xfrm>
            <a:off x="10262436"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06 · THE END · 2019–2021</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Defeat and the Storming of the Capitol</a:t>
            </a:r>
            <a:endParaRPr lang="en-US" sz="3600" dirty="0"/>
          </a:p>
        </p:txBody>
      </p:sp>
      <p:sp>
        <p:nvSpPr>
          <p:cNvPr id="4" name="Shape 2"/>
          <p:cNvSpPr/>
          <p:nvPr/>
        </p:nvSpPr>
        <p:spPr>
          <a:xfrm>
            <a:off x="548640" y="1737360"/>
            <a:ext cx="3429000" cy="1828800"/>
          </a:xfrm>
          <a:prstGeom prst="roundRect">
            <a:avLst>
              <a:gd name="adj" fmla="val 6000"/>
            </a:avLst>
          </a:prstGeom>
          <a:solidFill>
            <a:schemeClr val="accent1"/>
          </a:solidFill>
          <a:ln/>
        </p:spPr>
      </p:sp>
      <p:sp>
        <p:nvSpPr>
          <p:cNvPr id="5" name="Text 3"/>
          <p:cNvSpPr txBox="1"/>
          <p:nvPr/>
        </p:nvSpPr>
        <p:spPr>
          <a:xfrm>
            <a:off x="804672" y="2103120"/>
            <a:ext cx="1280160" cy="1097280"/>
          </a:xfrm>
          <a:prstGeom prst="rect">
            <a:avLst/>
          </a:prstGeom>
          <a:noFill/>
          <a:ln/>
        </p:spPr>
        <p:txBody>
          <a:bodyPr wrap="square" lIns="0" tIns="0" rIns="0" bIns="0" rtlCol="0" anchor="ctr"/>
          <a:lstStyle/>
          <a:p>
            <a:pPr indent="0" marL="0">
              <a:buNone/>
            </a:pPr>
            <a:r>
              <a:rPr lang="en-US" altLang="en-US" sz="6600" b="1" dirty="0">
                <a:solidFill>
                  <a:schemeClr val="bg1"/>
                </a:solidFill>
              </a:rPr>
              <a:t>2×</a:t>
            </a:r>
            <a:endParaRPr lang="en-US" sz="6600" dirty="0"/>
          </a:p>
        </p:txBody>
      </p:sp>
      <p:sp>
        <p:nvSpPr>
          <p:cNvPr id="6" name="Text 4"/>
          <p:cNvSpPr txBox="1"/>
          <p:nvPr/>
        </p:nvSpPr>
        <p:spPr>
          <a:xfrm>
            <a:off x="2148840" y="2121408"/>
            <a:ext cx="1645920" cy="274320"/>
          </a:xfrm>
          <a:prstGeom prst="rect">
            <a:avLst/>
          </a:prstGeom>
          <a:noFill/>
          <a:ln/>
        </p:spPr>
        <p:txBody>
          <a:bodyPr wrap="square" lIns="0" tIns="0" rIns="0" bIns="0" rtlCol="0" anchor="t"/>
          <a:lstStyle/>
          <a:p>
            <a:pPr indent="0" marL="0">
              <a:buNone/>
            </a:pPr>
            <a:r>
              <a:rPr lang="en-US" altLang="en-US" sz="1600" b="1" dirty="0">
                <a:solidFill>
                  <a:schemeClr val="bg1"/>
                </a:solidFill>
              </a:rPr>
              <a:t>Impeached</a:t>
            </a:r>
            <a:endParaRPr lang="en-US" sz="1600" dirty="0"/>
          </a:p>
        </p:txBody>
      </p:sp>
      <p:sp>
        <p:nvSpPr>
          <p:cNvPr id="7" name="Text 5"/>
          <p:cNvSpPr txBox="1"/>
          <p:nvPr/>
        </p:nvSpPr>
        <p:spPr>
          <a:xfrm>
            <a:off x="2148840" y="2450592"/>
            <a:ext cx="1645920" cy="914400"/>
          </a:xfrm>
          <a:prstGeom prst="rect">
            <a:avLst/>
          </a:prstGeom>
          <a:noFill/>
          <a:ln/>
        </p:spPr>
        <p:txBody>
          <a:bodyPr wrap="square" lIns="0" tIns="0" rIns="0" bIns="0" rtlCol="0" anchor="t"/>
          <a:lstStyle/>
          <a:p>
            <a:pPr indent="0" marL="0">
              <a:buNone/>
            </a:pPr>
            <a:r>
              <a:rPr lang="en-US" altLang="en-US" sz="1400" dirty="0">
                <a:solidFill>
                  <a:schemeClr val="bg1"/>
                </a:solidFill>
              </a:rPr>
              <a:t>a first for any president – acquitted both times</a:t>
            </a:r>
            <a:endParaRPr lang="en-US" sz="1400" dirty="0"/>
          </a:p>
        </p:txBody>
      </p:sp>
      <p:sp>
        <p:nvSpPr>
          <p:cNvPr id="8" name="Shape 6"/>
          <p:cNvSpPr/>
          <p:nvPr/>
        </p:nvSpPr>
        <p:spPr>
          <a:xfrm>
            <a:off x="4251960" y="1737360"/>
            <a:ext cx="7391095" cy="1828800"/>
          </a:xfrm>
          <a:prstGeom prst="roundRect">
            <a:avLst>
              <a:gd name="adj" fmla="val 6000"/>
            </a:avLst>
          </a:prstGeom>
          <a:solidFill>
            <a:schemeClr val="tx1"/>
          </a:solidFill>
          <a:ln/>
        </p:spPr>
      </p:sp>
      <p:sp>
        <p:nvSpPr>
          <p:cNvPr id="9" name="Text 7"/>
          <p:cNvSpPr txBox="1"/>
          <p:nvPr/>
        </p:nvSpPr>
        <p:spPr>
          <a:xfrm>
            <a:off x="4526280" y="1993392"/>
            <a:ext cx="5486400" cy="228600"/>
          </a:xfrm>
          <a:prstGeom prst="rect">
            <a:avLst/>
          </a:prstGeom>
          <a:noFill/>
          <a:ln/>
        </p:spPr>
        <p:txBody>
          <a:bodyPr wrap="square" lIns="0" tIns="0" rIns="0" bIns="0" rtlCol="0" anchor="t"/>
          <a:lstStyle/>
          <a:p>
            <a:pPr indent="0" marL="0">
              <a:buNone/>
            </a:pPr>
            <a:r>
              <a:rPr lang="en-US" altLang="en-US" sz="1100" b="1" spc="150" kern="0" dirty="0">
                <a:solidFill>
                  <a:schemeClr val="accent6"/>
                </a:solidFill>
              </a:rPr>
              <a:t>TRUMP’S SPEECH · JAN 6, 2021</a:t>
            </a:r>
            <a:endParaRPr lang="en-US" sz="1100" dirty="0"/>
          </a:p>
        </p:txBody>
      </p:sp>
      <p:sp>
        <p:nvSpPr>
          <p:cNvPr id="10" name="Text 8"/>
          <p:cNvSpPr txBox="1"/>
          <p:nvPr/>
        </p:nvSpPr>
        <p:spPr>
          <a:xfrm>
            <a:off x="4526280" y="2304288"/>
            <a:ext cx="6842455" cy="329184"/>
          </a:xfrm>
          <a:prstGeom prst="rect">
            <a:avLst/>
          </a:prstGeom>
          <a:noFill/>
          <a:ln/>
        </p:spPr>
        <p:txBody>
          <a:bodyPr wrap="square" lIns="0" tIns="0" rIns="0" bIns="0" rtlCol="0" anchor="t"/>
          <a:lstStyle/>
          <a:p>
            <a:pPr indent="0" marL="0">
              <a:buNone/>
            </a:pPr>
            <a:r>
              <a:rPr lang="en-US" altLang="en-US" sz="1800" b="1" i="1" dirty="0">
                <a:solidFill>
                  <a:schemeClr val="bg1"/>
                </a:solidFill>
                <a:latin typeface="+mj-lt" pitchFamily="34" charset="0"/>
                <a:ea typeface="+mj-lt" pitchFamily="34" charset="-122"/>
                <a:cs typeface="+mj-lt" pitchFamily="34" charset="-120"/>
              </a:rPr>
              <a:t>“… peacefully and patriotically make your voices heard.”</a:t>
            </a:r>
            <a:endParaRPr lang="en-US" sz="1800" dirty="0"/>
          </a:p>
        </p:txBody>
      </p:sp>
      <p:sp>
        <p:nvSpPr>
          <p:cNvPr id="11" name="Text 9"/>
          <p:cNvSpPr txBox="1"/>
          <p:nvPr/>
        </p:nvSpPr>
        <p:spPr>
          <a:xfrm>
            <a:off x="4526280" y="2670048"/>
            <a:ext cx="6842455" cy="329184"/>
          </a:xfrm>
          <a:prstGeom prst="rect">
            <a:avLst/>
          </a:prstGeom>
          <a:noFill/>
          <a:ln/>
        </p:spPr>
        <p:txBody>
          <a:bodyPr wrap="square" lIns="0" tIns="0" rIns="0" bIns="0" rtlCol="0" anchor="t"/>
          <a:lstStyle/>
          <a:p>
            <a:pPr indent="0" marL="0">
              <a:buNone/>
            </a:pPr>
            <a:r>
              <a:rPr lang="en-US" altLang="en-US" sz="1800" b="1" i="1" dirty="0">
                <a:solidFill>
                  <a:schemeClr val="bg1"/>
                </a:solidFill>
                <a:latin typeface="+mj-lt" pitchFamily="34" charset="0"/>
                <a:ea typeface="+mj-lt" pitchFamily="34" charset="-122"/>
                <a:cs typeface="+mj-lt" pitchFamily="34" charset="-120"/>
              </a:rPr>
              <a:t>“We fight like hell.”</a:t>
            </a:r>
            <a:endParaRPr lang="en-US" sz="1800" dirty="0"/>
          </a:p>
        </p:txBody>
      </p:sp>
      <p:sp>
        <p:nvSpPr>
          <p:cNvPr id="12" name="Text 10"/>
          <p:cNvSpPr txBox="1"/>
          <p:nvPr/>
        </p:nvSpPr>
        <p:spPr>
          <a:xfrm>
            <a:off x="4526280" y="3154680"/>
            <a:ext cx="6842455" cy="228600"/>
          </a:xfrm>
          <a:prstGeom prst="rect">
            <a:avLst/>
          </a:prstGeom>
          <a:noFill/>
          <a:ln/>
        </p:spPr>
        <p:txBody>
          <a:bodyPr wrap="square" lIns="0" tIns="0" rIns="0" bIns="0" rtlCol="0" anchor="t"/>
          <a:lstStyle/>
          <a:p>
            <a:pPr indent="0" marL="0">
              <a:buNone/>
            </a:pPr>
            <a:r>
              <a:rPr lang="en-US" altLang="en-US" sz="1300" dirty="0">
                <a:solidFill>
                  <a:schemeClr val="accent3"/>
                </a:solidFill>
              </a:rPr>
              <a:t>Same speech – at the second impeachment trial, each side quoted one line.</a:t>
            </a:r>
            <a:endParaRPr lang="en-US" sz="1300" dirty="0"/>
          </a:p>
        </p:txBody>
      </p:sp>
      <p:sp>
        <p:nvSpPr>
          <p:cNvPr id="13" name="Shape 11"/>
          <p:cNvSpPr/>
          <p:nvPr/>
        </p:nvSpPr>
        <p:spPr>
          <a:xfrm>
            <a:off x="548640" y="3840480"/>
            <a:ext cx="2072579" cy="1874520"/>
          </a:xfrm>
          <a:prstGeom prst="roundRect">
            <a:avLst>
              <a:gd name="adj" fmla="val 5854"/>
            </a:avLst>
          </a:prstGeom>
          <a:solidFill>
            <a:schemeClr val="bg2"/>
          </a:solidFill>
          <a:ln/>
        </p:spPr>
      </p:sp>
      <p:sp>
        <p:nvSpPr>
          <p:cNvPr id="14" name="Text 12"/>
          <p:cNvSpPr txBox="1"/>
          <p:nvPr/>
        </p:nvSpPr>
        <p:spPr>
          <a:xfrm>
            <a:off x="731520" y="4005072"/>
            <a:ext cx="1752539"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DEC 18, 2019</a:t>
            </a:r>
            <a:endParaRPr lang="en-US" sz="1000" dirty="0"/>
          </a:p>
        </p:txBody>
      </p:sp>
      <p:sp>
        <p:nvSpPr>
          <p:cNvPr id="15" name="Text 13"/>
          <p:cNvSpPr txBox="1"/>
          <p:nvPr/>
        </p:nvSpPr>
        <p:spPr>
          <a:xfrm>
            <a:off x="731520" y="4242816"/>
            <a:ext cx="1752539" cy="292608"/>
          </a:xfrm>
          <a:prstGeom prst="rect">
            <a:avLst/>
          </a:prstGeom>
          <a:noFill/>
          <a:ln/>
        </p:spPr>
        <p:txBody>
          <a:bodyPr wrap="square" lIns="0" tIns="0" rIns="0" bIns="0" rtlCol="0" anchor="t"/>
          <a:lstStyle/>
          <a:p>
            <a:pPr indent="0" marL="0">
              <a:buNone/>
            </a:pPr>
            <a:r>
              <a:rPr lang="en-US" altLang="en-US" sz="1500" b="1" dirty="0">
                <a:solidFill>
                  <a:schemeClr val="tx1"/>
                </a:solidFill>
              </a:rPr>
              <a:t>1st impeachment</a:t>
            </a:r>
            <a:endParaRPr lang="en-US" sz="1500" dirty="0"/>
          </a:p>
        </p:txBody>
      </p:sp>
      <p:sp>
        <p:nvSpPr>
          <p:cNvPr id="16" name="Text 14"/>
          <p:cNvSpPr txBox="1"/>
          <p:nvPr/>
        </p:nvSpPr>
        <p:spPr>
          <a:xfrm>
            <a:off x="731520" y="4590288"/>
            <a:ext cx="1770827" cy="1005840"/>
          </a:xfrm>
          <a:prstGeom prst="rect">
            <a:avLst/>
          </a:prstGeom>
          <a:noFill/>
          <a:ln/>
        </p:spPr>
        <p:txBody>
          <a:bodyPr wrap="square" lIns="0" tIns="0" rIns="0" bIns="0" rtlCol="0" anchor="t"/>
          <a:lstStyle/>
          <a:p>
            <a:pPr indent="0" marL="0">
              <a:buNone/>
            </a:pPr>
            <a:r>
              <a:rPr lang="en-US" altLang="en-US" sz="1500" dirty="0">
                <a:solidFill>
                  <a:schemeClr val="tx2"/>
                </a:solidFill>
              </a:rPr>
              <a:t>Pressure on Ukraine to investigate Biden. Acquitted.</a:t>
            </a:r>
            <a:endParaRPr lang="en-US" sz="1500" dirty="0"/>
          </a:p>
        </p:txBody>
      </p:sp>
      <p:sp>
        <p:nvSpPr>
          <p:cNvPr id="17" name="Shape 15"/>
          <p:cNvSpPr/>
          <p:nvPr/>
        </p:nvSpPr>
        <p:spPr>
          <a:xfrm rot="5400000">
            <a:off x="2666939" y="4713732"/>
            <a:ext cx="128016" cy="91440"/>
          </a:xfrm>
          <a:prstGeom prst="triangle">
            <a:avLst/>
          </a:prstGeom>
          <a:solidFill>
            <a:schemeClr val="accent1"/>
          </a:solidFill>
          <a:ln/>
        </p:spPr>
      </p:sp>
      <p:sp>
        <p:nvSpPr>
          <p:cNvPr id="18" name="Shape 16"/>
          <p:cNvSpPr/>
          <p:nvPr/>
        </p:nvSpPr>
        <p:spPr>
          <a:xfrm>
            <a:off x="2804099" y="3840480"/>
            <a:ext cx="2072579" cy="1874520"/>
          </a:xfrm>
          <a:prstGeom prst="roundRect">
            <a:avLst>
              <a:gd name="adj" fmla="val 5854"/>
            </a:avLst>
          </a:prstGeom>
          <a:solidFill>
            <a:schemeClr val="bg2"/>
          </a:solidFill>
          <a:ln/>
        </p:spPr>
      </p:sp>
      <p:sp>
        <p:nvSpPr>
          <p:cNvPr id="19" name="Text 17"/>
          <p:cNvSpPr txBox="1"/>
          <p:nvPr/>
        </p:nvSpPr>
        <p:spPr>
          <a:xfrm>
            <a:off x="2986979" y="4005072"/>
            <a:ext cx="1752539"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NOV 3, 2020</a:t>
            </a:r>
            <a:endParaRPr lang="en-US" sz="1000" dirty="0"/>
          </a:p>
        </p:txBody>
      </p:sp>
      <p:sp>
        <p:nvSpPr>
          <p:cNvPr id="20" name="Text 18"/>
          <p:cNvSpPr txBox="1"/>
          <p:nvPr/>
        </p:nvSpPr>
        <p:spPr>
          <a:xfrm>
            <a:off x="2986979" y="4242816"/>
            <a:ext cx="1752539" cy="292608"/>
          </a:xfrm>
          <a:prstGeom prst="rect">
            <a:avLst/>
          </a:prstGeom>
          <a:noFill/>
          <a:ln/>
        </p:spPr>
        <p:txBody>
          <a:bodyPr wrap="square" lIns="0" tIns="0" rIns="0" bIns="0" rtlCol="0" anchor="t"/>
          <a:lstStyle/>
          <a:p>
            <a:pPr indent="0" marL="0">
              <a:buNone/>
            </a:pPr>
            <a:r>
              <a:rPr lang="en-US" altLang="en-US" sz="1500" b="1" dirty="0">
                <a:solidFill>
                  <a:schemeClr val="tx1"/>
                </a:solidFill>
              </a:rPr>
              <a:t>Election lost</a:t>
            </a:r>
            <a:endParaRPr lang="en-US" sz="1500" dirty="0"/>
          </a:p>
        </p:txBody>
      </p:sp>
      <p:sp>
        <p:nvSpPr>
          <p:cNvPr id="21" name="Text 19"/>
          <p:cNvSpPr txBox="1"/>
          <p:nvPr/>
        </p:nvSpPr>
        <p:spPr>
          <a:xfrm>
            <a:off x="2986979" y="4590288"/>
            <a:ext cx="1770827" cy="1005840"/>
          </a:xfrm>
          <a:prstGeom prst="rect">
            <a:avLst/>
          </a:prstGeom>
          <a:noFill/>
          <a:ln/>
        </p:spPr>
        <p:txBody>
          <a:bodyPr wrap="square" lIns="0" tIns="0" rIns="0" bIns="0" rtlCol="0" anchor="t"/>
          <a:lstStyle/>
          <a:p>
            <a:pPr indent="0" marL="0">
              <a:buNone/>
            </a:pPr>
            <a:r>
              <a:rPr lang="en-US" altLang="en-US" sz="1500" dirty="0">
                <a:solidFill>
                  <a:schemeClr val="tx2"/>
                </a:solidFill>
              </a:rPr>
              <a:t>Biden wins 306–232 and by 7 million votes.</a:t>
            </a:r>
            <a:endParaRPr lang="en-US" sz="1500" dirty="0"/>
          </a:p>
        </p:txBody>
      </p:sp>
      <p:sp>
        <p:nvSpPr>
          <p:cNvPr id="22" name="Shape 20"/>
          <p:cNvSpPr/>
          <p:nvPr/>
        </p:nvSpPr>
        <p:spPr>
          <a:xfrm rot="5400000">
            <a:off x="4922398" y="4713732"/>
            <a:ext cx="128016" cy="91440"/>
          </a:xfrm>
          <a:prstGeom prst="triangle">
            <a:avLst/>
          </a:prstGeom>
          <a:solidFill>
            <a:schemeClr val="accent1"/>
          </a:solidFill>
          <a:ln/>
        </p:spPr>
      </p:sp>
      <p:sp>
        <p:nvSpPr>
          <p:cNvPr id="23" name="Shape 21"/>
          <p:cNvSpPr/>
          <p:nvPr/>
        </p:nvSpPr>
        <p:spPr>
          <a:xfrm>
            <a:off x="5059558" y="3840480"/>
            <a:ext cx="2072579" cy="1874520"/>
          </a:xfrm>
          <a:prstGeom prst="roundRect">
            <a:avLst>
              <a:gd name="adj" fmla="val 5854"/>
            </a:avLst>
          </a:prstGeom>
          <a:solidFill>
            <a:schemeClr val="bg2"/>
          </a:solidFill>
          <a:ln/>
        </p:spPr>
      </p:sp>
      <p:sp>
        <p:nvSpPr>
          <p:cNvPr id="24" name="Text 22"/>
          <p:cNvSpPr txBox="1"/>
          <p:nvPr/>
        </p:nvSpPr>
        <p:spPr>
          <a:xfrm>
            <a:off x="5242438" y="4005072"/>
            <a:ext cx="1752539"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NOV–DEC 2020</a:t>
            </a:r>
            <a:endParaRPr lang="en-US" sz="1000" dirty="0"/>
          </a:p>
        </p:txBody>
      </p:sp>
      <p:sp>
        <p:nvSpPr>
          <p:cNvPr id="25" name="Text 23"/>
          <p:cNvSpPr txBox="1"/>
          <p:nvPr/>
        </p:nvSpPr>
        <p:spPr>
          <a:xfrm>
            <a:off x="5242438" y="4242816"/>
            <a:ext cx="1752539" cy="292608"/>
          </a:xfrm>
          <a:prstGeom prst="rect">
            <a:avLst/>
          </a:prstGeom>
          <a:noFill/>
          <a:ln/>
        </p:spPr>
        <p:txBody>
          <a:bodyPr wrap="square" lIns="0" tIns="0" rIns="0" bIns="0" rtlCol="0" anchor="t"/>
          <a:lstStyle/>
          <a:p>
            <a:pPr indent="0" marL="0">
              <a:buNone/>
            </a:pPr>
            <a:r>
              <a:rPr lang="en-US" altLang="en-US" sz="1500" b="1" dirty="0">
                <a:solidFill>
                  <a:schemeClr val="tx1"/>
                </a:solidFill>
              </a:rPr>
              <a:t>Fraud claims</a:t>
            </a:r>
            <a:endParaRPr lang="en-US" sz="1500" dirty="0"/>
          </a:p>
        </p:txBody>
      </p:sp>
      <p:sp>
        <p:nvSpPr>
          <p:cNvPr id="26" name="Text 24"/>
          <p:cNvSpPr txBox="1"/>
          <p:nvPr/>
        </p:nvSpPr>
        <p:spPr>
          <a:xfrm>
            <a:off x="5242438" y="4590288"/>
            <a:ext cx="1770827" cy="1005840"/>
          </a:xfrm>
          <a:prstGeom prst="rect">
            <a:avLst/>
          </a:prstGeom>
          <a:noFill/>
          <a:ln/>
        </p:spPr>
        <p:txBody>
          <a:bodyPr wrap="square" lIns="0" tIns="0" rIns="0" bIns="0" rtlCol="0" anchor="t"/>
          <a:lstStyle/>
          <a:p>
            <a:pPr indent="0" marL="0">
              <a:buNone/>
            </a:pPr>
            <a:r>
              <a:rPr lang="en-US" altLang="en-US" sz="1500" dirty="0">
                <a:solidFill>
                  <a:schemeClr val="tx2"/>
                </a:solidFill>
              </a:rPr>
              <a:t>Refuses to concede; 60+ lawsuits fail.</a:t>
            </a:r>
            <a:endParaRPr lang="en-US" sz="1500" dirty="0"/>
          </a:p>
        </p:txBody>
      </p:sp>
      <p:sp>
        <p:nvSpPr>
          <p:cNvPr id="27" name="Shape 25"/>
          <p:cNvSpPr/>
          <p:nvPr/>
        </p:nvSpPr>
        <p:spPr>
          <a:xfrm rot="5400000">
            <a:off x="7177857" y="4713732"/>
            <a:ext cx="128016" cy="91440"/>
          </a:xfrm>
          <a:prstGeom prst="triangle">
            <a:avLst/>
          </a:prstGeom>
          <a:solidFill>
            <a:schemeClr val="accent1"/>
          </a:solidFill>
          <a:ln/>
        </p:spPr>
      </p:sp>
      <p:sp>
        <p:nvSpPr>
          <p:cNvPr id="28" name="Shape 26"/>
          <p:cNvSpPr/>
          <p:nvPr/>
        </p:nvSpPr>
        <p:spPr>
          <a:xfrm>
            <a:off x="7315017" y="3840480"/>
            <a:ext cx="2072579" cy="1874520"/>
          </a:xfrm>
          <a:prstGeom prst="roundRect">
            <a:avLst>
              <a:gd name="adj" fmla="val 5854"/>
            </a:avLst>
          </a:prstGeom>
          <a:solidFill>
            <a:schemeClr val="bg2"/>
          </a:solidFill>
          <a:ln/>
        </p:spPr>
      </p:sp>
      <p:sp>
        <p:nvSpPr>
          <p:cNvPr id="29" name="Text 27"/>
          <p:cNvSpPr txBox="1"/>
          <p:nvPr/>
        </p:nvSpPr>
        <p:spPr>
          <a:xfrm>
            <a:off x="7497897" y="4005072"/>
            <a:ext cx="1752539"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JAN 6, 2021</a:t>
            </a:r>
            <a:endParaRPr lang="en-US" sz="1000" dirty="0"/>
          </a:p>
        </p:txBody>
      </p:sp>
      <p:sp>
        <p:nvSpPr>
          <p:cNvPr id="30" name="Text 28"/>
          <p:cNvSpPr txBox="1"/>
          <p:nvPr/>
        </p:nvSpPr>
        <p:spPr>
          <a:xfrm>
            <a:off x="7497897" y="4242816"/>
            <a:ext cx="1752539" cy="292608"/>
          </a:xfrm>
          <a:prstGeom prst="rect">
            <a:avLst/>
          </a:prstGeom>
          <a:noFill/>
          <a:ln/>
        </p:spPr>
        <p:txBody>
          <a:bodyPr wrap="square" lIns="0" tIns="0" rIns="0" bIns="0" rtlCol="0" anchor="t"/>
          <a:lstStyle/>
          <a:p>
            <a:pPr indent="0" marL="0">
              <a:buNone/>
            </a:pPr>
            <a:r>
              <a:rPr lang="en-US" altLang="en-US" sz="1500" b="1" dirty="0">
                <a:solidFill>
                  <a:schemeClr val="tx1"/>
                </a:solidFill>
              </a:rPr>
              <a:t>Capitol stormed</a:t>
            </a:r>
            <a:endParaRPr lang="en-US" sz="1500" dirty="0"/>
          </a:p>
        </p:txBody>
      </p:sp>
      <p:sp>
        <p:nvSpPr>
          <p:cNvPr id="31" name="Text 29"/>
          <p:cNvSpPr txBox="1"/>
          <p:nvPr/>
        </p:nvSpPr>
        <p:spPr>
          <a:xfrm>
            <a:off x="7497897" y="4590288"/>
            <a:ext cx="1770827" cy="1005840"/>
          </a:xfrm>
          <a:prstGeom prst="rect">
            <a:avLst/>
          </a:prstGeom>
          <a:noFill/>
          <a:ln/>
        </p:spPr>
        <p:txBody>
          <a:bodyPr wrap="square" lIns="0" tIns="0" rIns="0" bIns="0" rtlCol="0" anchor="t"/>
          <a:lstStyle/>
          <a:p>
            <a:pPr indent="0" marL="0">
              <a:buNone/>
            </a:pPr>
            <a:r>
              <a:rPr lang="en-US" altLang="en-US" sz="1500" dirty="0">
                <a:solidFill>
                  <a:schemeClr val="tx2"/>
                </a:solidFill>
              </a:rPr>
              <a:t>Supporters break in; deaths, ~140 officers injured.</a:t>
            </a:r>
            <a:endParaRPr lang="en-US" sz="1500" dirty="0"/>
          </a:p>
        </p:txBody>
      </p:sp>
      <p:sp>
        <p:nvSpPr>
          <p:cNvPr id="32" name="Shape 30"/>
          <p:cNvSpPr/>
          <p:nvPr/>
        </p:nvSpPr>
        <p:spPr>
          <a:xfrm rot="5400000">
            <a:off x="9433316" y="4713732"/>
            <a:ext cx="128016" cy="91440"/>
          </a:xfrm>
          <a:prstGeom prst="triangle">
            <a:avLst/>
          </a:prstGeom>
          <a:solidFill>
            <a:schemeClr val="accent1"/>
          </a:solidFill>
          <a:ln/>
        </p:spPr>
      </p:sp>
      <p:sp>
        <p:nvSpPr>
          <p:cNvPr id="33" name="Shape 31"/>
          <p:cNvSpPr/>
          <p:nvPr/>
        </p:nvSpPr>
        <p:spPr>
          <a:xfrm>
            <a:off x="9570476" y="3840480"/>
            <a:ext cx="2072579" cy="1874520"/>
          </a:xfrm>
          <a:prstGeom prst="roundRect">
            <a:avLst>
              <a:gd name="adj" fmla="val 5854"/>
            </a:avLst>
          </a:prstGeom>
          <a:solidFill>
            <a:schemeClr val="bg2"/>
          </a:solidFill>
          <a:ln/>
        </p:spPr>
      </p:sp>
      <p:sp>
        <p:nvSpPr>
          <p:cNvPr id="34" name="Text 32"/>
          <p:cNvSpPr txBox="1"/>
          <p:nvPr/>
        </p:nvSpPr>
        <p:spPr>
          <a:xfrm>
            <a:off x="9753356" y="4005072"/>
            <a:ext cx="1752539" cy="201168"/>
          </a:xfrm>
          <a:prstGeom prst="rect">
            <a:avLst/>
          </a:prstGeom>
          <a:noFill/>
          <a:ln/>
        </p:spPr>
        <p:txBody>
          <a:bodyPr wrap="square" lIns="0" tIns="0" rIns="0" bIns="0" rtlCol="0" anchor="t"/>
          <a:lstStyle/>
          <a:p>
            <a:pPr indent="0" marL="0">
              <a:buNone/>
            </a:pPr>
            <a:r>
              <a:rPr lang="en-US" altLang="en-US" sz="1000" b="1" spc="100" kern="0" dirty="0">
                <a:solidFill>
                  <a:schemeClr val="accent1"/>
                </a:solidFill>
              </a:rPr>
              <a:t>JAN 13, 2021</a:t>
            </a:r>
            <a:endParaRPr lang="en-US" sz="1000" dirty="0"/>
          </a:p>
        </p:txBody>
      </p:sp>
      <p:sp>
        <p:nvSpPr>
          <p:cNvPr id="35" name="Text 33"/>
          <p:cNvSpPr txBox="1"/>
          <p:nvPr/>
        </p:nvSpPr>
        <p:spPr>
          <a:xfrm>
            <a:off x="9753356" y="4242816"/>
            <a:ext cx="1752539" cy="292608"/>
          </a:xfrm>
          <a:prstGeom prst="rect">
            <a:avLst/>
          </a:prstGeom>
          <a:noFill/>
          <a:ln/>
        </p:spPr>
        <p:txBody>
          <a:bodyPr wrap="square" lIns="0" tIns="0" rIns="0" bIns="0" rtlCol="0" anchor="t"/>
          <a:lstStyle/>
          <a:p>
            <a:pPr indent="0" marL="0">
              <a:buNone/>
            </a:pPr>
            <a:r>
              <a:rPr lang="en-US" altLang="en-US" sz="1500" b="1" dirty="0">
                <a:solidFill>
                  <a:schemeClr val="tx1"/>
                </a:solidFill>
              </a:rPr>
              <a:t>2nd impeachment</a:t>
            </a:r>
            <a:endParaRPr lang="en-US" sz="1500" dirty="0"/>
          </a:p>
        </p:txBody>
      </p:sp>
      <p:sp>
        <p:nvSpPr>
          <p:cNvPr id="36" name="Text 34"/>
          <p:cNvSpPr txBox="1"/>
          <p:nvPr/>
        </p:nvSpPr>
        <p:spPr>
          <a:xfrm>
            <a:off x="9753356" y="4590288"/>
            <a:ext cx="1770827" cy="1005840"/>
          </a:xfrm>
          <a:prstGeom prst="rect">
            <a:avLst/>
          </a:prstGeom>
          <a:noFill/>
          <a:ln/>
        </p:spPr>
        <p:txBody>
          <a:bodyPr wrap="square" lIns="0" tIns="0" rIns="0" bIns="0" rtlCol="0" anchor="t"/>
          <a:lstStyle/>
          <a:p>
            <a:pPr indent="0" marL="0">
              <a:buNone/>
            </a:pPr>
            <a:r>
              <a:rPr lang="en-US" altLang="en-US" sz="1500" dirty="0">
                <a:solidFill>
                  <a:schemeClr val="tx2"/>
                </a:solidFill>
              </a:rPr>
              <a:t>“Incitement of insurrection.” Senate: 57–43, 67 needed.</a:t>
            </a:r>
            <a:endParaRPr lang="en-US" sz="1500" dirty="0"/>
          </a:p>
        </p:txBody>
      </p:sp>
      <p:sp>
        <p:nvSpPr>
          <p:cNvPr id="37" name="!!tl-span"/>
          <p:cNvSpPr/>
          <p:nvPr/>
        </p:nvSpPr>
        <p:spPr>
          <a:xfrm>
            <a:off x="7902512" y="6117336"/>
            <a:ext cx="2714334" cy="54864"/>
          </a:xfrm>
          <a:prstGeom prst="rect">
            <a:avLst/>
          </a:prstGeom>
          <a:solidFill>
            <a:schemeClr val="accent1"/>
          </a:solidFill>
          <a:ln/>
        </p:spPr>
      </p:sp>
      <p:sp>
        <p:nvSpPr>
          <p:cNvPr id="38" name="!!tl-d1"/>
          <p:cNvSpPr/>
          <p:nvPr/>
        </p:nvSpPr>
        <p:spPr>
          <a:xfrm>
            <a:off x="7820216" y="6062472"/>
            <a:ext cx="164592" cy="164592"/>
          </a:xfrm>
          <a:prstGeom prst="ellipse">
            <a:avLst/>
          </a:prstGeom>
          <a:solidFill>
            <a:schemeClr val="accent1"/>
          </a:solidFill>
          <a:ln w="19050">
            <a:solidFill>
              <a:schemeClr val="bg1"/>
            </a:solidFill>
            <a:prstDash val="solid"/>
          </a:ln>
        </p:spPr>
      </p:sp>
      <p:sp>
        <p:nvSpPr>
          <p:cNvPr id="39" name="!!tl-d2"/>
          <p:cNvSpPr/>
          <p:nvPr/>
        </p:nvSpPr>
        <p:spPr>
          <a:xfrm>
            <a:off x="10003928" y="6062472"/>
            <a:ext cx="164592" cy="164592"/>
          </a:xfrm>
          <a:prstGeom prst="ellipse">
            <a:avLst/>
          </a:prstGeom>
          <a:solidFill>
            <a:schemeClr val="accent1"/>
          </a:solidFill>
          <a:ln w="19050">
            <a:solidFill>
              <a:schemeClr val="bg1"/>
            </a:solidFill>
            <a:prstDash val="solid"/>
          </a:ln>
        </p:spPr>
      </p:sp>
      <p:sp>
        <p:nvSpPr>
          <p:cNvPr id="40" name="!!tl-d3"/>
          <p:cNvSpPr/>
          <p:nvPr/>
        </p:nvSpPr>
        <p:spPr>
          <a:xfrm>
            <a:off x="10439310"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6"/>
                </a:solidFill>
                <a:latin typeface="Arial" pitchFamily="34" charset="0"/>
                <a:ea typeface="Arial" pitchFamily="34" charset="-122"/>
                <a:cs typeface="Arial" pitchFamily="34" charset="-120"/>
              </a:rPr>
              <a:t>07 · LEGACY</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What Four Years Left Behind</a:t>
            </a:r>
            <a:endParaRPr lang="en-US" sz="3600" dirty="0"/>
          </a:p>
        </p:txBody>
      </p:sp>
      <p:sp>
        <p:nvSpPr>
          <p:cNvPr id="4" name="Shape 2"/>
          <p:cNvSpPr/>
          <p:nvPr/>
        </p:nvSpPr>
        <p:spPr>
          <a:xfrm>
            <a:off x="548640" y="1737360"/>
            <a:ext cx="3515258" cy="2743200"/>
          </a:xfrm>
          <a:prstGeom prst="roundRect">
            <a:avLst>
              <a:gd name="adj" fmla="val 4000"/>
            </a:avLst>
          </a:prstGeom>
          <a:solidFill>
            <a:schemeClr val="accent2"/>
          </a:solidFill>
          <a:ln/>
        </p:spPr>
      </p:sp>
      <p:sp>
        <p:nvSpPr>
          <p:cNvPr id="5" name="Text 3"/>
          <p:cNvSpPr txBox="1"/>
          <p:nvPr/>
        </p:nvSpPr>
        <p:spPr>
          <a:xfrm>
            <a:off x="822960" y="2011680"/>
            <a:ext cx="3058058" cy="228600"/>
          </a:xfrm>
          <a:prstGeom prst="rect">
            <a:avLst/>
          </a:prstGeom>
          <a:noFill/>
          <a:ln/>
        </p:spPr>
        <p:txBody>
          <a:bodyPr wrap="square" lIns="0" tIns="0" rIns="0" bIns="0" rtlCol="0" anchor="t"/>
          <a:lstStyle/>
          <a:p>
            <a:pPr indent="0" marL="0">
              <a:buNone/>
            </a:pPr>
            <a:r>
              <a:rPr lang="en-US" altLang="en-US" sz="1200" b="1" spc="200" kern="0" dirty="0">
                <a:solidFill>
                  <a:schemeClr val="accent6"/>
                </a:solidFill>
              </a:rPr>
              <a:t>THE LASTING LEGACY</a:t>
            </a:r>
            <a:endParaRPr lang="en-US" sz="1200" dirty="0"/>
          </a:p>
        </p:txBody>
      </p:sp>
      <p:sp>
        <p:nvSpPr>
          <p:cNvPr id="6" name="Text 4"/>
          <p:cNvSpPr txBox="1"/>
          <p:nvPr/>
        </p:nvSpPr>
        <p:spPr>
          <a:xfrm>
            <a:off x="822960" y="2304288"/>
            <a:ext cx="3058058" cy="868680"/>
          </a:xfrm>
          <a:prstGeom prst="rect">
            <a:avLst/>
          </a:prstGeom>
          <a:noFill/>
          <a:ln/>
        </p:spPr>
        <p:txBody>
          <a:bodyPr wrap="square" lIns="0" tIns="0" rIns="0" bIns="0" rtlCol="0" anchor="t"/>
          <a:lstStyle/>
          <a:p>
            <a:pPr indent="0" marL="0">
              <a:buNone/>
            </a:pPr>
            <a:r>
              <a:rPr lang="en-US" altLang="en-US" sz="5400" b="1" dirty="0">
                <a:solidFill>
                  <a:schemeClr val="bg1"/>
                </a:solidFill>
              </a:rPr>
              <a:t>6–3</a:t>
            </a:r>
            <a:endParaRPr lang="en-US" sz="5400" dirty="0"/>
          </a:p>
        </p:txBody>
      </p:sp>
      <p:sp>
        <p:nvSpPr>
          <p:cNvPr id="7" name="Text 5"/>
          <p:cNvSpPr txBox="1"/>
          <p:nvPr/>
        </p:nvSpPr>
        <p:spPr>
          <a:xfrm>
            <a:off x="822960" y="3337560"/>
            <a:ext cx="3012338" cy="1005840"/>
          </a:xfrm>
          <a:prstGeom prst="rect">
            <a:avLst/>
          </a:prstGeom>
          <a:noFill/>
          <a:ln/>
        </p:spPr>
        <p:txBody>
          <a:bodyPr wrap="square" lIns="0" tIns="0" rIns="0" bIns="0" rtlCol="0" anchor="t"/>
          <a:lstStyle/>
          <a:p>
            <a:pPr indent="0" marL="0">
              <a:buNone/>
            </a:pPr>
            <a:r>
              <a:rPr lang="en-US" altLang="en-US" sz="1600" dirty="0">
                <a:solidFill>
                  <a:schemeClr val="accent3"/>
                </a:solidFill>
              </a:rPr>
              <a:t>A conservative Supreme Court for decades to come.</a:t>
            </a:r>
            <a:endParaRPr lang="en-US" sz="1600" dirty="0"/>
          </a:p>
        </p:txBody>
      </p:sp>
      <p:sp>
        <p:nvSpPr>
          <p:cNvPr id="8" name="Shape 6"/>
          <p:cNvSpPr/>
          <p:nvPr/>
        </p:nvSpPr>
        <p:spPr>
          <a:xfrm>
            <a:off x="4338218" y="1737360"/>
            <a:ext cx="3515258" cy="2743200"/>
          </a:xfrm>
          <a:prstGeom prst="roundRect">
            <a:avLst>
              <a:gd name="adj" fmla="val 4000"/>
            </a:avLst>
          </a:prstGeom>
          <a:solidFill>
            <a:schemeClr val="accent2"/>
          </a:solidFill>
          <a:ln/>
        </p:spPr>
      </p:sp>
      <p:sp>
        <p:nvSpPr>
          <p:cNvPr id="9" name="Text 7"/>
          <p:cNvSpPr txBox="1"/>
          <p:nvPr/>
        </p:nvSpPr>
        <p:spPr>
          <a:xfrm>
            <a:off x="4612538" y="2011680"/>
            <a:ext cx="3058058" cy="228600"/>
          </a:xfrm>
          <a:prstGeom prst="rect">
            <a:avLst/>
          </a:prstGeom>
          <a:noFill/>
          <a:ln/>
        </p:spPr>
        <p:txBody>
          <a:bodyPr wrap="square" lIns="0" tIns="0" rIns="0" bIns="0" rtlCol="0" anchor="t"/>
          <a:lstStyle/>
          <a:p>
            <a:pPr indent="0" marL="0">
              <a:buNone/>
            </a:pPr>
            <a:r>
              <a:rPr lang="en-US" altLang="en-US" sz="1200" b="1" spc="200" kern="0" dirty="0">
                <a:solidFill>
                  <a:schemeClr val="accent6"/>
                </a:solidFill>
              </a:rPr>
              <a:t>A DIVIDED NATION</a:t>
            </a:r>
            <a:endParaRPr lang="en-US" sz="1200" dirty="0"/>
          </a:p>
        </p:txBody>
      </p:sp>
      <p:sp>
        <p:nvSpPr>
          <p:cNvPr id="10" name="Text 8"/>
          <p:cNvSpPr txBox="1"/>
          <p:nvPr/>
        </p:nvSpPr>
        <p:spPr>
          <a:xfrm>
            <a:off x="4612538" y="2304288"/>
            <a:ext cx="3058058" cy="868680"/>
          </a:xfrm>
          <a:prstGeom prst="rect">
            <a:avLst/>
          </a:prstGeom>
          <a:noFill/>
          <a:ln/>
        </p:spPr>
        <p:txBody>
          <a:bodyPr wrap="square" lIns="0" tIns="0" rIns="0" bIns="0" rtlCol="0" anchor="t"/>
          <a:lstStyle/>
          <a:p>
            <a:pPr indent="0" marL="0">
              <a:buNone/>
            </a:pPr>
            <a:r>
              <a:rPr lang="en-US" altLang="en-US" sz="5400" b="1" dirty="0">
                <a:solidFill>
                  <a:schemeClr val="bg1"/>
                </a:solidFill>
              </a:rPr>
              <a:t>41%</a:t>
            </a:r>
            <a:endParaRPr lang="en-US" sz="5400" dirty="0"/>
          </a:p>
        </p:txBody>
      </p:sp>
      <p:sp>
        <p:nvSpPr>
          <p:cNvPr id="11" name="Text 9"/>
          <p:cNvSpPr txBox="1"/>
          <p:nvPr/>
        </p:nvSpPr>
        <p:spPr>
          <a:xfrm>
            <a:off x="4612538" y="3337560"/>
            <a:ext cx="3012338" cy="1005840"/>
          </a:xfrm>
          <a:prstGeom prst="rect">
            <a:avLst/>
          </a:prstGeom>
          <a:noFill/>
          <a:ln/>
        </p:spPr>
        <p:txBody>
          <a:bodyPr wrap="square" lIns="0" tIns="0" rIns="0" bIns="0" rtlCol="0" anchor="t"/>
          <a:lstStyle/>
          <a:p>
            <a:pPr indent="0" marL="0">
              <a:buNone/>
            </a:pPr>
            <a:r>
              <a:rPr lang="en-US" altLang="en-US" sz="1600" dirty="0">
                <a:solidFill>
                  <a:schemeClr val="accent3"/>
                </a:solidFill>
              </a:rPr>
              <a:t>average approval (Gallup), the lowest ever. Yet 74 million votes in 2020, a record for an incumbent.</a:t>
            </a:r>
            <a:endParaRPr lang="en-US" sz="1600" dirty="0"/>
          </a:p>
        </p:txBody>
      </p:sp>
      <p:sp>
        <p:nvSpPr>
          <p:cNvPr id="12" name="Shape 10"/>
          <p:cNvSpPr/>
          <p:nvPr/>
        </p:nvSpPr>
        <p:spPr>
          <a:xfrm>
            <a:off x="8127797" y="1737360"/>
            <a:ext cx="3515258" cy="2743200"/>
          </a:xfrm>
          <a:prstGeom prst="roundRect">
            <a:avLst>
              <a:gd name="adj" fmla="val 4000"/>
            </a:avLst>
          </a:prstGeom>
          <a:solidFill>
            <a:schemeClr val="accent2"/>
          </a:solidFill>
          <a:ln/>
        </p:spPr>
      </p:sp>
      <p:sp>
        <p:nvSpPr>
          <p:cNvPr id="13" name="Text 11"/>
          <p:cNvSpPr txBox="1"/>
          <p:nvPr/>
        </p:nvSpPr>
        <p:spPr>
          <a:xfrm>
            <a:off x="8402117" y="2011680"/>
            <a:ext cx="3058058" cy="228600"/>
          </a:xfrm>
          <a:prstGeom prst="rect">
            <a:avLst/>
          </a:prstGeom>
          <a:noFill/>
          <a:ln/>
        </p:spPr>
        <p:txBody>
          <a:bodyPr wrap="square" lIns="0" tIns="0" rIns="0" bIns="0" rtlCol="0" anchor="t"/>
          <a:lstStyle/>
          <a:p>
            <a:pPr indent="0" marL="0">
              <a:buNone/>
            </a:pPr>
            <a:r>
              <a:rPr lang="en-US" altLang="en-US" sz="1200" b="1" spc="200" kern="0" dirty="0">
                <a:solidFill>
                  <a:schemeClr val="accent6"/>
                </a:solidFill>
              </a:rPr>
              <a:t>A NEW COURSE</a:t>
            </a:r>
            <a:endParaRPr lang="en-US" sz="1200" dirty="0"/>
          </a:p>
        </p:txBody>
      </p:sp>
      <p:sp>
        <p:nvSpPr>
          <p:cNvPr id="14" name="Text 12"/>
          <p:cNvSpPr txBox="1"/>
          <p:nvPr/>
        </p:nvSpPr>
        <p:spPr>
          <a:xfrm>
            <a:off x="8402117" y="2557145"/>
            <a:ext cx="3058058" cy="868680"/>
          </a:xfrm>
          <a:prstGeom prst="rect">
            <a:avLst/>
          </a:prstGeom>
          <a:noFill/>
          <a:ln/>
        </p:spPr>
        <p:txBody>
          <a:bodyPr wrap="square" lIns="0" tIns="0" rIns="0" bIns="0" rtlCol="0" anchor="t"/>
          <a:lstStyle/>
          <a:p>
            <a:pPr indent="0" marL="0">
              <a:buNone/>
            </a:pPr>
            <a:r>
              <a:rPr lang="en-US" altLang="en-US" sz="3200" b="1" dirty="0">
                <a:solidFill>
                  <a:schemeClr val="bg1"/>
                </a:solidFill>
              </a:rPr>
              <a:t>America First</a:t>
            </a:r>
            <a:endParaRPr lang="en-US" sz="3200" dirty="0"/>
          </a:p>
        </p:txBody>
      </p:sp>
      <p:sp>
        <p:nvSpPr>
          <p:cNvPr id="15" name="Text 13"/>
          <p:cNvSpPr txBox="1"/>
          <p:nvPr/>
        </p:nvSpPr>
        <p:spPr>
          <a:xfrm>
            <a:off x="8402117" y="3337560"/>
            <a:ext cx="3012338" cy="1005840"/>
          </a:xfrm>
          <a:prstGeom prst="rect">
            <a:avLst/>
          </a:prstGeom>
          <a:noFill/>
          <a:ln/>
        </p:spPr>
        <p:txBody>
          <a:bodyPr wrap="square" lIns="0" tIns="0" rIns="0" bIns="0" rtlCol="0" anchor="t"/>
          <a:lstStyle/>
          <a:p>
            <a:pPr indent="0" marL="0">
              <a:buNone/>
            </a:pPr>
            <a:r>
              <a:rPr lang="en-US" altLang="en-US" sz="1600" dirty="0">
                <a:solidFill>
                  <a:schemeClr val="accent3"/>
                </a:solidFill>
              </a:rPr>
              <a:t>Tariffs, the wall, treaty exits: fewer agreements, more deals.</a:t>
            </a:r>
            <a:endParaRPr lang="en-US" sz="1600" dirty="0"/>
          </a:p>
        </p:txBody>
      </p:sp>
      <p:sp>
        <p:nvSpPr>
          <p:cNvPr id="16" name="Shape 14"/>
          <p:cNvSpPr/>
          <p:nvPr/>
        </p:nvSpPr>
        <p:spPr>
          <a:xfrm>
            <a:off x="548640" y="4754880"/>
            <a:ext cx="11094415" cy="960120"/>
          </a:xfrm>
          <a:prstGeom prst="roundRect">
            <a:avLst>
              <a:gd name="adj" fmla="val 11429"/>
            </a:avLst>
          </a:prstGeom>
          <a:solidFill>
            <a:schemeClr val="accent1"/>
          </a:solidFill>
          <a:ln/>
        </p:spPr>
      </p:sp>
      <p:sp>
        <p:nvSpPr>
          <p:cNvPr id="17" name="Text 15"/>
          <p:cNvSpPr txBox="1"/>
          <p:nvPr/>
        </p:nvSpPr>
        <p:spPr>
          <a:xfrm>
            <a:off x="868680" y="4754880"/>
            <a:ext cx="10454335" cy="960120"/>
          </a:xfrm>
          <a:prstGeom prst="rect">
            <a:avLst/>
          </a:prstGeom>
          <a:noFill/>
          <a:ln/>
        </p:spPr>
        <p:txBody>
          <a:bodyPr wrap="square" lIns="0" tIns="0" rIns="0" bIns="0" rtlCol="0" anchor="ctr"/>
          <a:lstStyle/>
          <a:p>
            <a:pPr indent="0" marL="0">
              <a:buNone/>
            </a:pPr>
            <a:r>
              <a:rPr lang="en-US" altLang="en-US" sz="2200" b="1" dirty="0">
                <a:solidFill>
                  <a:schemeClr val="bg1"/>
                </a:solidFill>
              </a:rPr>
              <a:t>For discussion:  </a:t>
            </a:r>
            <a:pPr indent="0" marL="0">
              <a:buNone/>
            </a:pPr>
            <a:r>
              <a:rPr lang="en-US" altLang="en-US" sz="2200" dirty="0">
                <a:solidFill>
                  <a:schemeClr val="bg1"/>
                </a:solidFill>
              </a:rPr>
              <a:t>Which decision from these four years will last the longest?</a:t>
            </a:r>
            <a:endParaRPr lang="en-US" sz="2200" dirty="0"/>
          </a:p>
        </p:txBody>
      </p:sp>
      <p:sp>
        <p:nvSpPr>
          <p:cNvPr id="18" name="!!tl-span"/>
          <p:cNvSpPr/>
          <p:nvPr/>
        </p:nvSpPr>
        <p:spPr>
          <a:xfrm>
            <a:off x="677894" y="6117336"/>
            <a:ext cx="9938952" cy="54864"/>
          </a:xfrm>
          <a:prstGeom prst="rect">
            <a:avLst/>
          </a:prstGeom>
          <a:solidFill>
            <a:schemeClr val="accent6"/>
          </a:solidFill>
          <a:ln/>
        </p:spPr>
      </p:sp>
      <p:sp>
        <p:nvSpPr>
          <p:cNvPr id="19" name="!!tl-d1"/>
          <p:cNvSpPr/>
          <p:nvPr/>
        </p:nvSpPr>
        <p:spPr>
          <a:xfrm>
            <a:off x="595598" y="6062472"/>
            <a:ext cx="164592" cy="164592"/>
          </a:xfrm>
          <a:prstGeom prst="ellipse">
            <a:avLst/>
          </a:prstGeom>
          <a:solidFill>
            <a:schemeClr val="accent6"/>
          </a:solidFill>
          <a:ln w="19050">
            <a:solidFill>
              <a:schemeClr val="tx1"/>
            </a:solidFill>
            <a:prstDash val="solid"/>
          </a:ln>
        </p:spPr>
      </p:sp>
      <p:sp>
        <p:nvSpPr>
          <p:cNvPr id="20" name="!!tl-d2"/>
          <p:cNvSpPr/>
          <p:nvPr/>
        </p:nvSpPr>
        <p:spPr>
          <a:xfrm>
            <a:off x="2881353" y="6062472"/>
            <a:ext cx="164592" cy="164592"/>
          </a:xfrm>
          <a:prstGeom prst="ellipse">
            <a:avLst/>
          </a:prstGeom>
          <a:solidFill>
            <a:schemeClr val="accent6"/>
          </a:solidFill>
          <a:ln w="19050">
            <a:solidFill>
              <a:schemeClr val="tx1"/>
            </a:solidFill>
            <a:prstDash val="solid"/>
          </a:ln>
        </p:spPr>
      </p:sp>
      <p:sp>
        <p:nvSpPr>
          <p:cNvPr id="21" name="!!tl-d3"/>
          <p:cNvSpPr/>
          <p:nvPr/>
        </p:nvSpPr>
        <p:spPr>
          <a:xfrm>
            <a:off x="8500500" y="6062472"/>
            <a:ext cx="164592" cy="164592"/>
          </a:xfrm>
          <a:prstGeom prst="ellipse">
            <a:avLst/>
          </a:prstGeom>
          <a:solidFill>
            <a:schemeClr val="accent6"/>
          </a:solidFill>
          <a:ln w="19050">
            <a:solidFill>
              <a:schemeClr val="tx1"/>
            </a:solidFill>
            <a:prstDash val="solid"/>
          </a:ln>
        </p:spPr>
      </p:sp>
      <p:sp>
        <p:nvSpPr>
          <p:cNvPr id="22" name="!!tl-d4"/>
          <p:cNvSpPr/>
          <p:nvPr/>
        </p:nvSpPr>
        <p:spPr>
          <a:xfrm>
            <a:off x="10439310" y="6062472"/>
            <a:ext cx="164592" cy="164592"/>
          </a:xfrm>
          <a:prstGeom prst="ellipse">
            <a:avLst/>
          </a:prstGeom>
          <a:solidFill>
            <a:schemeClr val="accent6"/>
          </a:solidFill>
          <a:ln w="19050">
            <a:solidFill>
              <a:schemeClr val="tx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0BA"/>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APPENDIX · HIDDEN SLIDE</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Sources</a:t>
            </a:r>
            <a:endParaRPr lang="en-US" sz="3600" dirty="0"/>
          </a:p>
        </p:txBody>
      </p:sp>
      <p:sp>
        <p:nvSpPr>
          <p:cNvPr id="4" name="Text 2"/>
          <p:cNvSpPr txBox="1"/>
          <p:nvPr/>
        </p:nvSpPr>
        <p:spPr>
          <a:xfrm>
            <a:off x="548640" y="1737360"/>
            <a:ext cx="5394960" cy="4023360"/>
          </a:xfrm>
          <a:prstGeom prst="rect">
            <a:avLst/>
          </a:prstGeom>
          <a:noFill/>
          <a:ln/>
        </p:spPr>
        <p:txBody>
          <a:bodyPr wrap="square" lIns="0" tIns="0" rIns="0" bIns="0" rtlCol="0" anchor="t"/>
          <a:lstStyle/>
          <a:p>
            <a:pPr indent="0" marL="0">
              <a:spcAft>
                <a:spcPts val="800"/>
              </a:spcAft>
              <a:buNone/>
            </a:pPr>
            <a:r>
              <a:rPr lang="en-US" altLang="en-US" sz="1200" dirty="0">
                <a:solidFill>
                  <a:schemeClr val="tx2"/>
                </a:solidFill>
              </a:rPr>
              <a:t>Gallup (2021): Last Trump Job Approval 34%; Average Is Record-Low – news.gallup.com/poll/328637</a:t>
            </a:r>
            <a:endParaRPr lang="en-US" sz="1200" dirty="0"/>
          </a:p>
          <a:p>
            <a:pPr indent="0" marL="0">
              <a:spcAft>
                <a:spcPts val="800"/>
              </a:spcAft>
              <a:buNone/>
            </a:pPr>
            <a:r>
              <a:rPr lang="en-US" altLang="en-US" sz="1200" dirty="0">
                <a:solidFill>
                  <a:schemeClr val="tx2"/>
                </a:solidFill>
              </a:rPr>
              <a:t>U.S. Bureau of Labor Statistics: unemployment rate, series LNS14000000 – bls.gov</a:t>
            </a:r>
            <a:endParaRPr lang="en-US" sz="1200" dirty="0"/>
          </a:p>
          <a:p>
            <a:pPr indent="0" marL="0">
              <a:spcAft>
                <a:spcPts val="800"/>
              </a:spcAft>
              <a:buNone/>
            </a:pPr>
            <a:r>
              <a:rPr lang="en-US" altLang="en-US" sz="1200" dirty="0">
                <a:solidFill>
                  <a:schemeClr val="tx2"/>
                </a:solidFill>
              </a:rPr>
              <a:t>Congressional Budget Office / Joint Committee on Taxation (2017): cost estimate for H.R. 1 – cbo.gov/publication/53312</a:t>
            </a:r>
            <a:endParaRPr lang="en-US" sz="1200" dirty="0"/>
          </a:p>
          <a:p>
            <a:pPr indent="0" marL="0">
              <a:spcAft>
                <a:spcPts val="800"/>
              </a:spcAft>
              <a:buNone/>
            </a:pPr>
            <a:r>
              <a:rPr lang="en-US" altLang="en-US" sz="1200" dirty="0">
                <a:solidFill>
                  <a:schemeClr val="tx2"/>
                </a:solidFill>
              </a:rPr>
              <a:t>U.S. Department of Homeland Security (Jan 5, 2021): 450 miles of border wall – dhs.gov</a:t>
            </a:r>
            <a:endParaRPr lang="en-US" sz="1200" dirty="0"/>
          </a:p>
          <a:p>
            <a:pPr indent="0" marL="0">
              <a:spcAft>
                <a:spcPts val="800"/>
              </a:spcAft>
              <a:buNone/>
            </a:pPr>
            <a:r>
              <a:rPr lang="en-US" altLang="en-US" sz="1200" dirty="0">
                <a:solidFill>
                  <a:schemeClr val="tx2"/>
                </a:solidFill>
              </a:rPr>
              <a:t>Family Reunification Task Force (June 2021): 3,913 separated children – reported by AP</a:t>
            </a:r>
            <a:endParaRPr lang="en-US" sz="1200" dirty="0"/>
          </a:p>
          <a:p>
            <a:pPr indent="0" marL="0">
              <a:spcAft>
                <a:spcPts val="800"/>
              </a:spcAft>
              <a:buNone/>
            </a:pPr>
            <a:r>
              <a:rPr lang="en-US" altLang="en-US" sz="1200" dirty="0">
                <a:solidFill>
                  <a:schemeClr val="tx2"/>
                </a:solidFill>
              </a:rPr>
              <a:t>PolitiFact (2021): tally of the 2020 election lawsuits – politifact.com</a:t>
            </a:r>
            <a:endParaRPr lang="en-US" sz="1200" dirty="0"/>
          </a:p>
          <a:p>
            <a:pPr indent="0" marL="0">
              <a:spcAft>
                <a:spcPts val="800"/>
              </a:spcAft>
              <a:buNone/>
            </a:pPr>
            <a:r>
              <a:rPr lang="en-US" altLang="en-US" sz="1200" dirty="0">
                <a:solidFill>
                  <a:schemeClr val="tx2"/>
                </a:solidFill>
              </a:rPr>
              <a:t>Reuters (2025): 234 federal judges in Trump’s first term – reuters.com</a:t>
            </a:r>
            <a:endParaRPr lang="en-US" sz="1200" dirty="0"/>
          </a:p>
        </p:txBody>
      </p:sp>
      <p:sp>
        <p:nvSpPr>
          <p:cNvPr id="5" name="Text 3"/>
          <p:cNvSpPr txBox="1"/>
          <p:nvPr/>
        </p:nvSpPr>
        <p:spPr>
          <a:xfrm>
            <a:off x="6245352" y="1737360"/>
            <a:ext cx="5394960" cy="4023360"/>
          </a:xfrm>
          <a:prstGeom prst="rect">
            <a:avLst/>
          </a:prstGeom>
          <a:noFill/>
          <a:ln/>
        </p:spPr>
        <p:txBody>
          <a:bodyPr wrap="square" lIns="0" tIns="0" rIns="0" bIns="0" rtlCol="0" anchor="t"/>
          <a:lstStyle/>
          <a:p>
            <a:pPr indent="0" marL="0">
              <a:spcAft>
                <a:spcPts val="800"/>
              </a:spcAft>
              <a:buNone/>
            </a:pPr>
            <a:r>
              <a:rPr lang="en-US" altLang="en-US" sz="1200" dirty="0">
                <a:solidFill>
                  <a:schemeClr val="tx2"/>
                </a:solidFill>
              </a:rPr>
              <a:t>NPR (Feb 10, 2021): full text of Trump’s Jan 6, 2021 speech – npr.org</a:t>
            </a:r>
            <a:endParaRPr lang="en-US" sz="1200" dirty="0"/>
          </a:p>
          <a:p>
            <a:pPr indent="0" marL="0">
              <a:spcAft>
                <a:spcPts val="800"/>
              </a:spcAft>
              <a:buNone/>
            </a:pPr>
            <a:r>
              <a:rPr lang="en-US" altLang="en-US" sz="1200" dirty="0">
                <a:solidFill>
                  <a:schemeClr val="tx2"/>
                </a:solidFill>
              </a:rPr>
              <a:t>Inaugural address, Jan 20, 2017, transcript – npr.org / pbs.org</a:t>
            </a:r>
            <a:endParaRPr lang="en-US" sz="1200" dirty="0"/>
          </a:p>
          <a:p>
            <a:pPr indent="0" marL="0">
              <a:spcAft>
                <a:spcPts val="800"/>
              </a:spcAft>
              <a:buNone/>
            </a:pPr>
            <a:r>
              <a:rPr lang="en-US" altLang="en-US" sz="1200" dirty="0">
                <a:solidFill>
                  <a:schemeClr val="tx2"/>
                </a:solidFill>
              </a:rPr>
              <a:t>Federal Election Commission: official 2016 and 2020 results – fec.gov</a:t>
            </a:r>
            <a:endParaRPr lang="en-US" sz="1200" dirty="0"/>
          </a:p>
          <a:p>
            <a:pPr indent="0" marL="0">
              <a:spcAft>
                <a:spcPts val="800"/>
              </a:spcAft>
              <a:buNone/>
            </a:pPr>
            <a:r>
              <a:rPr lang="en-US" altLang="en-US" sz="1200" dirty="0">
                <a:solidFill>
                  <a:schemeClr val="tx2"/>
                </a:solidFill>
              </a:rPr>
              <a:t>U.S. Senate: impeachment and confirmation votes – senate.gov</a:t>
            </a:r>
            <a:endParaRPr lang="en-US" sz="1200" dirty="0"/>
          </a:p>
          <a:p>
            <a:pPr indent="0" marL="0">
              <a:spcAft>
                <a:spcPts val="800"/>
              </a:spcAft>
              <a:buNone/>
            </a:pPr>
            <a:r>
              <a:rPr lang="en-US" altLang="en-US" sz="1200" dirty="0">
                <a:solidFill>
                  <a:schemeClr val="tx2"/>
                </a:solidFill>
              </a:rPr>
              <a:t>Johns Hopkins University via AP (Jan 19, 2021): 400,000 U.S. COVID-19 deaths</a:t>
            </a:r>
            <a:endParaRPr lang="en-US" sz="1200" dirty="0"/>
          </a:p>
          <a:p>
            <a:pPr indent="0" marL="0">
              <a:spcAft>
                <a:spcPts val="800"/>
              </a:spcAft>
              <a:buNone/>
            </a:pPr>
            <a:r>
              <a:rPr lang="en-US" altLang="en-US" sz="1200" dirty="0">
                <a:solidFill>
                  <a:schemeClr val="tx2"/>
                </a:solidFill>
              </a:rPr>
              <a:t>Bob Woodward: Rage (2020), interview of March 19, 2020</a:t>
            </a:r>
            <a:endParaRPr lang="en-US" sz="1200" dirty="0"/>
          </a:p>
          <a:p>
            <a:pPr indent="0" marL="0">
              <a:spcAft>
                <a:spcPts val="800"/>
              </a:spcAft>
              <a:buNone/>
            </a:pPr>
            <a:r>
              <a:rPr lang="en-US" altLang="en-US" sz="1200" dirty="0">
                <a:solidFill>
                  <a:schemeClr val="tx2"/>
                </a:solidFill>
              </a:rPr>
              <a:t>Columbia Sabin Center: U.S. withdrawal from the Paris Agreement (effective Nov 4, 2020)</a:t>
            </a:r>
            <a:endParaRPr lang="en-US" sz="12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First Term">
  <a:themeElements>
    <a:clrScheme name="First Term">
      <a:dk1>
        <a:srgbClr val="0B1E3B"/>
      </a:dk1>
      <a:lt1>
        <a:srgbClr val="FFFFFF"/>
      </a:lt1>
      <a:dk2>
        <a:srgbClr val="55607A"/>
      </a:dk2>
      <a:lt2>
        <a:srgbClr val="EEF1F6"/>
      </a:lt2>
      <a:accent1>
        <a:srgbClr val="E81B23"/>
      </a:accent1>
      <a:accent2>
        <a:srgbClr val="152B50"/>
      </a:accent2>
      <a:accent3>
        <a:srgbClr val="B8C4D6"/>
      </a:accent3>
      <a:accent4>
        <a:srgbClr val="8A97AD"/>
      </a:accent4>
      <a:accent5>
        <a:srgbClr val="2F6DB5"/>
      </a:accent5>
      <a:accent6>
        <a:srgbClr val="FF4D57"/>
      </a:accent6>
      <a:hlink>
        <a:srgbClr val="E81B23"/>
      </a:hlink>
      <a:folHlink>
        <a:srgbClr val="B5121B"/>
      </a:folHlink>
    </a:clrScheme>
    <a:fontScheme name="First Te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Donald J. Trump – The First Term (2017–2021)</dc:title>
  <dc:subject>The defining events of Donald Trump's first term, 2017–2021</dc:subject>
  <dc:creator>PptxGenJS</dc:creator>
  <cp:lastModifiedBy>PptxGenJS</cp:lastModifiedBy>
  <cp:revision>1</cp:revision>
  <dcterms:created xsi:type="dcterms:W3CDTF">2026-10-12T19:27:20Z</dcterms:created>
  <dcterms:modified xsi:type="dcterms:W3CDTF">2026-10-12T19:27:20Z</dcterms:modified>
</cp:coreProperties>
</file>